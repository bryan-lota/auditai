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FFFF"/>
          </a:solidFill>
          <a:ln w="12700">
            <a:solidFill>
              <a:srgbClr val="FFFFFF"/>
            </a:solidFill>
            <a:prstDash val="solid"/>
          </a:ln>
        </p:spPr>
      </p:sp>
      <p:sp>
        <p:nvSpPr>
          <p:cNvPr id="3" name="Shape 1"/>
          <p:cNvSpPr/>
          <p:nvPr/>
        </p:nvSpPr>
        <p:spPr>
          <a:xfrm>
            <a:off x="6309360" y="164592"/>
            <a:ext cx="2651760" cy="658368"/>
          </a:xfrm>
          <a:prstGeom prst="rect">
            <a:avLst/>
          </a:prstGeom>
          <a:solidFill>
            <a:srgbClr val="1A1A1A"/>
          </a:solidFill>
          <a:ln w="12700">
            <a:solidFill>
              <a:srgbClr val="444444"/>
            </a:solidFill>
            <a:prstDash val="solid"/>
          </a:ln>
        </p:spPr>
      </p:sp>
      <p:sp>
        <p:nvSpPr>
          <p:cNvPr id="4" name="Text 2"/>
          <p:cNvSpPr/>
          <p:nvPr/>
        </p:nvSpPr>
        <p:spPr>
          <a:xfrm>
            <a:off x="6309360" y="164592"/>
            <a:ext cx="2651760" cy="658368"/>
          </a:xfrm>
          <a:prstGeom prst="rect">
            <a:avLst/>
          </a:prstGeom>
          <a:noFill/>
          <a:ln/>
        </p:spPr>
        <p:txBody>
          <a:bodyPr wrap="square" rtlCol="0" anchor="ctr"/>
          <a:lstStyle/>
          <a:p>
            <a:pPr algn="ctr" indent="0" marL="0">
              <a:buNone/>
            </a:pPr>
            <a:r>
              <a:rPr lang="en-US" sz="750" dirty="0">
                <a:solidFill>
                  <a:srgbClr val="AAAAAA"/>
                </a:solidFill>
                <a:latin typeface="Calibri" pitchFamily="34" charset="0"/>
                <a:ea typeface="Calibri" pitchFamily="34" charset="-122"/>
                <a:cs typeface="Calibri" pitchFamily="34" charset="-120"/>
              </a:rPr>
              <a:t>MIVA UNIVERSITY</a:t>
            </a:r>
            <a:endParaRPr lang="en-US" sz="750" dirty="0"/>
          </a:p>
          <a:p>
            <a:pPr algn="ctr" indent="0" marL="0">
              <a:buNone/>
            </a:pPr>
            <a:r>
              <a:rPr lang="en-US" sz="750" dirty="0">
                <a:solidFill>
                  <a:srgbClr val="AAAAAA"/>
                </a:solidFill>
                <a:latin typeface="Calibri" pitchFamily="34" charset="0"/>
                <a:ea typeface="Calibri" pitchFamily="34" charset="-122"/>
                <a:cs typeface="Calibri" pitchFamily="34" charset="-120"/>
              </a:rPr>
              <a:t>School of Computing  |  Software Engineering</a:t>
            </a:r>
            <a:endParaRPr lang="en-US" sz="750" dirty="0"/>
          </a:p>
        </p:txBody>
      </p:sp>
      <p:sp>
        <p:nvSpPr>
          <p:cNvPr id="5" name="Text 3"/>
          <p:cNvSpPr/>
          <p:nvPr/>
        </p:nvSpPr>
        <p:spPr>
          <a:xfrm>
            <a:off x="457200" y="457200"/>
            <a:ext cx="8229600" cy="1325880"/>
          </a:xfrm>
          <a:prstGeom prst="rect">
            <a:avLst/>
          </a:prstGeom>
          <a:noFill/>
          <a:ln/>
        </p:spPr>
        <p:txBody>
          <a:bodyPr wrap="square" rtlCol="0" anchor="ctr"/>
          <a:lstStyle/>
          <a:p>
            <a:pPr algn="l" indent="0" marL="0">
              <a:buNone/>
            </a:pPr>
            <a:r>
              <a:rPr lang="en-US" sz="7000" b="1" dirty="0">
                <a:solidFill>
                  <a:srgbClr val="FFFFFF"/>
                </a:solidFill>
                <a:latin typeface="Georgia" pitchFamily="34" charset="0"/>
                <a:ea typeface="Georgia" pitchFamily="34" charset="-122"/>
                <a:cs typeface="Georgia" pitchFamily="34" charset="-120"/>
              </a:rPr>
              <a:t>AuditAI</a:t>
            </a:r>
            <a:endParaRPr lang="en-US" sz="7000" dirty="0"/>
          </a:p>
        </p:txBody>
      </p:sp>
      <p:sp>
        <p:nvSpPr>
          <p:cNvPr id="6" name="Text 4"/>
          <p:cNvSpPr/>
          <p:nvPr/>
        </p:nvSpPr>
        <p:spPr>
          <a:xfrm>
            <a:off x="457200" y="1874520"/>
            <a:ext cx="6858000" cy="777240"/>
          </a:xfrm>
          <a:prstGeom prst="rect">
            <a:avLst/>
          </a:prstGeom>
          <a:noFill/>
          <a:ln/>
        </p:spPr>
        <p:txBody>
          <a:bodyPr wrap="square" rtlCol="0" anchor="ctr"/>
          <a:lstStyle/>
          <a:p>
            <a:pPr algn="l" indent="0" marL="0">
              <a:buNone/>
            </a:pPr>
            <a:r>
              <a:rPr lang="en-US" sz="1350" dirty="0">
                <a:solidFill>
                  <a:srgbClr val="888888"/>
                </a:solidFill>
                <a:latin typeface="Calibri" pitchFamily="34" charset="0"/>
                <a:ea typeface="Calibri" pitchFamily="34" charset="-122"/>
                <a:cs typeface="Calibri" pitchFamily="34" charset="-120"/>
              </a:rPr>
              <a:t>AI-Generated Smart Contract Auditing Using</a:t>
            </a:r>
            <a:endParaRPr lang="en-US" sz="1350" dirty="0"/>
          </a:p>
          <a:p>
            <a:pPr algn="l" indent="0" marL="0">
              <a:buNone/>
            </a:pPr>
            <a:r>
              <a:rPr lang="en-US" sz="1350" dirty="0">
                <a:solidFill>
                  <a:srgbClr val="888888"/>
                </a:solidFill>
                <a:latin typeface="Calibri" pitchFamily="34" charset="0"/>
                <a:ea typeface="Calibri" pitchFamily="34" charset="-122"/>
                <a:cs typeface="Calibri" pitchFamily="34" charset="-120"/>
              </a:rPr>
              <a:t>Static Analysis and Natural Language Reasoning</a:t>
            </a:r>
            <a:endParaRPr lang="en-US" sz="1350" dirty="0"/>
          </a:p>
        </p:txBody>
      </p:sp>
      <p:sp>
        <p:nvSpPr>
          <p:cNvPr id="7" name="Text 5"/>
          <p:cNvSpPr/>
          <p:nvPr/>
        </p:nvSpPr>
        <p:spPr>
          <a:xfrm>
            <a:off x="457200" y="2724912"/>
            <a:ext cx="7772400" cy="274320"/>
          </a:xfrm>
          <a:prstGeom prst="rect">
            <a:avLst/>
          </a:prstGeom>
          <a:noFill/>
          <a:ln/>
        </p:spPr>
        <p:txBody>
          <a:bodyPr wrap="square" rtlCol="0" anchor="ctr"/>
          <a:lstStyle/>
          <a:p>
            <a:pPr algn="l" indent="0" marL="0">
              <a:buNone/>
            </a:pPr>
            <a:r>
              <a:rPr lang="en-US" sz="1000" dirty="0">
                <a:solidFill>
                  <a:srgbClr val="555555"/>
                </a:solidFill>
                <a:latin typeface="Calibri" pitchFamily="34" charset="0"/>
                <a:ea typeface="Calibri" pitchFamily="34" charset="-122"/>
                <a:cs typeface="Calibri" pitchFamily="34" charset="-120"/>
              </a:rPr>
              <a:t>Final Year Project Proposal — Bachelor of Science (B.Sc.) Software Engineering</a:t>
            </a:r>
            <a:endParaRPr lang="en-US" sz="1000" dirty="0"/>
          </a:p>
        </p:txBody>
      </p:sp>
      <p:sp>
        <p:nvSpPr>
          <p:cNvPr id="8" name="Shape 6"/>
          <p:cNvSpPr/>
          <p:nvPr/>
        </p:nvSpPr>
        <p:spPr>
          <a:xfrm>
            <a:off x="457200" y="3090672"/>
            <a:ext cx="5029200" cy="36576"/>
          </a:xfrm>
          <a:prstGeom prst="rect">
            <a:avLst/>
          </a:prstGeom>
          <a:solidFill>
            <a:srgbClr val="444444"/>
          </a:solidFill>
          <a:ln w="12700">
            <a:solidFill>
              <a:srgbClr val="444444"/>
            </a:solidFill>
            <a:prstDash val="solid"/>
          </a:ln>
        </p:spPr>
      </p:sp>
      <p:sp>
        <p:nvSpPr>
          <p:cNvPr id="9" name="Text 7"/>
          <p:cNvSpPr/>
          <p:nvPr/>
        </p:nvSpPr>
        <p:spPr>
          <a:xfrm>
            <a:off x="457200" y="3218688"/>
            <a:ext cx="8229600" cy="292608"/>
          </a:xfrm>
          <a:prstGeom prst="rect">
            <a:avLst/>
          </a:prstGeom>
          <a:noFill/>
          <a:ln/>
        </p:spPr>
        <p:txBody>
          <a:bodyPr wrap="square" rtlCol="0" anchor="ctr"/>
          <a:lstStyle/>
          <a:p>
            <a:pPr algn="l" indent="0" marL="0">
              <a:buNone/>
            </a:pPr>
            <a:r>
              <a:rPr lang="en-US" sz="1100" b="1" dirty="0">
                <a:solidFill>
                  <a:srgbClr val="777777"/>
                </a:solidFill>
                <a:latin typeface="Calibri" pitchFamily="34" charset="0"/>
                <a:ea typeface="Calibri" pitchFamily="34" charset="-122"/>
                <a:cs typeface="Calibri" pitchFamily="34" charset="-120"/>
              </a:rPr>
              <a:t>Ikem-Okoye Chilotam Bryan  |  2023/A/SENG/0036  |  ID: 30006569</a:t>
            </a:r>
            <a:endParaRPr lang="en-US" sz="1100" dirty="0"/>
          </a:p>
        </p:txBody>
      </p:sp>
      <p:sp>
        <p:nvSpPr>
          <p:cNvPr id="10" name="Text 8"/>
          <p:cNvSpPr/>
          <p:nvPr/>
        </p:nvSpPr>
        <p:spPr>
          <a:xfrm>
            <a:off x="457200" y="3547872"/>
            <a:ext cx="8229600" cy="256032"/>
          </a:xfrm>
          <a:prstGeom prst="rect">
            <a:avLst/>
          </a:prstGeom>
          <a:noFill/>
          <a:ln/>
        </p:spPr>
        <p:txBody>
          <a:bodyPr wrap="square" rtlCol="0" anchor="ctr"/>
          <a:lstStyle/>
          <a:p>
            <a:pPr algn="l" indent="0" marL="0">
              <a:buNone/>
            </a:pPr>
            <a:r>
              <a:rPr lang="en-US" sz="950" dirty="0">
                <a:solidFill>
                  <a:srgbClr val="555555"/>
                </a:solidFill>
                <a:latin typeface="Calibri" pitchFamily="34" charset="0"/>
                <a:ea typeface="Calibri" pitchFamily="34" charset="-122"/>
                <a:cs typeface="Calibri" pitchFamily="34" charset="-120"/>
              </a:rPr>
              <a:t>Supervisor: Musa Yusuf  |  Department of Software Engineering  |  2023 September Cohort  |  April 2025</a:t>
            </a:r>
            <a:endParaRPr lang="en-US" sz="950" dirty="0"/>
          </a:p>
        </p:txBody>
      </p:sp>
      <p:sp>
        <p:nvSpPr>
          <p:cNvPr id="11" name="Text 9"/>
          <p:cNvSpPr/>
          <p:nvPr/>
        </p:nvSpPr>
        <p:spPr>
          <a:xfrm>
            <a:off x="457200" y="3858768"/>
            <a:ext cx="8229600" cy="256032"/>
          </a:xfrm>
          <a:prstGeom prst="rect">
            <a:avLst/>
          </a:prstGeom>
          <a:noFill/>
          <a:ln/>
        </p:spPr>
        <p:txBody>
          <a:bodyPr wrap="square" rtlCol="0" anchor="ctr"/>
          <a:lstStyle/>
          <a:p>
            <a:pPr algn="l" indent="0" marL="0">
              <a:buNone/>
            </a:pPr>
            <a:r>
              <a:rPr lang="en-US" sz="950" dirty="0">
                <a:solidFill>
                  <a:srgbClr val="444444"/>
                </a:solidFill>
                <a:latin typeface="Calibri" pitchFamily="34" charset="0"/>
                <a:ea typeface="Calibri" pitchFamily="34" charset="-122"/>
                <a:cs typeface="Calibri" pitchFamily="34" charset="-120"/>
              </a:rPr>
              <a:t>chilotam.ikem-okoye@miva.edu.ng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PRESENTATION OVERVIEW</a:t>
            </a:r>
            <a:endParaRPr lang="en-US" sz="1500" dirty="0"/>
          </a:p>
        </p:txBody>
      </p:sp>
      <p:sp>
        <p:nvSpPr>
          <p:cNvPr id="4" name="Shape 2"/>
          <p:cNvSpPr/>
          <p:nvPr/>
        </p:nvSpPr>
        <p:spPr>
          <a:xfrm>
            <a:off x="274320" y="841248"/>
            <a:ext cx="4251960" cy="566928"/>
          </a:xfrm>
          <a:prstGeom prst="rect">
            <a:avLst/>
          </a:prstGeom>
          <a:solidFill>
            <a:srgbClr val="F0F0F0"/>
          </a:solidFill>
          <a:ln w="10160">
            <a:solidFill>
              <a:srgbClr val="0D0D0D"/>
            </a:solidFill>
            <a:prstDash val="solid"/>
          </a:ln>
        </p:spPr>
      </p:sp>
      <p:sp>
        <p:nvSpPr>
          <p:cNvPr id="5" name="Shape 3"/>
          <p:cNvSpPr/>
          <p:nvPr/>
        </p:nvSpPr>
        <p:spPr>
          <a:xfrm>
            <a:off x="274320" y="841248"/>
            <a:ext cx="530352" cy="566928"/>
          </a:xfrm>
          <a:prstGeom prst="rect">
            <a:avLst/>
          </a:prstGeom>
          <a:solidFill>
            <a:srgbClr val="0D0D0D"/>
          </a:solidFill>
          <a:ln w="12700">
            <a:solidFill>
              <a:srgbClr val="0D0D0D"/>
            </a:solidFill>
            <a:prstDash val="solid"/>
          </a:ln>
        </p:spPr>
      </p:sp>
      <p:sp>
        <p:nvSpPr>
          <p:cNvPr id="6" name="Text 4"/>
          <p:cNvSpPr/>
          <p:nvPr/>
        </p:nvSpPr>
        <p:spPr>
          <a:xfrm>
            <a:off x="274320" y="841248"/>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01</a:t>
            </a:r>
            <a:endParaRPr lang="en-US" sz="1200" dirty="0"/>
          </a:p>
        </p:txBody>
      </p:sp>
      <p:sp>
        <p:nvSpPr>
          <p:cNvPr id="7" name="Text 5"/>
          <p:cNvSpPr/>
          <p:nvPr/>
        </p:nvSpPr>
        <p:spPr>
          <a:xfrm>
            <a:off x="868680" y="886968"/>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Introduction</a:t>
            </a:r>
            <a:endParaRPr lang="en-US" sz="1100" dirty="0"/>
          </a:p>
        </p:txBody>
      </p:sp>
      <p:sp>
        <p:nvSpPr>
          <p:cNvPr id="8" name="Text 6"/>
          <p:cNvSpPr/>
          <p:nvPr/>
        </p:nvSpPr>
        <p:spPr>
          <a:xfrm>
            <a:off x="868680" y="1152144"/>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The smart contract security problem and financial evidence</a:t>
            </a:r>
            <a:endParaRPr lang="en-US" sz="900" dirty="0"/>
          </a:p>
        </p:txBody>
      </p:sp>
      <p:sp>
        <p:nvSpPr>
          <p:cNvPr id="9" name="Shape 7"/>
          <p:cNvSpPr/>
          <p:nvPr/>
        </p:nvSpPr>
        <p:spPr>
          <a:xfrm>
            <a:off x="4709160" y="841248"/>
            <a:ext cx="4251960" cy="566928"/>
          </a:xfrm>
          <a:prstGeom prst="rect">
            <a:avLst/>
          </a:prstGeom>
          <a:solidFill>
            <a:srgbClr val="F0F0F0"/>
          </a:solidFill>
          <a:ln w="10160">
            <a:solidFill>
              <a:srgbClr val="0D0D0D"/>
            </a:solidFill>
            <a:prstDash val="solid"/>
          </a:ln>
        </p:spPr>
      </p:sp>
      <p:sp>
        <p:nvSpPr>
          <p:cNvPr id="10" name="Shape 8"/>
          <p:cNvSpPr/>
          <p:nvPr/>
        </p:nvSpPr>
        <p:spPr>
          <a:xfrm>
            <a:off x="4709160" y="841248"/>
            <a:ext cx="530352" cy="566928"/>
          </a:xfrm>
          <a:prstGeom prst="rect">
            <a:avLst/>
          </a:prstGeom>
          <a:solidFill>
            <a:srgbClr val="0D0D0D"/>
          </a:solidFill>
          <a:ln w="12700">
            <a:solidFill>
              <a:srgbClr val="0D0D0D"/>
            </a:solidFill>
            <a:prstDash val="solid"/>
          </a:ln>
        </p:spPr>
      </p:sp>
      <p:sp>
        <p:nvSpPr>
          <p:cNvPr id="11" name="Text 9"/>
          <p:cNvSpPr/>
          <p:nvPr/>
        </p:nvSpPr>
        <p:spPr>
          <a:xfrm>
            <a:off x="4709160" y="841248"/>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02</a:t>
            </a:r>
            <a:endParaRPr lang="en-US" sz="1200" dirty="0"/>
          </a:p>
        </p:txBody>
      </p:sp>
      <p:sp>
        <p:nvSpPr>
          <p:cNvPr id="12" name="Text 10"/>
          <p:cNvSpPr/>
          <p:nvPr/>
        </p:nvSpPr>
        <p:spPr>
          <a:xfrm>
            <a:off x="5303520" y="886968"/>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Problem Statement</a:t>
            </a:r>
            <a:endParaRPr lang="en-US" sz="1100" dirty="0"/>
          </a:p>
        </p:txBody>
      </p:sp>
      <p:sp>
        <p:nvSpPr>
          <p:cNvPr id="13" name="Text 11"/>
          <p:cNvSpPr/>
          <p:nvPr/>
        </p:nvSpPr>
        <p:spPr>
          <a:xfrm>
            <a:off x="5303520" y="1152144"/>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The exact gap AuditAI addresses</a:t>
            </a:r>
            <a:endParaRPr lang="en-US" sz="900" dirty="0"/>
          </a:p>
        </p:txBody>
      </p:sp>
      <p:sp>
        <p:nvSpPr>
          <p:cNvPr id="14" name="Shape 12"/>
          <p:cNvSpPr/>
          <p:nvPr/>
        </p:nvSpPr>
        <p:spPr>
          <a:xfrm>
            <a:off x="274320" y="1463040"/>
            <a:ext cx="4251960" cy="566928"/>
          </a:xfrm>
          <a:prstGeom prst="rect">
            <a:avLst/>
          </a:prstGeom>
          <a:solidFill>
            <a:srgbClr val="0D0D0D"/>
          </a:solidFill>
          <a:ln w="12700">
            <a:solidFill>
              <a:srgbClr val="0D0D0D"/>
            </a:solidFill>
            <a:prstDash val="solid"/>
          </a:ln>
        </p:spPr>
      </p:sp>
      <p:sp>
        <p:nvSpPr>
          <p:cNvPr id="15" name="Shape 13"/>
          <p:cNvSpPr/>
          <p:nvPr/>
        </p:nvSpPr>
        <p:spPr>
          <a:xfrm>
            <a:off x="274320" y="1463040"/>
            <a:ext cx="530352" cy="566928"/>
          </a:xfrm>
          <a:prstGeom prst="rect">
            <a:avLst/>
          </a:prstGeom>
          <a:solidFill>
            <a:srgbClr val="0D0D0D"/>
          </a:solidFill>
          <a:ln w="12700">
            <a:solidFill>
              <a:srgbClr val="0D0D0D"/>
            </a:solidFill>
            <a:prstDash val="solid"/>
          </a:ln>
        </p:spPr>
      </p:sp>
      <p:sp>
        <p:nvSpPr>
          <p:cNvPr id="16" name="Text 14"/>
          <p:cNvSpPr/>
          <p:nvPr/>
        </p:nvSpPr>
        <p:spPr>
          <a:xfrm>
            <a:off x="274320" y="1463040"/>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03</a:t>
            </a:r>
            <a:endParaRPr lang="en-US" sz="1200" dirty="0"/>
          </a:p>
        </p:txBody>
      </p:sp>
      <p:sp>
        <p:nvSpPr>
          <p:cNvPr id="17" name="Text 15"/>
          <p:cNvSpPr/>
          <p:nvPr/>
        </p:nvSpPr>
        <p:spPr>
          <a:xfrm>
            <a:off x="868680" y="1508760"/>
            <a:ext cx="3584448" cy="237744"/>
          </a:xfrm>
          <a:prstGeom prst="rect">
            <a:avLst/>
          </a:prstGeom>
          <a:noFill/>
          <a:ln/>
        </p:spPr>
        <p:txBody>
          <a:bodyPr wrap="square" rtlCol="0" anchor="ctr"/>
          <a:lstStyle/>
          <a:p>
            <a:pPr algn="l" indent="0" marL="0">
              <a:buNone/>
            </a:pPr>
            <a:r>
              <a:rPr lang="en-US" sz="1100" b="1" dirty="0">
                <a:solidFill>
                  <a:srgbClr val="FFFFFF"/>
                </a:solidFill>
                <a:latin typeface="Georgia" pitchFamily="34" charset="0"/>
                <a:ea typeface="Georgia" pitchFamily="34" charset="-122"/>
                <a:cs typeface="Georgia" pitchFamily="34" charset="-120"/>
              </a:rPr>
              <a:t>Aim and Objectives</a:t>
            </a:r>
            <a:endParaRPr lang="en-US" sz="1100" dirty="0"/>
          </a:p>
        </p:txBody>
      </p:sp>
      <p:sp>
        <p:nvSpPr>
          <p:cNvPr id="18" name="Text 16"/>
          <p:cNvSpPr/>
          <p:nvPr/>
        </p:nvSpPr>
        <p:spPr>
          <a:xfrm>
            <a:off x="868680" y="1773936"/>
            <a:ext cx="3584448" cy="201168"/>
          </a:xfrm>
          <a:prstGeom prst="rect">
            <a:avLst/>
          </a:prstGeom>
          <a:noFill/>
          <a:ln/>
        </p:spPr>
        <p:txBody>
          <a:bodyPr wrap="square" rtlCol="0" anchor="ctr"/>
          <a:lstStyle/>
          <a:p>
            <a:pPr algn="l" indent="0" marL="0">
              <a:buNone/>
            </a:pPr>
            <a:r>
              <a:rPr lang="en-US" sz="900" dirty="0">
                <a:solidFill>
                  <a:srgbClr val="AAAAAA"/>
                </a:solidFill>
                <a:latin typeface="Calibri" pitchFamily="34" charset="0"/>
                <a:ea typeface="Calibri" pitchFamily="34" charset="-122"/>
                <a:cs typeface="Calibri" pitchFamily="34" charset="-120"/>
              </a:rPr>
              <a:t>One aim and five specific objectives with action steps</a:t>
            </a:r>
            <a:endParaRPr lang="en-US" sz="900" dirty="0"/>
          </a:p>
        </p:txBody>
      </p:sp>
      <p:sp>
        <p:nvSpPr>
          <p:cNvPr id="19" name="Shape 17"/>
          <p:cNvSpPr/>
          <p:nvPr/>
        </p:nvSpPr>
        <p:spPr>
          <a:xfrm>
            <a:off x="4709160" y="1463040"/>
            <a:ext cx="4251960" cy="566928"/>
          </a:xfrm>
          <a:prstGeom prst="rect">
            <a:avLst/>
          </a:prstGeom>
          <a:solidFill>
            <a:srgbClr val="F0F0F0"/>
          </a:solidFill>
          <a:ln w="10160">
            <a:solidFill>
              <a:srgbClr val="0D0D0D"/>
            </a:solidFill>
            <a:prstDash val="solid"/>
          </a:ln>
        </p:spPr>
      </p:sp>
      <p:sp>
        <p:nvSpPr>
          <p:cNvPr id="20" name="Shape 18"/>
          <p:cNvSpPr/>
          <p:nvPr/>
        </p:nvSpPr>
        <p:spPr>
          <a:xfrm>
            <a:off x="4709160" y="1463040"/>
            <a:ext cx="530352" cy="566928"/>
          </a:xfrm>
          <a:prstGeom prst="rect">
            <a:avLst/>
          </a:prstGeom>
          <a:solidFill>
            <a:srgbClr val="0D0D0D"/>
          </a:solidFill>
          <a:ln w="12700">
            <a:solidFill>
              <a:srgbClr val="0D0D0D"/>
            </a:solidFill>
            <a:prstDash val="solid"/>
          </a:ln>
        </p:spPr>
      </p:sp>
      <p:sp>
        <p:nvSpPr>
          <p:cNvPr id="21" name="Text 19"/>
          <p:cNvSpPr/>
          <p:nvPr/>
        </p:nvSpPr>
        <p:spPr>
          <a:xfrm>
            <a:off x="4709160" y="1463040"/>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04</a:t>
            </a:r>
            <a:endParaRPr lang="en-US" sz="1200" dirty="0"/>
          </a:p>
        </p:txBody>
      </p:sp>
      <p:sp>
        <p:nvSpPr>
          <p:cNvPr id="22" name="Text 20"/>
          <p:cNvSpPr/>
          <p:nvPr/>
        </p:nvSpPr>
        <p:spPr>
          <a:xfrm>
            <a:off x="5303520" y="1508760"/>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Significance of Study</a:t>
            </a:r>
            <a:endParaRPr lang="en-US" sz="1100" dirty="0"/>
          </a:p>
        </p:txBody>
      </p:sp>
      <p:sp>
        <p:nvSpPr>
          <p:cNvPr id="23" name="Text 21"/>
          <p:cNvSpPr/>
          <p:nvPr/>
        </p:nvSpPr>
        <p:spPr>
          <a:xfrm>
            <a:off x="5303520" y="1773936"/>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Why this matters to Nigeria, Web3, and academia</a:t>
            </a:r>
            <a:endParaRPr lang="en-US" sz="900" dirty="0"/>
          </a:p>
        </p:txBody>
      </p:sp>
      <p:sp>
        <p:nvSpPr>
          <p:cNvPr id="24" name="Shape 22"/>
          <p:cNvSpPr/>
          <p:nvPr/>
        </p:nvSpPr>
        <p:spPr>
          <a:xfrm>
            <a:off x="274320" y="2084832"/>
            <a:ext cx="4251960" cy="566928"/>
          </a:xfrm>
          <a:prstGeom prst="rect">
            <a:avLst/>
          </a:prstGeom>
          <a:solidFill>
            <a:srgbClr val="F0F0F0"/>
          </a:solidFill>
          <a:ln w="10160">
            <a:solidFill>
              <a:srgbClr val="0D0D0D"/>
            </a:solidFill>
            <a:prstDash val="solid"/>
          </a:ln>
        </p:spPr>
      </p:sp>
      <p:sp>
        <p:nvSpPr>
          <p:cNvPr id="25" name="Shape 23"/>
          <p:cNvSpPr/>
          <p:nvPr/>
        </p:nvSpPr>
        <p:spPr>
          <a:xfrm>
            <a:off x="274320" y="2084832"/>
            <a:ext cx="530352" cy="566928"/>
          </a:xfrm>
          <a:prstGeom prst="rect">
            <a:avLst/>
          </a:prstGeom>
          <a:solidFill>
            <a:srgbClr val="0D0D0D"/>
          </a:solidFill>
          <a:ln w="12700">
            <a:solidFill>
              <a:srgbClr val="0D0D0D"/>
            </a:solidFill>
            <a:prstDash val="solid"/>
          </a:ln>
        </p:spPr>
      </p:sp>
      <p:sp>
        <p:nvSpPr>
          <p:cNvPr id="26" name="Text 24"/>
          <p:cNvSpPr/>
          <p:nvPr/>
        </p:nvSpPr>
        <p:spPr>
          <a:xfrm>
            <a:off x="274320" y="2084832"/>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05</a:t>
            </a:r>
            <a:endParaRPr lang="en-US" sz="1200" dirty="0"/>
          </a:p>
        </p:txBody>
      </p:sp>
      <p:sp>
        <p:nvSpPr>
          <p:cNvPr id="27" name="Text 25"/>
          <p:cNvSpPr/>
          <p:nvPr/>
        </p:nvSpPr>
        <p:spPr>
          <a:xfrm>
            <a:off x="868680" y="2130552"/>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Literature Review</a:t>
            </a:r>
            <a:endParaRPr lang="en-US" sz="1100" dirty="0"/>
          </a:p>
        </p:txBody>
      </p:sp>
      <p:sp>
        <p:nvSpPr>
          <p:cNvPr id="28" name="Text 26"/>
          <p:cNvSpPr/>
          <p:nvPr/>
        </p:nvSpPr>
        <p:spPr>
          <a:xfrm>
            <a:off x="868680" y="2395728"/>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Six key papers from 2020–2024</a:t>
            </a:r>
            <a:endParaRPr lang="en-US" sz="900" dirty="0"/>
          </a:p>
        </p:txBody>
      </p:sp>
      <p:sp>
        <p:nvSpPr>
          <p:cNvPr id="29" name="Shape 27"/>
          <p:cNvSpPr/>
          <p:nvPr/>
        </p:nvSpPr>
        <p:spPr>
          <a:xfrm>
            <a:off x="4709160" y="2084832"/>
            <a:ext cx="4251960" cy="566928"/>
          </a:xfrm>
          <a:prstGeom prst="rect">
            <a:avLst/>
          </a:prstGeom>
          <a:solidFill>
            <a:srgbClr val="F0F0F0"/>
          </a:solidFill>
          <a:ln w="10160">
            <a:solidFill>
              <a:srgbClr val="0D0D0D"/>
            </a:solidFill>
            <a:prstDash val="solid"/>
          </a:ln>
        </p:spPr>
      </p:sp>
      <p:sp>
        <p:nvSpPr>
          <p:cNvPr id="30" name="Shape 28"/>
          <p:cNvSpPr/>
          <p:nvPr/>
        </p:nvSpPr>
        <p:spPr>
          <a:xfrm>
            <a:off x="4709160" y="2084832"/>
            <a:ext cx="530352" cy="566928"/>
          </a:xfrm>
          <a:prstGeom prst="rect">
            <a:avLst/>
          </a:prstGeom>
          <a:solidFill>
            <a:srgbClr val="0D0D0D"/>
          </a:solidFill>
          <a:ln w="12700">
            <a:solidFill>
              <a:srgbClr val="0D0D0D"/>
            </a:solidFill>
            <a:prstDash val="solid"/>
          </a:ln>
        </p:spPr>
      </p:sp>
      <p:sp>
        <p:nvSpPr>
          <p:cNvPr id="31" name="Text 29"/>
          <p:cNvSpPr/>
          <p:nvPr/>
        </p:nvSpPr>
        <p:spPr>
          <a:xfrm>
            <a:off x="4709160" y="2084832"/>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06</a:t>
            </a:r>
            <a:endParaRPr lang="en-US" sz="1200" dirty="0"/>
          </a:p>
        </p:txBody>
      </p:sp>
      <p:sp>
        <p:nvSpPr>
          <p:cNvPr id="32" name="Text 30"/>
          <p:cNvSpPr/>
          <p:nvPr/>
        </p:nvSpPr>
        <p:spPr>
          <a:xfrm>
            <a:off x="5303520" y="2130552"/>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Research Gap</a:t>
            </a:r>
            <a:endParaRPr lang="en-US" sz="1100" dirty="0"/>
          </a:p>
        </p:txBody>
      </p:sp>
      <p:sp>
        <p:nvSpPr>
          <p:cNvPr id="33" name="Text 31"/>
          <p:cNvSpPr/>
          <p:nvPr/>
        </p:nvSpPr>
        <p:spPr>
          <a:xfrm>
            <a:off x="5303520" y="2395728"/>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What has not been built yet and why AuditAI fills it</a:t>
            </a:r>
            <a:endParaRPr lang="en-US" sz="900" dirty="0"/>
          </a:p>
        </p:txBody>
      </p:sp>
      <p:sp>
        <p:nvSpPr>
          <p:cNvPr id="34" name="Shape 32"/>
          <p:cNvSpPr/>
          <p:nvPr/>
        </p:nvSpPr>
        <p:spPr>
          <a:xfrm>
            <a:off x="274320" y="2706624"/>
            <a:ext cx="4251960" cy="566928"/>
          </a:xfrm>
          <a:prstGeom prst="rect">
            <a:avLst/>
          </a:prstGeom>
          <a:solidFill>
            <a:srgbClr val="0D0D0D"/>
          </a:solidFill>
          <a:ln w="12700">
            <a:solidFill>
              <a:srgbClr val="0D0D0D"/>
            </a:solidFill>
            <a:prstDash val="solid"/>
          </a:ln>
        </p:spPr>
      </p:sp>
      <p:sp>
        <p:nvSpPr>
          <p:cNvPr id="35" name="Shape 33"/>
          <p:cNvSpPr/>
          <p:nvPr/>
        </p:nvSpPr>
        <p:spPr>
          <a:xfrm>
            <a:off x="274320" y="2706624"/>
            <a:ext cx="530352" cy="566928"/>
          </a:xfrm>
          <a:prstGeom prst="rect">
            <a:avLst/>
          </a:prstGeom>
          <a:solidFill>
            <a:srgbClr val="0D0D0D"/>
          </a:solidFill>
          <a:ln w="12700">
            <a:solidFill>
              <a:srgbClr val="0D0D0D"/>
            </a:solidFill>
            <a:prstDash val="solid"/>
          </a:ln>
        </p:spPr>
      </p:sp>
      <p:sp>
        <p:nvSpPr>
          <p:cNvPr id="36" name="Text 34"/>
          <p:cNvSpPr/>
          <p:nvPr/>
        </p:nvSpPr>
        <p:spPr>
          <a:xfrm>
            <a:off x="274320" y="2706624"/>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07</a:t>
            </a:r>
            <a:endParaRPr lang="en-US" sz="1200" dirty="0"/>
          </a:p>
        </p:txBody>
      </p:sp>
      <p:sp>
        <p:nvSpPr>
          <p:cNvPr id="37" name="Text 35"/>
          <p:cNvSpPr/>
          <p:nvPr/>
        </p:nvSpPr>
        <p:spPr>
          <a:xfrm>
            <a:off x="868680" y="2752344"/>
            <a:ext cx="3584448" cy="237744"/>
          </a:xfrm>
          <a:prstGeom prst="rect">
            <a:avLst/>
          </a:prstGeom>
          <a:noFill/>
          <a:ln/>
        </p:spPr>
        <p:txBody>
          <a:bodyPr wrap="square" rtlCol="0" anchor="ctr"/>
          <a:lstStyle/>
          <a:p>
            <a:pPr algn="l" indent="0" marL="0">
              <a:buNone/>
            </a:pPr>
            <a:r>
              <a:rPr lang="en-US" sz="1100" b="1" dirty="0">
                <a:solidFill>
                  <a:srgbClr val="FFFFFF"/>
                </a:solidFill>
                <a:latin typeface="Georgia" pitchFamily="34" charset="0"/>
                <a:ea typeface="Georgia" pitchFamily="34" charset="-122"/>
                <a:cs typeface="Georgia" pitchFamily="34" charset="-120"/>
              </a:rPr>
              <a:t>Methodology</a:t>
            </a:r>
            <a:endParaRPr lang="en-US" sz="1100" dirty="0"/>
          </a:p>
        </p:txBody>
      </p:sp>
      <p:sp>
        <p:nvSpPr>
          <p:cNvPr id="38" name="Text 36"/>
          <p:cNvSpPr/>
          <p:nvPr/>
        </p:nvSpPr>
        <p:spPr>
          <a:xfrm>
            <a:off x="868680" y="3017520"/>
            <a:ext cx="3584448" cy="201168"/>
          </a:xfrm>
          <a:prstGeom prst="rect">
            <a:avLst/>
          </a:prstGeom>
          <a:noFill/>
          <a:ln/>
        </p:spPr>
        <p:txBody>
          <a:bodyPr wrap="square" rtlCol="0" anchor="ctr"/>
          <a:lstStyle/>
          <a:p>
            <a:pPr algn="l" indent="0" marL="0">
              <a:buNone/>
            </a:pPr>
            <a:r>
              <a:rPr lang="en-US" sz="900" dirty="0">
                <a:solidFill>
                  <a:srgbClr val="AAAAAA"/>
                </a:solidFill>
                <a:latin typeface="Calibri" pitchFamily="34" charset="0"/>
                <a:ea typeface="Calibri" pitchFamily="34" charset="-122"/>
                <a:cs typeface="Calibri" pitchFamily="34" charset="-120"/>
              </a:rPr>
              <a:t>Design Science Research — four phases</a:t>
            </a:r>
            <a:endParaRPr lang="en-US" sz="900" dirty="0"/>
          </a:p>
        </p:txBody>
      </p:sp>
      <p:sp>
        <p:nvSpPr>
          <p:cNvPr id="39" name="Shape 37"/>
          <p:cNvSpPr/>
          <p:nvPr/>
        </p:nvSpPr>
        <p:spPr>
          <a:xfrm>
            <a:off x="4709160" y="2706624"/>
            <a:ext cx="4251960" cy="566928"/>
          </a:xfrm>
          <a:prstGeom prst="rect">
            <a:avLst/>
          </a:prstGeom>
          <a:solidFill>
            <a:srgbClr val="F0F0F0"/>
          </a:solidFill>
          <a:ln w="10160">
            <a:solidFill>
              <a:srgbClr val="0D0D0D"/>
            </a:solidFill>
            <a:prstDash val="solid"/>
          </a:ln>
        </p:spPr>
      </p:sp>
      <p:sp>
        <p:nvSpPr>
          <p:cNvPr id="40" name="Shape 38"/>
          <p:cNvSpPr/>
          <p:nvPr/>
        </p:nvSpPr>
        <p:spPr>
          <a:xfrm>
            <a:off x="4709160" y="2706624"/>
            <a:ext cx="530352" cy="566928"/>
          </a:xfrm>
          <a:prstGeom prst="rect">
            <a:avLst/>
          </a:prstGeom>
          <a:solidFill>
            <a:srgbClr val="0D0D0D"/>
          </a:solidFill>
          <a:ln w="12700">
            <a:solidFill>
              <a:srgbClr val="0D0D0D"/>
            </a:solidFill>
            <a:prstDash val="solid"/>
          </a:ln>
        </p:spPr>
      </p:sp>
      <p:sp>
        <p:nvSpPr>
          <p:cNvPr id="41" name="Text 39"/>
          <p:cNvSpPr/>
          <p:nvPr/>
        </p:nvSpPr>
        <p:spPr>
          <a:xfrm>
            <a:off x="4709160" y="2706624"/>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08</a:t>
            </a:r>
            <a:endParaRPr lang="en-US" sz="1200" dirty="0"/>
          </a:p>
        </p:txBody>
      </p:sp>
      <p:sp>
        <p:nvSpPr>
          <p:cNvPr id="42" name="Text 40"/>
          <p:cNvSpPr/>
          <p:nvPr/>
        </p:nvSpPr>
        <p:spPr>
          <a:xfrm>
            <a:off x="5303520" y="2752344"/>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System Architecture</a:t>
            </a:r>
            <a:endParaRPr lang="en-US" sz="1100" dirty="0"/>
          </a:p>
        </p:txBody>
      </p:sp>
      <p:sp>
        <p:nvSpPr>
          <p:cNvPr id="43" name="Text 41"/>
          <p:cNvSpPr/>
          <p:nvPr/>
        </p:nvSpPr>
        <p:spPr>
          <a:xfrm>
            <a:off x="5303520" y="3017520"/>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The five-layer AuditAI pipeline</a:t>
            </a:r>
            <a:endParaRPr lang="en-US" sz="900" dirty="0"/>
          </a:p>
        </p:txBody>
      </p:sp>
      <p:sp>
        <p:nvSpPr>
          <p:cNvPr id="44" name="Shape 42"/>
          <p:cNvSpPr/>
          <p:nvPr/>
        </p:nvSpPr>
        <p:spPr>
          <a:xfrm>
            <a:off x="274320" y="3328416"/>
            <a:ext cx="4251960" cy="566928"/>
          </a:xfrm>
          <a:prstGeom prst="rect">
            <a:avLst/>
          </a:prstGeom>
          <a:solidFill>
            <a:srgbClr val="F0F0F0"/>
          </a:solidFill>
          <a:ln w="10160">
            <a:solidFill>
              <a:srgbClr val="0D0D0D"/>
            </a:solidFill>
            <a:prstDash val="solid"/>
          </a:ln>
        </p:spPr>
      </p:sp>
      <p:sp>
        <p:nvSpPr>
          <p:cNvPr id="45" name="Shape 43"/>
          <p:cNvSpPr/>
          <p:nvPr/>
        </p:nvSpPr>
        <p:spPr>
          <a:xfrm>
            <a:off x="274320" y="3328416"/>
            <a:ext cx="530352" cy="566928"/>
          </a:xfrm>
          <a:prstGeom prst="rect">
            <a:avLst/>
          </a:prstGeom>
          <a:solidFill>
            <a:srgbClr val="0D0D0D"/>
          </a:solidFill>
          <a:ln w="12700">
            <a:solidFill>
              <a:srgbClr val="0D0D0D"/>
            </a:solidFill>
            <a:prstDash val="solid"/>
          </a:ln>
        </p:spPr>
      </p:sp>
      <p:sp>
        <p:nvSpPr>
          <p:cNvPr id="46" name="Text 44"/>
          <p:cNvSpPr/>
          <p:nvPr/>
        </p:nvSpPr>
        <p:spPr>
          <a:xfrm>
            <a:off x="274320" y="3328416"/>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09</a:t>
            </a:r>
            <a:endParaRPr lang="en-US" sz="1200" dirty="0"/>
          </a:p>
        </p:txBody>
      </p:sp>
      <p:sp>
        <p:nvSpPr>
          <p:cNvPr id="47" name="Text 45"/>
          <p:cNvSpPr/>
          <p:nvPr/>
        </p:nvSpPr>
        <p:spPr>
          <a:xfrm>
            <a:off x="868680" y="3374136"/>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The AI Engine</a:t>
            </a:r>
            <a:endParaRPr lang="en-US" sz="1100" dirty="0"/>
          </a:p>
        </p:txBody>
      </p:sp>
      <p:sp>
        <p:nvSpPr>
          <p:cNvPr id="48" name="Text 46"/>
          <p:cNvSpPr/>
          <p:nvPr/>
        </p:nvSpPr>
        <p:spPr>
          <a:xfrm>
            <a:off x="868680" y="3639312"/>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Claude claude-sonnet-4-5, prompting, what it does</a:t>
            </a:r>
            <a:endParaRPr lang="en-US" sz="900" dirty="0"/>
          </a:p>
        </p:txBody>
      </p:sp>
      <p:sp>
        <p:nvSpPr>
          <p:cNvPr id="49" name="Shape 47"/>
          <p:cNvSpPr/>
          <p:nvPr/>
        </p:nvSpPr>
        <p:spPr>
          <a:xfrm>
            <a:off x="4709160" y="3328416"/>
            <a:ext cx="4251960" cy="566928"/>
          </a:xfrm>
          <a:prstGeom prst="rect">
            <a:avLst/>
          </a:prstGeom>
          <a:solidFill>
            <a:srgbClr val="F0F0F0"/>
          </a:solidFill>
          <a:ln w="10160">
            <a:solidFill>
              <a:srgbClr val="0D0D0D"/>
            </a:solidFill>
            <a:prstDash val="solid"/>
          </a:ln>
        </p:spPr>
      </p:sp>
      <p:sp>
        <p:nvSpPr>
          <p:cNvPr id="50" name="Shape 48"/>
          <p:cNvSpPr/>
          <p:nvPr/>
        </p:nvSpPr>
        <p:spPr>
          <a:xfrm>
            <a:off x="4709160" y="3328416"/>
            <a:ext cx="530352" cy="566928"/>
          </a:xfrm>
          <a:prstGeom prst="rect">
            <a:avLst/>
          </a:prstGeom>
          <a:solidFill>
            <a:srgbClr val="0D0D0D"/>
          </a:solidFill>
          <a:ln w="12700">
            <a:solidFill>
              <a:srgbClr val="0D0D0D"/>
            </a:solidFill>
            <a:prstDash val="solid"/>
          </a:ln>
        </p:spPr>
      </p:sp>
      <p:sp>
        <p:nvSpPr>
          <p:cNvPr id="51" name="Text 49"/>
          <p:cNvSpPr/>
          <p:nvPr/>
        </p:nvSpPr>
        <p:spPr>
          <a:xfrm>
            <a:off x="4709160" y="3328416"/>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10</a:t>
            </a:r>
            <a:endParaRPr lang="en-US" sz="1200" dirty="0"/>
          </a:p>
        </p:txBody>
      </p:sp>
      <p:sp>
        <p:nvSpPr>
          <p:cNvPr id="52" name="Text 50"/>
          <p:cNvSpPr/>
          <p:nvPr/>
        </p:nvSpPr>
        <p:spPr>
          <a:xfrm>
            <a:off x="5303520" y="3374136"/>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Tools and Technologies</a:t>
            </a:r>
            <a:endParaRPr lang="en-US" sz="1100" dirty="0"/>
          </a:p>
        </p:txBody>
      </p:sp>
      <p:sp>
        <p:nvSpPr>
          <p:cNvPr id="53" name="Text 51"/>
          <p:cNvSpPr/>
          <p:nvPr/>
        </p:nvSpPr>
        <p:spPr>
          <a:xfrm>
            <a:off x="5303520" y="3639312"/>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Full implementation stack</a:t>
            </a:r>
            <a:endParaRPr lang="en-US" sz="900" dirty="0"/>
          </a:p>
        </p:txBody>
      </p:sp>
      <p:sp>
        <p:nvSpPr>
          <p:cNvPr id="54" name="Shape 52"/>
          <p:cNvSpPr/>
          <p:nvPr/>
        </p:nvSpPr>
        <p:spPr>
          <a:xfrm>
            <a:off x="274320" y="3950208"/>
            <a:ext cx="4251960" cy="566928"/>
          </a:xfrm>
          <a:prstGeom prst="rect">
            <a:avLst/>
          </a:prstGeom>
          <a:solidFill>
            <a:srgbClr val="0D0D0D"/>
          </a:solidFill>
          <a:ln w="12700">
            <a:solidFill>
              <a:srgbClr val="0D0D0D"/>
            </a:solidFill>
            <a:prstDash val="solid"/>
          </a:ln>
        </p:spPr>
      </p:sp>
      <p:sp>
        <p:nvSpPr>
          <p:cNvPr id="55" name="Shape 53"/>
          <p:cNvSpPr/>
          <p:nvPr/>
        </p:nvSpPr>
        <p:spPr>
          <a:xfrm>
            <a:off x="274320" y="3950208"/>
            <a:ext cx="530352" cy="566928"/>
          </a:xfrm>
          <a:prstGeom prst="rect">
            <a:avLst/>
          </a:prstGeom>
          <a:solidFill>
            <a:srgbClr val="0D0D0D"/>
          </a:solidFill>
          <a:ln w="12700">
            <a:solidFill>
              <a:srgbClr val="0D0D0D"/>
            </a:solidFill>
            <a:prstDash val="solid"/>
          </a:ln>
        </p:spPr>
      </p:sp>
      <p:sp>
        <p:nvSpPr>
          <p:cNvPr id="56" name="Text 54"/>
          <p:cNvSpPr/>
          <p:nvPr/>
        </p:nvSpPr>
        <p:spPr>
          <a:xfrm>
            <a:off x="274320" y="3950208"/>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11</a:t>
            </a:r>
            <a:endParaRPr lang="en-US" sz="1200" dirty="0"/>
          </a:p>
        </p:txBody>
      </p:sp>
      <p:sp>
        <p:nvSpPr>
          <p:cNvPr id="57" name="Text 55"/>
          <p:cNvSpPr/>
          <p:nvPr/>
        </p:nvSpPr>
        <p:spPr>
          <a:xfrm>
            <a:off x="868680" y="3995928"/>
            <a:ext cx="3584448" cy="237744"/>
          </a:xfrm>
          <a:prstGeom prst="rect">
            <a:avLst/>
          </a:prstGeom>
          <a:noFill/>
          <a:ln/>
        </p:spPr>
        <p:txBody>
          <a:bodyPr wrap="square" rtlCol="0" anchor="ctr"/>
          <a:lstStyle/>
          <a:p>
            <a:pPr algn="l" indent="0" marL="0">
              <a:buNone/>
            </a:pPr>
            <a:r>
              <a:rPr lang="en-US" sz="1100" b="1" dirty="0">
                <a:solidFill>
                  <a:srgbClr val="FFFFFF"/>
                </a:solidFill>
                <a:latin typeface="Georgia" pitchFamily="34" charset="0"/>
                <a:ea typeface="Georgia" pitchFamily="34" charset="-122"/>
                <a:cs typeface="Georgia" pitchFamily="34" charset="-120"/>
              </a:rPr>
              <a:t>Project Scope</a:t>
            </a:r>
            <a:endParaRPr lang="en-US" sz="1100" dirty="0"/>
          </a:p>
        </p:txBody>
      </p:sp>
      <p:sp>
        <p:nvSpPr>
          <p:cNvPr id="58" name="Text 56"/>
          <p:cNvSpPr/>
          <p:nvPr/>
        </p:nvSpPr>
        <p:spPr>
          <a:xfrm>
            <a:off x="868680" y="4261104"/>
            <a:ext cx="3584448" cy="201168"/>
          </a:xfrm>
          <a:prstGeom prst="rect">
            <a:avLst/>
          </a:prstGeom>
          <a:noFill/>
          <a:ln/>
        </p:spPr>
        <p:txBody>
          <a:bodyPr wrap="square" rtlCol="0" anchor="ctr"/>
          <a:lstStyle/>
          <a:p>
            <a:pPr algn="l" indent="0" marL="0">
              <a:buNone/>
            </a:pPr>
            <a:r>
              <a:rPr lang="en-US" sz="900" dirty="0">
                <a:solidFill>
                  <a:srgbClr val="AAAAAA"/>
                </a:solidFill>
                <a:latin typeface="Calibri" pitchFamily="34" charset="0"/>
                <a:ea typeface="Calibri" pitchFamily="34" charset="-122"/>
                <a:cs typeface="Calibri" pitchFamily="34" charset="-120"/>
              </a:rPr>
              <a:t>In scope and out of scope clearly defined</a:t>
            </a:r>
            <a:endParaRPr lang="en-US" sz="900" dirty="0"/>
          </a:p>
        </p:txBody>
      </p:sp>
      <p:sp>
        <p:nvSpPr>
          <p:cNvPr id="59" name="Shape 57"/>
          <p:cNvSpPr/>
          <p:nvPr/>
        </p:nvSpPr>
        <p:spPr>
          <a:xfrm>
            <a:off x="4709160" y="3950208"/>
            <a:ext cx="4251960" cy="566928"/>
          </a:xfrm>
          <a:prstGeom prst="rect">
            <a:avLst/>
          </a:prstGeom>
          <a:solidFill>
            <a:srgbClr val="F0F0F0"/>
          </a:solidFill>
          <a:ln w="10160">
            <a:solidFill>
              <a:srgbClr val="0D0D0D"/>
            </a:solidFill>
            <a:prstDash val="solid"/>
          </a:ln>
        </p:spPr>
      </p:sp>
      <p:sp>
        <p:nvSpPr>
          <p:cNvPr id="60" name="Shape 58"/>
          <p:cNvSpPr/>
          <p:nvPr/>
        </p:nvSpPr>
        <p:spPr>
          <a:xfrm>
            <a:off x="4709160" y="3950208"/>
            <a:ext cx="530352" cy="566928"/>
          </a:xfrm>
          <a:prstGeom prst="rect">
            <a:avLst/>
          </a:prstGeom>
          <a:solidFill>
            <a:srgbClr val="0D0D0D"/>
          </a:solidFill>
          <a:ln w="12700">
            <a:solidFill>
              <a:srgbClr val="0D0D0D"/>
            </a:solidFill>
            <a:prstDash val="solid"/>
          </a:ln>
        </p:spPr>
      </p:sp>
      <p:sp>
        <p:nvSpPr>
          <p:cNvPr id="61" name="Text 59"/>
          <p:cNvSpPr/>
          <p:nvPr/>
        </p:nvSpPr>
        <p:spPr>
          <a:xfrm>
            <a:off x="4709160" y="3950208"/>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12</a:t>
            </a:r>
            <a:endParaRPr lang="en-US" sz="1200" dirty="0"/>
          </a:p>
        </p:txBody>
      </p:sp>
      <p:sp>
        <p:nvSpPr>
          <p:cNvPr id="62" name="Text 60"/>
          <p:cNvSpPr/>
          <p:nvPr/>
        </p:nvSpPr>
        <p:spPr>
          <a:xfrm>
            <a:off x="5303520" y="3995928"/>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Expected Results</a:t>
            </a:r>
            <a:endParaRPr lang="en-US" sz="1100" dirty="0"/>
          </a:p>
        </p:txBody>
      </p:sp>
      <p:sp>
        <p:nvSpPr>
          <p:cNvPr id="63" name="Text 61"/>
          <p:cNvSpPr/>
          <p:nvPr/>
        </p:nvSpPr>
        <p:spPr>
          <a:xfrm>
            <a:off x="5303520" y="4261104"/>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Target metrics and benchmark evaluation</a:t>
            </a:r>
            <a:endParaRPr lang="en-US" sz="900" dirty="0"/>
          </a:p>
        </p:txBody>
      </p:sp>
      <p:sp>
        <p:nvSpPr>
          <p:cNvPr id="64" name="Shape 62"/>
          <p:cNvSpPr/>
          <p:nvPr/>
        </p:nvSpPr>
        <p:spPr>
          <a:xfrm>
            <a:off x="274320" y="4572000"/>
            <a:ext cx="4251960" cy="566928"/>
          </a:xfrm>
          <a:prstGeom prst="rect">
            <a:avLst/>
          </a:prstGeom>
          <a:solidFill>
            <a:srgbClr val="F0F0F0"/>
          </a:solidFill>
          <a:ln w="10160">
            <a:solidFill>
              <a:srgbClr val="0D0D0D"/>
            </a:solidFill>
            <a:prstDash val="solid"/>
          </a:ln>
        </p:spPr>
      </p:sp>
      <p:sp>
        <p:nvSpPr>
          <p:cNvPr id="65" name="Shape 63"/>
          <p:cNvSpPr/>
          <p:nvPr/>
        </p:nvSpPr>
        <p:spPr>
          <a:xfrm>
            <a:off x="274320" y="4572000"/>
            <a:ext cx="530352" cy="566928"/>
          </a:xfrm>
          <a:prstGeom prst="rect">
            <a:avLst/>
          </a:prstGeom>
          <a:solidFill>
            <a:srgbClr val="0D0D0D"/>
          </a:solidFill>
          <a:ln w="12700">
            <a:solidFill>
              <a:srgbClr val="0D0D0D"/>
            </a:solidFill>
            <a:prstDash val="solid"/>
          </a:ln>
        </p:spPr>
      </p:sp>
      <p:sp>
        <p:nvSpPr>
          <p:cNvPr id="66" name="Text 64"/>
          <p:cNvSpPr/>
          <p:nvPr/>
        </p:nvSpPr>
        <p:spPr>
          <a:xfrm>
            <a:off x="274320" y="4572000"/>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13</a:t>
            </a:r>
            <a:endParaRPr lang="en-US" sz="1200" dirty="0"/>
          </a:p>
        </p:txBody>
      </p:sp>
      <p:sp>
        <p:nvSpPr>
          <p:cNvPr id="67" name="Text 65"/>
          <p:cNvSpPr/>
          <p:nvPr/>
        </p:nvSpPr>
        <p:spPr>
          <a:xfrm>
            <a:off x="868680" y="4617720"/>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Project Timeline</a:t>
            </a:r>
            <a:endParaRPr lang="en-US" sz="1100" dirty="0"/>
          </a:p>
        </p:txBody>
      </p:sp>
      <p:sp>
        <p:nvSpPr>
          <p:cNvPr id="68" name="Text 66"/>
          <p:cNvSpPr/>
          <p:nvPr/>
        </p:nvSpPr>
        <p:spPr>
          <a:xfrm>
            <a:off x="868680" y="4882896"/>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16-week phase breakdown</a:t>
            </a:r>
            <a:endParaRPr lang="en-US" sz="900" dirty="0"/>
          </a:p>
        </p:txBody>
      </p:sp>
      <p:sp>
        <p:nvSpPr>
          <p:cNvPr id="69" name="Shape 67"/>
          <p:cNvSpPr/>
          <p:nvPr/>
        </p:nvSpPr>
        <p:spPr>
          <a:xfrm>
            <a:off x="4709160" y="4572000"/>
            <a:ext cx="4251960" cy="566928"/>
          </a:xfrm>
          <a:prstGeom prst="rect">
            <a:avLst/>
          </a:prstGeom>
          <a:solidFill>
            <a:srgbClr val="F0F0F0"/>
          </a:solidFill>
          <a:ln w="10160">
            <a:solidFill>
              <a:srgbClr val="0D0D0D"/>
            </a:solidFill>
            <a:prstDash val="solid"/>
          </a:ln>
        </p:spPr>
      </p:sp>
      <p:sp>
        <p:nvSpPr>
          <p:cNvPr id="70" name="Shape 68"/>
          <p:cNvSpPr/>
          <p:nvPr/>
        </p:nvSpPr>
        <p:spPr>
          <a:xfrm>
            <a:off x="4709160" y="4572000"/>
            <a:ext cx="530352" cy="566928"/>
          </a:xfrm>
          <a:prstGeom prst="rect">
            <a:avLst/>
          </a:prstGeom>
          <a:solidFill>
            <a:srgbClr val="0D0D0D"/>
          </a:solidFill>
          <a:ln w="12700">
            <a:solidFill>
              <a:srgbClr val="0D0D0D"/>
            </a:solidFill>
            <a:prstDash val="solid"/>
          </a:ln>
        </p:spPr>
      </p:sp>
      <p:sp>
        <p:nvSpPr>
          <p:cNvPr id="71" name="Text 69"/>
          <p:cNvSpPr/>
          <p:nvPr/>
        </p:nvSpPr>
        <p:spPr>
          <a:xfrm>
            <a:off x="4709160" y="4572000"/>
            <a:ext cx="530352" cy="566928"/>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14</a:t>
            </a:r>
            <a:endParaRPr lang="en-US" sz="1200" dirty="0"/>
          </a:p>
        </p:txBody>
      </p:sp>
      <p:sp>
        <p:nvSpPr>
          <p:cNvPr id="72" name="Text 70"/>
          <p:cNvSpPr/>
          <p:nvPr/>
        </p:nvSpPr>
        <p:spPr>
          <a:xfrm>
            <a:off x="5303520" y="4617720"/>
            <a:ext cx="3584448" cy="237744"/>
          </a:xfrm>
          <a:prstGeom prst="rect">
            <a:avLst/>
          </a:prstGeom>
          <a:noFill/>
          <a:ln/>
        </p:spPr>
        <p:txBody>
          <a:bodyPr wrap="square" rtlCol="0" anchor="ctr"/>
          <a:lstStyle/>
          <a:p>
            <a:pPr algn="l" indent="0" marL="0">
              <a:buNone/>
            </a:pPr>
            <a:r>
              <a:rPr lang="en-US" sz="1100" b="1" dirty="0">
                <a:solidFill>
                  <a:srgbClr val="0D0D0D"/>
                </a:solidFill>
                <a:latin typeface="Georgia" pitchFamily="34" charset="0"/>
                <a:ea typeface="Georgia" pitchFamily="34" charset="-122"/>
                <a:cs typeface="Georgia" pitchFamily="34" charset="-120"/>
              </a:rPr>
              <a:t>References</a:t>
            </a:r>
            <a:endParaRPr lang="en-US" sz="1100" dirty="0"/>
          </a:p>
        </p:txBody>
      </p:sp>
      <p:sp>
        <p:nvSpPr>
          <p:cNvPr id="73" name="Text 71"/>
          <p:cNvSpPr/>
          <p:nvPr/>
        </p:nvSpPr>
        <p:spPr>
          <a:xfrm>
            <a:off x="5303520" y="4882896"/>
            <a:ext cx="3584448" cy="201168"/>
          </a:xfrm>
          <a:prstGeom prst="rect">
            <a:avLst/>
          </a:prstGeom>
          <a:noFill/>
          <a:ln/>
        </p:spPr>
        <p:txBody>
          <a:bodyPr wrap="square" rtlCol="0" anchor="ctr"/>
          <a:lstStyle/>
          <a:p>
            <a:pPr algn="l" indent="0" marL="0">
              <a:buNone/>
            </a:pPr>
            <a:r>
              <a:rPr lang="en-US" sz="900" dirty="0">
                <a:solidFill>
                  <a:srgbClr val="666666"/>
                </a:solidFill>
                <a:latin typeface="Calibri" pitchFamily="34" charset="0"/>
                <a:ea typeface="Calibri" pitchFamily="34" charset="-122"/>
                <a:cs typeface="Calibri" pitchFamily="34" charset="-120"/>
              </a:rPr>
              <a:t>All cited works — APA format, 2020–2024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INTRODUCTION — THE SMART CONTRACT SECURITY CRISIS</a:t>
            </a:r>
            <a:endParaRPr lang="en-US" sz="1500" dirty="0"/>
          </a:p>
        </p:txBody>
      </p:sp>
      <p:sp>
        <p:nvSpPr>
          <p:cNvPr id="4" name="Shape 2"/>
          <p:cNvSpPr/>
          <p:nvPr/>
        </p:nvSpPr>
        <p:spPr>
          <a:xfrm>
            <a:off x="274320" y="777240"/>
            <a:ext cx="8595360" cy="402336"/>
          </a:xfrm>
          <a:prstGeom prst="rect">
            <a:avLst/>
          </a:prstGeom>
          <a:solidFill>
            <a:srgbClr val="1A1A1A"/>
          </a:solidFill>
          <a:ln w="12700">
            <a:solidFill>
              <a:srgbClr val="444444"/>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AAAAAA"/>
                </a:solidFill>
                <a:latin typeface="Calibri" pitchFamily="34" charset="0"/>
                <a:ea typeface="Calibri" pitchFamily="34" charset="-122"/>
                <a:cs typeface="Calibri" pitchFamily="34" charset="-120"/>
              </a:rPr>
              <a:t>Smart contracts secure hundreds of billions of dollars. They cannot be patched after deployment. The consequences of vulnerability are permanent.</a:t>
            </a:r>
            <a:endParaRPr lang="en-US" sz="1000" dirty="0"/>
          </a:p>
        </p:txBody>
      </p:sp>
      <p:pic>
        <p:nvPicPr>
          <p:cNvPr id="6" name="Image 0" descr="/home/claude/fyp/hacks.png">    </p:cNvPr>
          <p:cNvPicPr>
            <a:picLocks noChangeAspect="1"/>
          </p:cNvPicPr>
          <p:nvPr/>
        </p:nvPicPr>
        <p:blipFill>
          <a:blip r:embed="rId1"/>
          <a:stretch>
            <a:fillRect/>
          </a:stretch>
        </p:blipFill>
        <p:spPr>
          <a:xfrm>
            <a:off x="274320" y="1261872"/>
            <a:ext cx="8595360" cy="3108960"/>
          </a:xfrm>
          <a:prstGeom prst="rect">
            <a:avLst/>
          </a:prstGeom>
          <a:effectLst>
            <a:outerShdw sx="100000" sy="100000" kx="0" ky="0" algn="bl" rotWithShape="0" blurRad="101600" dist="38100" dir="8100000">
              <a:srgbClr val="000000">
                <a:alpha val="15000"/>
              </a:srgbClr>
            </a:outerShdw>
          </a:effectLst>
        </p:spPr>
      </p:pic>
      <p:sp>
        <p:nvSpPr>
          <p:cNvPr id="7" name="Shape 4"/>
          <p:cNvSpPr/>
          <p:nvPr/>
        </p:nvSpPr>
        <p:spPr>
          <a:xfrm>
            <a:off x="274320" y="4462272"/>
            <a:ext cx="8595360" cy="548640"/>
          </a:xfrm>
          <a:prstGeom prst="rect">
            <a:avLst/>
          </a:prstGeom>
          <a:solidFill>
            <a:srgbClr val="1A0000"/>
          </a:solidFill>
          <a:ln w="12700">
            <a:solidFill>
              <a:srgbClr val="660000"/>
            </a:solidFill>
            <a:prstDash val="solid"/>
          </a:ln>
        </p:spPr>
      </p:sp>
      <p:sp>
        <p:nvSpPr>
          <p:cNvPr id="8" name="Text 5"/>
          <p:cNvSpPr/>
          <p:nvPr/>
        </p:nvSpPr>
        <p:spPr>
          <a:xfrm>
            <a:off x="457200" y="4480560"/>
            <a:ext cx="8229600" cy="512064"/>
          </a:xfrm>
          <a:prstGeom prst="rect">
            <a:avLst/>
          </a:prstGeom>
          <a:noFill/>
          <a:ln/>
        </p:spPr>
        <p:txBody>
          <a:bodyPr wrap="square" rtlCol="0" anchor="ctr"/>
          <a:lstStyle/>
          <a:p>
            <a:pPr algn="ctr" indent="0" marL="0">
              <a:buNone/>
            </a:pPr>
            <a:r>
              <a:rPr lang="en-US" sz="1200" b="1" dirty="0">
                <a:solidFill>
                  <a:srgbClr val="FF9999"/>
                </a:solidFill>
                <a:latin typeface="Georgia" pitchFamily="34" charset="0"/>
                <a:ea typeface="Georgia" pitchFamily="34" charset="-122"/>
                <a:cs typeface="Georgia" pitchFamily="34" charset="-120"/>
              </a:rPr>
              <a:t>Immutability is what makes smart contracts trustworthy. It is also what makes a vulnerability catastrophic — a bug deployed today is exploitable forever.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PROBLEM STATEMENT</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There is currently no accessible, low-cost system that bridges automated vulnerability detection with human-readable guidance for Solidity smart contracts.</a:t>
            </a:r>
            <a:endParaRPr lang="en-US" sz="1000" dirty="0"/>
          </a:p>
        </p:txBody>
      </p:sp>
      <p:pic>
        <p:nvPicPr>
          <p:cNvPr id="6" name="Image 0" descr="/home/claude/fyp/gap.png">    </p:cNvPr>
          <p:cNvPicPr>
            <a:picLocks noChangeAspect="1"/>
          </p:cNvPicPr>
          <p:nvPr/>
        </p:nvPicPr>
        <p:blipFill>
          <a:blip r:embed="rId1"/>
          <a:stretch>
            <a:fillRect/>
          </a:stretch>
        </p:blipFill>
        <p:spPr>
          <a:xfrm>
            <a:off x="274320" y="1261872"/>
            <a:ext cx="8595360" cy="3218688"/>
          </a:xfrm>
          <a:prstGeom prst="rect">
            <a:avLst/>
          </a:prstGeom>
          <a:effectLst>
            <a:outerShdw sx="100000" sy="100000" kx="0" ky="0" algn="bl" rotWithShape="0" blurRad="101600" dist="38100" dir="8100000">
              <a:srgbClr val="000000">
                <a:alpha val="15000"/>
              </a:srgbClr>
            </a:outerShdw>
          </a:effectLst>
        </p:spPr>
      </p:pic>
      <p:sp>
        <p:nvSpPr>
          <p:cNvPr id="7" name="Shape 4"/>
          <p:cNvSpPr/>
          <p:nvPr/>
        </p:nvSpPr>
        <p:spPr>
          <a:xfrm>
            <a:off x="274320" y="4572000"/>
            <a:ext cx="8595360" cy="438912"/>
          </a:xfrm>
          <a:prstGeom prst="rect">
            <a:avLst/>
          </a:prstGeom>
          <a:solidFill>
            <a:srgbClr val="0D0D0D"/>
          </a:solidFill>
          <a:ln w="12700">
            <a:solidFill>
              <a:srgbClr val="0D0D0D"/>
            </a:solidFill>
            <a:prstDash val="solid"/>
          </a:ln>
        </p:spPr>
      </p:sp>
      <p:sp>
        <p:nvSpPr>
          <p:cNvPr id="8" name="Text 5"/>
          <p:cNvSpPr/>
          <p:nvPr/>
        </p:nvSpPr>
        <p:spPr>
          <a:xfrm>
            <a:off x="457200" y="4590288"/>
            <a:ext cx="8229600" cy="402336"/>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AuditAI positions itself between professional audits and raw static analysis — affordable, accessible, and explanatory.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AIM OF THE STUDY</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One overarching aim that all five objectives serve.</a:t>
            </a:r>
            <a:endParaRPr lang="en-US" sz="1000" dirty="0"/>
          </a:p>
        </p:txBody>
      </p:sp>
      <p:sp>
        <p:nvSpPr>
          <p:cNvPr id="6" name="Shape 4"/>
          <p:cNvSpPr/>
          <p:nvPr/>
        </p:nvSpPr>
        <p:spPr>
          <a:xfrm>
            <a:off x="274320" y="1261872"/>
            <a:ext cx="8595360" cy="960120"/>
          </a:xfrm>
          <a:prstGeom prst="rect">
            <a:avLst/>
          </a:prstGeom>
          <a:solidFill>
            <a:srgbClr val="0D0D0D"/>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7" name="Text 5"/>
          <p:cNvSpPr/>
          <p:nvPr/>
        </p:nvSpPr>
        <p:spPr>
          <a:xfrm>
            <a:off x="457200" y="1289304"/>
            <a:ext cx="8229600" cy="905256"/>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To design, implement, and evaluate AuditAI — an AI-powered automated smart contract auditing system that combines static analysis with large language model reasoning to produce human-readable, actionable audit reports accessible to developers without specialist security knowledge.</a:t>
            </a:r>
            <a:endParaRPr lang="en-US" sz="1300" dirty="0"/>
          </a:p>
        </p:txBody>
      </p:sp>
      <p:sp>
        <p:nvSpPr>
          <p:cNvPr id="8" name="Text 6"/>
          <p:cNvSpPr/>
          <p:nvPr/>
        </p:nvSpPr>
        <p:spPr>
          <a:xfrm>
            <a:off x="274320" y="2331720"/>
            <a:ext cx="8595360" cy="329184"/>
          </a:xfrm>
          <a:prstGeom prst="rect">
            <a:avLst/>
          </a:prstGeom>
          <a:noFill/>
          <a:ln/>
        </p:spPr>
        <p:txBody>
          <a:bodyPr wrap="square" rtlCol="0" anchor="ctr"/>
          <a:lstStyle/>
          <a:p>
            <a:pPr algn="l" indent="0" marL="0">
              <a:buNone/>
            </a:pPr>
            <a:r>
              <a:rPr lang="en-US" sz="1100" dirty="0">
                <a:solidFill>
                  <a:srgbClr val="555555"/>
                </a:solidFill>
                <a:latin typeface="Calibri" pitchFamily="34" charset="0"/>
                <a:ea typeface="Calibri" pitchFamily="34" charset="-122"/>
                <a:cs typeface="Calibri" pitchFamily="34" charset="-120"/>
              </a:rPr>
              <a:t>This aim is addressed through five specific and measurable objectives:</a:t>
            </a:r>
            <a:endParaRPr lang="en-US" sz="1100" dirty="0"/>
          </a:p>
        </p:txBody>
      </p:sp>
      <p:sp>
        <p:nvSpPr>
          <p:cNvPr id="9" name="Shape 7"/>
          <p:cNvSpPr/>
          <p:nvPr/>
        </p:nvSpPr>
        <p:spPr>
          <a:xfrm>
            <a:off x="274320" y="2724912"/>
            <a:ext cx="8595360" cy="420624"/>
          </a:xfrm>
          <a:prstGeom prst="rect">
            <a:avLst/>
          </a:prstGeom>
          <a:solidFill>
            <a:srgbClr val="F8F8F8"/>
          </a:solidFill>
          <a:ln w="12700">
            <a:solidFill>
              <a:srgbClr val="CCCCCC"/>
            </a:solidFill>
            <a:prstDash val="solid"/>
          </a:ln>
        </p:spPr>
      </p:sp>
      <p:sp>
        <p:nvSpPr>
          <p:cNvPr id="10" name="Shape 8"/>
          <p:cNvSpPr/>
          <p:nvPr/>
        </p:nvSpPr>
        <p:spPr>
          <a:xfrm>
            <a:off x="274320" y="2724912"/>
            <a:ext cx="457200" cy="420624"/>
          </a:xfrm>
          <a:prstGeom prst="rect">
            <a:avLst/>
          </a:prstGeom>
          <a:solidFill>
            <a:srgbClr val="0D0D0D"/>
          </a:solidFill>
          <a:ln w="12700">
            <a:solidFill>
              <a:srgbClr val="0D0D0D"/>
            </a:solidFill>
            <a:prstDash val="solid"/>
          </a:ln>
        </p:spPr>
      </p:sp>
      <p:sp>
        <p:nvSpPr>
          <p:cNvPr id="11" name="Text 9"/>
          <p:cNvSpPr/>
          <p:nvPr/>
        </p:nvSpPr>
        <p:spPr>
          <a:xfrm>
            <a:off x="274320" y="2724912"/>
            <a:ext cx="457200" cy="420624"/>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1</a:t>
            </a:r>
            <a:endParaRPr lang="en-US" sz="1200" dirty="0"/>
          </a:p>
        </p:txBody>
      </p:sp>
      <p:sp>
        <p:nvSpPr>
          <p:cNvPr id="12" name="Text 10"/>
          <p:cNvSpPr/>
          <p:nvPr/>
        </p:nvSpPr>
        <p:spPr>
          <a:xfrm>
            <a:off x="804672" y="2743200"/>
            <a:ext cx="7991856" cy="384048"/>
          </a:xfrm>
          <a:prstGeom prst="rect">
            <a:avLst/>
          </a:prstGeom>
          <a:noFill/>
          <a:ln/>
        </p:spPr>
        <p:txBody>
          <a:bodyPr wrap="square" rtlCol="0" anchor="ctr"/>
          <a:lstStyle/>
          <a:p>
            <a:pPr algn="l" indent="0" marL="0">
              <a:buNone/>
            </a:pPr>
            <a:r>
              <a:rPr lang="en-US" sz="1000" dirty="0">
                <a:solidFill>
                  <a:srgbClr val="333333"/>
                </a:solidFill>
                <a:latin typeface="Calibri" pitchFamily="34" charset="0"/>
                <a:ea typeface="Calibri" pitchFamily="34" charset="-122"/>
                <a:cs typeface="Calibri" pitchFamily="34" charset="-120"/>
              </a:rPr>
              <a:t>Conduct a systematic review of smart contract vulnerability taxonomies and existing automated detection tools</a:t>
            </a:r>
            <a:endParaRPr lang="en-US" sz="1000" dirty="0"/>
          </a:p>
        </p:txBody>
      </p:sp>
      <p:sp>
        <p:nvSpPr>
          <p:cNvPr id="13" name="Shape 11"/>
          <p:cNvSpPr/>
          <p:nvPr/>
        </p:nvSpPr>
        <p:spPr>
          <a:xfrm>
            <a:off x="274320" y="3182112"/>
            <a:ext cx="8595360" cy="420624"/>
          </a:xfrm>
          <a:prstGeom prst="rect">
            <a:avLst/>
          </a:prstGeom>
          <a:solidFill>
            <a:srgbClr val="0D0D0D"/>
          </a:solidFill>
          <a:ln w="12700">
            <a:solidFill>
              <a:srgbClr val="0D0D0D"/>
            </a:solidFill>
            <a:prstDash val="solid"/>
          </a:ln>
        </p:spPr>
      </p:sp>
      <p:sp>
        <p:nvSpPr>
          <p:cNvPr id="14" name="Shape 12"/>
          <p:cNvSpPr/>
          <p:nvPr/>
        </p:nvSpPr>
        <p:spPr>
          <a:xfrm>
            <a:off x="274320" y="3182112"/>
            <a:ext cx="457200" cy="420624"/>
          </a:xfrm>
          <a:prstGeom prst="rect">
            <a:avLst/>
          </a:prstGeom>
          <a:solidFill>
            <a:srgbClr val="0D0D0D"/>
          </a:solidFill>
          <a:ln w="12700">
            <a:solidFill>
              <a:srgbClr val="0D0D0D"/>
            </a:solidFill>
            <a:prstDash val="solid"/>
          </a:ln>
        </p:spPr>
      </p:sp>
      <p:sp>
        <p:nvSpPr>
          <p:cNvPr id="15" name="Text 13"/>
          <p:cNvSpPr/>
          <p:nvPr/>
        </p:nvSpPr>
        <p:spPr>
          <a:xfrm>
            <a:off x="274320" y="3182112"/>
            <a:ext cx="457200" cy="420624"/>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2</a:t>
            </a:r>
            <a:endParaRPr lang="en-US" sz="1200" dirty="0"/>
          </a:p>
        </p:txBody>
      </p:sp>
      <p:sp>
        <p:nvSpPr>
          <p:cNvPr id="16" name="Text 14"/>
          <p:cNvSpPr/>
          <p:nvPr/>
        </p:nvSpPr>
        <p:spPr>
          <a:xfrm>
            <a:off x="804672" y="3200400"/>
            <a:ext cx="7991856" cy="384048"/>
          </a:xfrm>
          <a:prstGeom prst="rect">
            <a:avLst/>
          </a:prstGeom>
          <a:noFill/>
          <a:ln/>
        </p:spPr>
        <p:txBody>
          <a:bodyPr wrap="square"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Design a five-layer pipeline architecture integrating Slither static analysis with Claude LLM reasoning</a:t>
            </a:r>
            <a:endParaRPr lang="en-US" sz="1000" dirty="0"/>
          </a:p>
        </p:txBody>
      </p:sp>
      <p:sp>
        <p:nvSpPr>
          <p:cNvPr id="17" name="Shape 15"/>
          <p:cNvSpPr/>
          <p:nvPr/>
        </p:nvSpPr>
        <p:spPr>
          <a:xfrm>
            <a:off x="274320" y="3639312"/>
            <a:ext cx="8595360" cy="420624"/>
          </a:xfrm>
          <a:prstGeom prst="rect">
            <a:avLst/>
          </a:prstGeom>
          <a:solidFill>
            <a:srgbClr val="F8F8F8"/>
          </a:solidFill>
          <a:ln w="12700">
            <a:solidFill>
              <a:srgbClr val="CCCCCC"/>
            </a:solidFill>
            <a:prstDash val="solid"/>
          </a:ln>
        </p:spPr>
      </p:sp>
      <p:sp>
        <p:nvSpPr>
          <p:cNvPr id="18" name="Shape 16"/>
          <p:cNvSpPr/>
          <p:nvPr/>
        </p:nvSpPr>
        <p:spPr>
          <a:xfrm>
            <a:off x="274320" y="3639312"/>
            <a:ext cx="457200" cy="420624"/>
          </a:xfrm>
          <a:prstGeom prst="rect">
            <a:avLst/>
          </a:prstGeom>
          <a:solidFill>
            <a:srgbClr val="0D0D0D"/>
          </a:solidFill>
          <a:ln w="12700">
            <a:solidFill>
              <a:srgbClr val="0D0D0D"/>
            </a:solidFill>
            <a:prstDash val="solid"/>
          </a:ln>
        </p:spPr>
      </p:sp>
      <p:sp>
        <p:nvSpPr>
          <p:cNvPr id="19" name="Text 17"/>
          <p:cNvSpPr/>
          <p:nvPr/>
        </p:nvSpPr>
        <p:spPr>
          <a:xfrm>
            <a:off x="274320" y="3639312"/>
            <a:ext cx="457200" cy="420624"/>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3</a:t>
            </a:r>
            <a:endParaRPr lang="en-US" sz="1200" dirty="0"/>
          </a:p>
        </p:txBody>
      </p:sp>
      <p:sp>
        <p:nvSpPr>
          <p:cNvPr id="20" name="Text 18"/>
          <p:cNvSpPr/>
          <p:nvPr/>
        </p:nvSpPr>
        <p:spPr>
          <a:xfrm>
            <a:off x="804672" y="3657600"/>
            <a:ext cx="7991856" cy="384048"/>
          </a:xfrm>
          <a:prstGeom prst="rect">
            <a:avLst/>
          </a:prstGeom>
          <a:noFill/>
          <a:ln/>
        </p:spPr>
        <p:txBody>
          <a:bodyPr wrap="square" rtlCol="0" anchor="ctr"/>
          <a:lstStyle/>
          <a:p>
            <a:pPr algn="l" indent="0" marL="0">
              <a:buNone/>
            </a:pPr>
            <a:r>
              <a:rPr lang="en-US" sz="1000" dirty="0">
                <a:solidFill>
                  <a:srgbClr val="333333"/>
                </a:solidFill>
                <a:latin typeface="Calibri" pitchFamily="34" charset="0"/>
                <a:ea typeface="Calibri" pitchFamily="34" charset="-122"/>
                <a:cs typeface="Calibri" pitchFamily="34" charset="-120"/>
              </a:rPr>
              <a:t>Implement a functional prototype with web interface, API, and PDF report generation</a:t>
            </a:r>
            <a:endParaRPr lang="en-US" sz="1000" dirty="0"/>
          </a:p>
        </p:txBody>
      </p:sp>
      <p:sp>
        <p:nvSpPr>
          <p:cNvPr id="21" name="Shape 19"/>
          <p:cNvSpPr/>
          <p:nvPr/>
        </p:nvSpPr>
        <p:spPr>
          <a:xfrm>
            <a:off x="274320" y="4096512"/>
            <a:ext cx="8595360" cy="420624"/>
          </a:xfrm>
          <a:prstGeom prst="rect">
            <a:avLst/>
          </a:prstGeom>
          <a:solidFill>
            <a:srgbClr val="0D0D0D"/>
          </a:solidFill>
          <a:ln w="12700">
            <a:solidFill>
              <a:srgbClr val="0D0D0D"/>
            </a:solidFill>
            <a:prstDash val="solid"/>
          </a:ln>
        </p:spPr>
      </p:sp>
      <p:sp>
        <p:nvSpPr>
          <p:cNvPr id="22" name="Shape 20"/>
          <p:cNvSpPr/>
          <p:nvPr/>
        </p:nvSpPr>
        <p:spPr>
          <a:xfrm>
            <a:off x="274320" y="4096512"/>
            <a:ext cx="457200" cy="420624"/>
          </a:xfrm>
          <a:prstGeom prst="rect">
            <a:avLst/>
          </a:prstGeom>
          <a:solidFill>
            <a:srgbClr val="0D0D0D"/>
          </a:solidFill>
          <a:ln w="12700">
            <a:solidFill>
              <a:srgbClr val="0D0D0D"/>
            </a:solidFill>
            <a:prstDash val="solid"/>
          </a:ln>
        </p:spPr>
      </p:sp>
      <p:sp>
        <p:nvSpPr>
          <p:cNvPr id="23" name="Text 21"/>
          <p:cNvSpPr/>
          <p:nvPr/>
        </p:nvSpPr>
        <p:spPr>
          <a:xfrm>
            <a:off x="274320" y="4096512"/>
            <a:ext cx="457200" cy="420624"/>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4</a:t>
            </a:r>
            <a:endParaRPr lang="en-US" sz="1200" dirty="0"/>
          </a:p>
        </p:txBody>
      </p:sp>
      <p:sp>
        <p:nvSpPr>
          <p:cNvPr id="24" name="Text 22"/>
          <p:cNvSpPr/>
          <p:nvPr/>
        </p:nvSpPr>
        <p:spPr>
          <a:xfrm>
            <a:off x="804672" y="4114800"/>
            <a:ext cx="7991856" cy="384048"/>
          </a:xfrm>
          <a:prstGeom prst="rect">
            <a:avLst/>
          </a:prstGeom>
          <a:noFill/>
          <a:ln/>
        </p:spPr>
        <p:txBody>
          <a:bodyPr wrap="square"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Evaluate detection accuracy using the SmartBugs benchmark with precision, recall, and F1-score</a:t>
            </a:r>
            <a:endParaRPr lang="en-US" sz="1000" dirty="0"/>
          </a:p>
        </p:txBody>
      </p:sp>
      <p:sp>
        <p:nvSpPr>
          <p:cNvPr id="25" name="Shape 23"/>
          <p:cNvSpPr/>
          <p:nvPr/>
        </p:nvSpPr>
        <p:spPr>
          <a:xfrm>
            <a:off x="274320" y="4553712"/>
            <a:ext cx="8595360" cy="420624"/>
          </a:xfrm>
          <a:prstGeom prst="rect">
            <a:avLst/>
          </a:prstGeom>
          <a:solidFill>
            <a:srgbClr val="F8F8F8"/>
          </a:solidFill>
          <a:ln w="12700">
            <a:solidFill>
              <a:srgbClr val="CCCCCC"/>
            </a:solidFill>
            <a:prstDash val="solid"/>
          </a:ln>
        </p:spPr>
      </p:sp>
      <p:sp>
        <p:nvSpPr>
          <p:cNvPr id="26" name="Shape 24"/>
          <p:cNvSpPr/>
          <p:nvPr/>
        </p:nvSpPr>
        <p:spPr>
          <a:xfrm>
            <a:off x="274320" y="4553712"/>
            <a:ext cx="457200" cy="420624"/>
          </a:xfrm>
          <a:prstGeom prst="rect">
            <a:avLst/>
          </a:prstGeom>
          <a:solidFill>
            <a:srgbClr val="0D0D0D"/>
          </a:solidFill>
          <a:ln w="12700">
            <a:solidFill>
              <a:srgbClr val="0D0D0D"/>
            </a:solidFill>
            <a:prstDash val="solid"/>
          </a:ln>
        </p:spPr>
      </p:sp>
      <p:sp>
        <p:nvSpPr>
          <p:cNvPr id="27" name="Text 25"/>
          <p:cNvSpPr/>
          <p:nvPr/>
        </p:nvSpPr>
        <p:spPr>
          <a:xfrm>
            <a:off x="274320" y="4553712"/>
            <a:ext cx="457200" cy="420624"/>
          </a:xfrm>
          <a:prstGeom prst="rect">
            <a:avLst/>
          </a:prstGeom>
          <a:noFill/>
          <a:ln/>
        </p:spPr>
        <p:txBody>
          <a:bodyPr wrap="square" rtlCol="0" anchor="ctr"/>
          <a:lstStyle/>
          <a:p>
            <a:pPr algn="ctr" indent="0" marL="0">
              <a:buNone/>
            </a:pPr>
            <a:r>
              <a:rPr lang="en-US" sz="1200" b="1" dirty="0">
                <a:solidFill>
                  <a:srgbClr val="888888"/>
                </a:solidFill>
                <a:latin typeface="Georgia" pitchFamily="34" charset="0"/>
                <a:ea typeface="Georgia" pitchFamily="34" charset="-122"/>
                <a:cs typeface="Georgia" pitchFamily="34" charset="-120"/>
              </a:rPr>
              <a:t>5</a:t>
            </a:r>
            <a:endParaRPr lang="en-US" sz="1200" dirty="0"/>
          </a:p>
        </p:txBody>
      </p:sp>
      <p:sp>
        <p:nvSpPr>
          <p:cNvPr id="28" name="Text 26"/>
          <p:cNvSpPr/>
          <p:nvPr/>
        </p:nvSpPr>
        <p:spPr>
          <a:xfrm>
            <a:off x="804672" y="4572000"/>
            <a:ext cx="7991856" cy="384048"/>
          </a:xfrm>
          <a:prstGeom prst="rect">
            <a:avLst/>
          </a:prstGeom>
          <a:noFill/>
          <a:ln/>
        </p:spPr>
        <p:txBody>
          <a:bodyPr wrap="square" rtlCol="0" anchor="ctr"/>
          <a:lstStyle/>
          <a:p>
            <a:pPr algn="l" indent="0" marL="0">
              <a:buNone/>
            </a:pPr>
            <a:r>
              <a:rPr lang="en-US" sz="1000" dirty="0">
                <a:solidFill>
                  <a:srgbClr val="333333"/>
                </a:solidFill>
                <a:latin typeface="Calibri" pitchFamily="34" charset="0"/>
                <a:ea typeface="Calibri" pitchFamily="34" charset="-122"/>
                <a:cs typeface="Calibri" pitchFamily="34" charset="-120"/>
              </a:rPr>
              <a:t>Assess and validate AI-generated report quality against raw static analysis output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OBJECTIVE 01 — Review Vulnerability Taxonomies and Existing Tools</a:t>
            </a:r>
            <a:endParaRPr lang="en-US" sz="1500" dirty="0"/>
          </a:p>
        </p:txBody>
      </p:sp>
      <p:sp>
        <p:nvSpPr>
          <p:cNvPr id="4" name="Shape 2"/>
          <p:cNvSpPr/>
          <p:nvPr/>
        </p:nvSpPr>
        <p:spPr>
          <a:xfrm>
            <a:off x="274320" y="777240"/>
            <a:ext cx="8595360" cy="502920"/>
          </a:xfrm>
          <a:prstGeom prst="rect">
            <a:avLst/>
          </a:prstGeom>
          <a:solidFill>
            <a:srgbClr val="F0F0F0"/>
          </a:solidFill>
          <a:ln w="12700">
            <a:solidFill>
              <a:srgbClr val="CCCCCC"/>
            </a:solidFill>
            <a:prstDash val="solid"/>
          </a:ln>
        </p:spPr>
      </p:sp>
      <p:sp>
        <p:nvSpPr>
          <p:cNvPr id="5" name="Text 3"/>
          <p:cNvSpPr/>
          <p:nvPr/>
        </p:nvSpPr>
        <p:spPr>
          <a:xfrm>
            <a:off x="411480" y="795528"/>
            <a:ext cx="8321040" cy="466344"/>
          </a:xfrm>
          <a:prstGeom prst="rect">
            <a:avLst/>
          </a:prstGeom>
          <a:noFill/>
          <a:ln/>
        </p:spPr>
        <p:txBody>
          <a:bodyPr wrap="square" rtlCol="0" anchor="ctr"/>
          <a:lstStyle/>
          <a:p>
            <a:pPr algn="l" indent="0" marL="0">
              <a:buNone/>
            </a:pPr>
            <a:r>
              <a:rPr lang="en-US" sz="1050" b="1" dirty="0">
                <a:solidFill>
                  <a:srgbClr val="444444"/>
                </a:solidFill>
                <a:latin typeface="Georgia" pitchFamily="34" charset="0"/>
                <a:ea typeface="Georgia" pitchFamily="34" charset="-122"/>
                <a:cs typeface="Georgia" pitchFamily="34" charset="-120"/>
              </a:rPr>
              <a:t>Purpose: To build a comprehensive theoretical foundation that justifies every design decision made in AuditAI.</a:t>
            </a:r>
            <a:endParaRPr lang="en-US" sz="1050" dirty="0"/>
          </a:p>
        </p:txBody>
      </p:sp>
      <p:sp>
        <p:nvSpPr>
          <p:cNvPr id="6" name="Shape 4"/>
          <p:cNvSpPr/>
          <p:nvPr/>
        </p:nvSpPr>
        <p:spPr>
          <a:xfrm>
            <a:off x="274320" y="1389888"/>
            <a:ext cx="8595360" cy="621792"/>
          </a:xfrm>
          <a:prstGeom prst="rect">
            <a:avLst/>
          </a:prstGeom>
          <a:solidFill>
            <a:srgbClr val="F5F5F5"/>
          </a:solidFill>
          <a:ln w="12700">
            <a:solidFill>
              <a:srgbClr val="CCCCCC"/>
            </a:solidFill>
            <a:prstDash val="solid"/>
          </a:ln>
        </p:spPr>
      </p:sp>
      <p:sp>
        <p:nvSpPr>
          <p:cNvPr id="7" name="Shape 5"/>
          <p:cNvSpPr/>
          <p:nvPr/>
        </p:nvSpPr>
        <p:spPr>
          <a:xfrm>
            <a:off x="274320" y="1389888"/>
            <a:ext cx="502920" cy="621792"/>
          </a:xfrm>
          <a:prstGeom prst="rect">
            <a:avLst/>
          </a:prstGeom>
          <a:solidFill>
            <a:srgbClr val="0D0D0D"/>
          </a:solidFill>
          <a:ln w="12700">
            <a:solidFill>
              <a:srgbClr val="0D0D0D"/>
            </a:solidFill>
            <a:prstDash val="solid"/>
          </a:ln>
        </p:spPr>
      </p:sp>
      <p:sp>
        <p:nvSpPr>
          <p:cNvPr id="8" name="Text 6"/>
          <p:cNvSpPr/>
          <p:nvPr/>
        </p:nvSpPr>
        <p:spPr>
          <a:xfrm>
            <a:off x="274320" y="1389888"/>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859536" y="1444752"/>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1:</a:t>
            </a:r>
            <a:endParaRPr lang="en-US" sz="1000" dirty="0"/>
          </a:p>
        </p:txBody>
      </p:sp>
      <p:sp>
        <p:nvSpPr>
          <p:cNvPr id="10" name="Text 8"/>
          <p:cNvSpPr/>
          <p:nvPr/>
        </p:nvSpPr>
        <p:spPr>
          <a:xfrm>
            <a:off x="859536" y="1691640"/>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Study the Smart Contract Weakness Classification (SWC) Registry — all 30+ vulnerability classes</a:t>
            </a:r>
            <a:endParaRPr lang="en-US" sz="1000" dirty="0"/>
          </a:p>
        </p:txBody>
      </p:sp>
      <p:sp>
        <p:nvSpPr>
          <p:cNvPr id="11" name="Shape 9"/>
          <p:cNvSpPr/>
          <p:nvPr/>
        </p:nvSpPr>
        <p:spPr>
          <a:xfrm>
            <a:off x="274320" y="2084832"/>
            <a:ext cx="8595360" cy="621792"/>
          </a:xfrm>
          <a:prstGeom prst="rect">
            <a:avLst/>
          </a:prstGeom>
          <a:solidFill>
            <a:srgbClr val="F5F5F5"/>
          </a:solidFill>
          <a:ln w="12700">
            <a:solidFill>
              <a:srgbClr val="CCCCCC"/>
            </a:solidFill>
            <a:prstDash val="solid"/>
          </a:ln>
        </p:spPr>
      </p:sp>
      <p:sp>
        <p:nvSpPr>
          <p:cNvPr id="12" name="Shape 10"/>
          <p:cNvSpPr/>
          <p:nvPr/>
        </p:nvSpPr>
        <p:spPr>
          <a:xfrm>
            <a:off x="274320" y="2084832"/>
            <a:ext cx="502920" cy="621792"/>
          </a:xfrm>
          <a:prstGeom prst="rect">
            <a:avLst/>
          </a:prstGeom>
          <a:solidFill>
            <a:srgbClr val="0D0D0D"/>
          </a:solidFill>
          <a:ln w="12700">
            <a:solidFill>
              <a:srgbClr val="0D0D0D"/>
            </a:solidFill>
            <a:prstDash val="solid"/>
          </a:ln>
        </p:spPr>
      </p:sp>
      <p:sp>
        <p:nvSpPr>
          <p:cNvPr id="13" name="Text 11"/>
          <p:cNvSpPr/>
          <p:nvPr/>
        </p:nvSpPr>
        <p:spPr>
          <a:xfrm>
            <a:off x="274320" y="2084832"/>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2</a:t>
            </a:r>
            <a:endParaRPr lang="en-US" sz="1400" dirty="0"/>
          </a:p>
        </p:txBody>
      </p:sp>
      <p:sp>
        <p:nvSpPr>
          <p:cNvPr id="14" name="Text 12"/>
          <p:cNvSpPr/>
          <p:nvPr/>
        </p:nvSpPr>
        <p:spPr>
          <a:xfrm>
            <a:off x="859536" y="2139696"/>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2:</a:t>
            </a:r>
            <a:endParaRPr lang="en-US" sz="1000" dirty="0"/>
          </a:p>
        </p:txBody>
      </p:sp>
      <p:sp>
        <p:nvSpPr>
          <p:cNvPr id="15" name="Text 13"/>
          <p:cNvSpPr/>
          <p:nvPr/>
        </p:nvSpPr>
        <p:spPr>
          <a:xfrm>
            <a:off x="859536" y="2386584"/>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Install and run Slither, Mythril, and Echidna on sample contracts to understand their outputs</a:t>
            </a:r>
            <a:endParaRPr lang="en-US" sz="1000" dirty="0"/>
          </a:p>
        </p:txBody>
      </p:sp>
      <p:sp>
        <p:nvSpPr>
          <p:cNvPr id="16" name="Shape 14"/>
          <p:cNvSpPr/>
          <p:nvPr/>
        </p:nvSpPr>
        <p:spPr>
          <a:xfrm>
            <a:off x="274320" y="2779776"/>
            <a:ext cx="8595360" cy="621792"/>
          </a:xfrm>
          <a:prstGeom prst="rect">
            <a:avLst/>
          </a:prstGeom>
          <a:solidFill>
            <a:srgbClr val="0D0D0D"/>
          </a:solidFill>
          <a:ln w="12700">
            <a:solidFill>
              <a:srgbClr val="CCCCCC"/>
            </a:solidFill>
            <a:prstDash val="solid"/>
          </a:ln>
        </p:spPr>
      </p:sp>
      <p:sp>
        <p:nvSpPr>
          <p:cNvPr id="17" name="Shape 15"/>
          <p:cNvSpPr/>
          <p:nvPr/>
        </p:nvSpPr>
        <p:spPr>
          <a:xfrm>
            <a:off x="274320" y="2779776"/>
            <a:ext cx="502920" cy="621792"/>
          </a:xfrm>
          <a:prstGeom prst="rect">
            <a:avLst/>
          </a:prstGeom>
          <a:solidFill>
            <a:srgbClr val="0D0D0D"/>
          </a:solidFill>
          <a:ln w="12700">
            <a:solidFill>
              <a:srgbClr val="0D0D0D"/>
            </a:solidFill>
            <a:prstDash val="solid"/>
          </a:ln>
        </p:spPr>
      </p:sp>
      <p:sp>
        <p:nvSpPr>
          <p:cNvPr id="18" name="Text 16"/>
          <p:cNvSpPr/>
          <p:nvPr/>
        </p:nvSpPr>
        <p:spPr>
          <a:xfrm>
            <a:off x="274320" y="2779776"/>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3</a:t>
            </a:r>
            <a:endParaRPr lang="en-US" sz="1400" dirty="0"/>
          </a:p>
        </p:txBody>
      </p:sp>
      <p:sp>
        <p:nvSpPr>
          <p:cNvPr id="19" name="Text 17"/>
          <p:cNvSpPr/>
          <p:nvPr/>
        </p:nvSpPr>
        <p:spPr>
          <a:xfrm>
            <a:off x="859536" y="2834640"/>
            <a:ext cx="822960" cy="256032"/>
          </a:xfrm>
          <a:prstGeom prst="rect">
            <a:avLst/>
          </a:prstGeom>
          <a:noFill/>
          <a:ln/>
        </p:spPr>
        <p:txBody>
          <a:bodyPr wrap="square" rtlCol="0" anchor="ctr"/>
          <a:lstStyle/>
          <a:p>
            <a:pPr algn="l" indent="0" marL="0">
              <a:buNone/>
            </a:pPr>
            <a:r>
              <a:rPr lang="en-US" sz="1000" b="1" dirty="0">
                <a:solidFill>
                  <a:srgbClr val="AAAAAA"/>
                </a:solidFill>
                <a:latin typeface="Georgia" pitchFamily="34" charset="0"/>
                <a:ea typeface="Georgia" pitchFamily="34" charset="-122"/>
                <a:cs typeface="Georgia" pitchFamily="34" charset="-120"/>
              </a:rPr>
              <a:t>Step 3:</a:t>
            </a:r>
            <a:endParaRPr lang="en-US" sz="1000" dirty="0"/>
          </a:p>
        </p:txBody>
      </p:sp>
      <p:sp>
        <p:nvSpPr>
          <p:cNvPr id="20" name="Text 18"/>
          <p:cNvSpPr/>
          <p:nvPr/>
        </p:nvSpPr>
        <p:spPr>
          <a:xfrm>
            <a:off x="859536" y="3081528"/>
            <a:ext cx="7936992" cy="274320"/>
          </a:xfrm>
          <a:prstGeom prst="rect">
            <a:avLst/>
          </a:prstGeom>
          <a:noFill/>
          <a:ln/>
        </p:spPr>
        <p:txBody>
          <a:bodyPr wrap="square" rtlCol="0" anchor="t"/>
          <a:lstStyle/>
          <a:p>
            <a:pPr algn="l" indent="0" marL="0">
              <a:buNone/>
            </a:pPr>
            <a:r>
              <a:rPr lang="en-US" sz="1000" dirty="0">
                <a:solidFill>
                  <a:srgbClr val="FFFFFF"/>
                </a:solidFill>
                <a:latin typeface="Calibri" pitchFamily="34" charset="0"/>
                <a:ea typeface="Calibri" pitchFamily="34" charset="-122"/>
                <a:cs typeface="Calibri" pitchFamily="34" charset="-120"/>
              </a:rPr>
              <a:t>Review academic papers: Durieux et al. 2020, Feist et al. 2019, David et al. 2023</a:t>
            </a:r>
            <a:endParaRPr lang="en-US" sz="1000" dirty="0"/>
          </a:p>
        </p:txBody>
      </p:sp>
      <p:sp>
        <p:nvSpPr>
          <p:cNvPr id="21" name="Shape 19"/>
          <p:cNvSpPr/>
          <p:nvPr/>
        </p:nvSpPr>
        <p:spPr>
          <a:xfrm>
            <a:off x="274320" y="3474720"/>
            <a:ext cx="8595360" cy="621792"/>
          </a:xfrm>
          <a:prstGeom prst="rect">
            <a:avLst/>
          </a:prstGeom>
          <a:solidFill>
            <a:srgbClr val="F5F5F5"/>
          </a:solidFill>
          <a:ln w="12700">
            <a:solidFill>
              <a:srgbClr val="CCCCCC"/>
            </a:solidFill>
            <a:prstDash val="solid"/>
          </a:ln>
        </p:spPr>
      </p:sp>
      <p:sp>
        <p:nvSpPr>
          <p:cNvPr id="22" name="Shape 20"/>
          <p:cNvSpPr/>
          <p:nvPr/>
        </p:nvSpPr>
        <p:spPr>
          <a:xfrm>
            <a:off x="274320" y="3474720"/>
            <a:ext cx="502920" cy="621792"/>
          </a:xfrm>
          <a:prstGeom prst="rect">
            <a:avLst/>
          </a:prstGeom>
          <a:solidFill>
            <a:srgbClr val="0D0D0D"/>
          </a:solidFill>
          <a:ln w="12700">
            <a:solidFill>
              <a:srgbClr val="0D0D0D"/>
            </a:solidFill>
            <a:prstDash val="solid"/>
          </a:ln>
        </p:spPr>
      </p:sp>
      <p:sp>
        <p:nvSpPr>
          <p:cNvPr id="23" name="Text 21"/>
          <p:cNvSpPr/>
          <p:nvPr/>
        </p:nvSpPr>
        <p:spPr>
          <a:xfrm>
            <a:off x="274320" y="3474720"/>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4</a:t>
            </a:r>
            <a:endParaRPr lang="en-US" sz="1400" dirty="0"/>
          </a:p>
        </p:txBody>
      </p:sp>
      <p:sp>
        <p:nvSpPr>
          <p:cNvPr id="24" name="Text 22"/>
          <p:cNvSpPr/>
          <p:nvPr/>
        </p:nvSpPr>
        <p:spPr>
          <a:xfrm>
            <a:off x="859536" y="3529584"/>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4:</a:t>
            </a:r>
            <a:endParaRPr lang="en-US" sz="1000" dirty="0"/>
          </a:p>
        </p:txBody>
      </p:sp>
      <p:sp>
        <p:nvSpPr>
          <p:cNvPr id="25" name="Text 23"/>
          <p:cNvSpPr/>
          <p:nvPr/>
        </p:nvSpPr>
        <p:spPr>
          <a:xfrm>
            <a:off x="859536" y="3776472"/>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Document gaps in existing tool outputs — why they are technically accurate but practically inaccessible</a:t>
            </a:r>
            <a:endParaRPr lang="en-US" sz="1000" dirty="0"/>
          </a:p>
        </p:txBody>
      </p:sp>
      <p:sp>
        <p:nvSpPr>
          <p:cNvPr id="26" name="Shape 24"/>
          <p:cNvSpPr/>
          <p:nvPr/>
        </p:nvSpPr>
        <p:spPr>
          <a:xfrm>
            <a:off x="274320" y="4169664"/>
            <a:ext cx="8595360" cy="621792"/>
          </a:xfrm>
          <a:prstGeom prst="rect">
            <a:avLst/>
          </a:prstGeom>
          <a:solidFill>
            <a:srgbClr val="F5F5F5"/>
          </a:solidFill>
          <a:ln w="12700">
            <a:solidFill>
              <a:srgbClr val="CCCCCC"/>
            </a:solidFill>
            <a:prstDash val="solid"/>
          </a:ln>
        </p:spPr>
      </p:sp>
      <p:sp>
        <p:nvSpPr>
          <p:cNvPr id="27" name="Shape 25"/>
          <p:cNvSpPr/>
          <p:nvPr/>
        </p:nvSpPr>
        <p:spPr>
          <a:xfrm>
            <a:off x="274320" y="4169664"/>
            <a:ext cx="502920" cy="621792"/>
          </a:xfrm>
          <a:prstGeom prst="rect">
            <a:avLst/>
          </a:prstGeom>
          <a:solidFill>
            <a:srgbClr val="0D0D0D"/>
          </a:solidFill>
          <a:ln w="12700">
            <a:solidFill>
              <a:srgbClr val="0D0D0D"/>
            </a:solidFill>
            <a:prstDash val="solid"/>
          </a:ln>
        </p:spPr>
      </p:sp>
      <p:sp>
        <p:nvSpPr>
          <p:cNvPr id="28" name="Text 26"/>
          <p:cNvSpPr/>
          <p:nvPr/>
        </p:nvSpPr>
        <p:spPr>
          <a:xfrm>
            <a:off x="274320" y="4169664"/>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5</a:t>
            </a:r>
            <a:endParaRPr lang="en-US" sz="1400" dirty="0"/>
          </a:p>
        </p:txBody>
      </p:sp>
      <p:sp>
        <p:nvSpPr>
          <p:cNvPr id="29" name="Text 27"/>
          <p:cNvSpPr/>
          <p:nvPr/>
        </p:nvSpPr>
        <p:spPr>
          <a:xfrm>
            <a:off x="859536" y="4224528"/>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5:</a:t>
            </a:r>
            <a:endParaRPr lang="en-US" sz="1000" dirty="0"/>
          </a:p>
        </p:txBody>
      </p:sp>
      <p:sp>
        <p:nvSpPr>
          <p:cNvPr id="30" name="Text 28"/>
          <p:cNvSpPr/>
          <p:nvPr/>
        </p:nvSpPr>
        <p:spPr>
          <a:xfrm>
            <a:off x="859536" y="4471416"/>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Produce a literature synthesis table linking each paper to a specific AuditAI design decision</a:t>
            </a:r>
            <a:endParaRPr lang="en-US" sz="1000" dirty="0"/>
          </a:p>
        </p:txBody>
      </p:sp>
      <p:sp>
        <p:nvSpPr>
          <p:cNvPr id="31" name="Shape 29"/>
          <p:cNvSpPr/>
          <p:nvPr/>
        </p:nvSpPr>
        <p:spPr>
          <a:xfrm>
            <a:off x="274320" y="4864608"/>
            <a:ext cx="8595360" cy="384048"/>
          </a:xfrm>
          <a:prstGeom prst="rect">
            <a:avLst/>
          </a:prstGeom>
          <a:solidFill>
            <a:srgbClr val="0D0D0D"/>
          </a:solidFill>
          <a:ln w="12700">
            <a:solidFill>
              <a:srgbClr val="0D0D0D"/>
            </a:solidFill>
            <a:prstDash val="solid"/>
          </a:ln>
        </p:spPr>
      </p:sp>
      <p:sp>
        <p:nvSpPr>
          <p:cNvPr id="32" name="Text 30"/>
          <p:cNvSpPr/>
          <p:nvPr/>
        </p:nvSpPr>
        <p:spPr>
          <a:xfrm>
            <a:off x="411480" y="4882896"/>
            <a:ext cx="8321040" cy="347472"/>
          </a:xfrm>
          <a:prstGeom prst="rect">
            <a:avLst/>
          </a:prstGeom>
          <a:noFill/>
          <a:ln/>
        </p:spPr>
        <p:txBody>
          <a:bodyPr wrap="square" rtlCol="0" anchor="ctr"/>
          <a:lstStyle/>
          <a:p>
            <a:pPr algn="l" indent="0" marL="0">
              <a:buNone/>
            </a:pPr>
            <a:r>
              <a:rPr lang="en-US" sz="1050" b="1" dirty="0">
                <a:solidFill>
                  <a:srgbClr val="FFFFFF"/>
                </a:solidFill>
                <a:latin typeface="Georgia" pitchFamily="34" charset="0"/>
                <a:ea typeface="Georgia" pitchFamily="34" charset="-122"/>
                <a:cs typeface="Georgia" pitchFamily="34" charset="-120"/>
              </a:rPr>
              <a:t>Deliverable: Literature synthesis table + justified design decisions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1A1A"/>
          </a:solidFill>
          <a:ln w="12700">
            <a:solidFill>
              <a:srgbClr val="1A1A1A"/>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OBJECTIVE 02 — Design the Five-Layer Pipeline Architecture</a:t>
            </a:r>
            <a:endParaRPr lang="en-US" sz="1500" dirty="0"/>
          </a:p>
        </p:txBody>
      </p:sp>
      <p:sp>
        <p:nvSpPr>
          <p:cNvPr id="4" name="Shape 2"/>
          <p:cNvSpPr/>
          <p:nvPr/>
        </p:nvSpPr>
        <p:spPr>
          <a:xfrm>
            <a:off x="274320" y="777240"/>
            <a:ext cx="8595360" cy="502920"/>
          </a:xfrm>
          <a:prstGeom prst="rect">
            <a:avLst/>
          </a:prstGeom>
          <a:solidFill>
            <a:srgbClr val="1A1A1A"/>
          </a:solidFill>
          <a:ln w="12700">
            <a:solidFill>
              <a:srgbClr val="444444"/>
            </a:solidFill>
            <a:prstDash val="solid"/>
          </a:ln>
        </p:spPr>
      </p:sp>
      <p:sp>
        <p:nvSpPr>
          <p:cNvPr id="5" name="Text 3"/>
          <p:cNvSpPr/>
          <p:nvPr/>
        </p:nvSpPr>
        <p:spPr>
          <a:xfrm>
            <a:off x="411480" y="795528"/>
            <a:ext cx="8321040" cy="466344"/>
          </a:xfrm>
          <a:prstGeom prst="rect">
            <a:avLst/>
          </a:prstGeom>
          <a:noFill/>
          <a:ln/>
        </p:spPr>
        <p:txBody>
          <a:bodyPr wrap="square" rtlCol="0" anchor="ctr"/>
          <a:lstStyle/>
          <a:p>
            <a:pPr algn="l" indent="0" marL="0">
              <a:buNone/>
            </a:pPr>
            <a:r>
              <a:rPr lang="en-US" sz="1050" b="1" dirty="0">
                <a:solidFill>
                  <a:srgbClr val="AAAAAA"/>
                </a:solidFill>
                <a:latin typeface="Georgia" pitchFamily="34" charset="0"/>
                <a:ea typeface="Georgia" pitchFamily="34" charset="-122"/>
                <a:cs typeface="Georgia" pitchFamily="34" charset="-120"/>
              </a:rPr>
              <a:t>Purpose: To produce a complete technical specification before a single line of code is written.</a:t>
            </a:r>
            <a:endParaRPr lang="en-US" sz="1050" dirty="0"/>
          </a:p>
        </p:txBody>
      </p:sp>
      <p:sp>
        <p:nvSpPr>
          <p:cNvPr id="6" name="Shape 4"/>
          <p:cNvSpPr/>
          <p:nvPr/>
        </p:nvSpPr>
        <p:spPr>
          <a:xfrm>
            <a:off x="274320" y="1389888"/>
            <a:ext cx="8595360" cy="621792"/>
          </a:xfrm>
          <a:prstGeom prst="rect">
            <a:avLst/>
          </a:prstGeom>
          <a:solidFill>
            <a:srgbClr val="111111"/>
          </a:solidFill>
          <a:ln w="12700">
            <a:solidFill>
              <a:srgbClr val="333333"/>
            </a:solidFill>
            <a:prstDash val="solid"/>
          </a:ln>
        </p:spPr>
      </p:sp>
      <p:sp>
        <p:nvSpPr>
          <p:cNvPr id="7" name="Shape 5"/>
          <p:cNvSpPr/>
          <p:nvPr/>
        </p:nvSpPr>
        <p:spPr>
          <a:xfrm>
            <a:off x="274320" y="1389888"/>
            <a:ext cx="502920" cy="621792"/>
          </a:xfrm>
          <a:prstGeom prst="rect">
            <a:avLst/>
          </a:prstGeom>
          <a:solidFill>
            <a:srgbClr val="0D0D0D"/>
          </a:solidFill>
          <a:ln w="12700">
            <a:solidFill>
              <a:srgbClr val="0D0D0D"/>
            </a:solidFill>
            <a:prstDash val="solid"/>
          </a:ln>
        </p:spPr>
      </p:sp>
      <p:sp>
        <p:nvSpPr>
          <p:cNvPr id="8" name="Text 6"/>
          <p:cNvSpPr/>
          <p:nvPr/>
        </p:nvSpPr>
        <p:spPr>
          <a:xfrm>
            <a:off x="274320" y="1389888"/>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859536" y="1444752"/>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1:</a:t>
            </a:r>
            <a:endParaRPr lang="en-US" sz="1000" dirty="0"/>
          </a:p>
        </p:txBody>
      </p:sp>
      <p:sp>
        <p:nvSpPr>
          <p:cNvPr id="10" name="Text 8"/>
          <p:cNvSpPr/>
          <p:nvPr/>
        </p:nvSpPr>
        <p:spPr>
          <a:xfrm>
            <a:off x="859536" y="1691640"/>
            <a:ext cx="7936992" cy="274320"/>
          </a:xfrm>
          <a:prstGeom prst="rect">
            <a:avLst/>
          </a:prstGeom>
          <a:noFill/>
          <a:ln/>
        </p:spPr>
        <p:txBody>
          <a:bodyPr wrap="square" rtlCol="0" anchor="t"/>
          <a:lstStyle/>
          <a:p>
            <a:pPr algn="l" indent="0" marL="0">
              <a:buNone/>
            </a:pPr>
            <a:r>
              <a:rPr lang="en-US" sz="1000" dirty="0">
                <a:solidFill>
                  <a:srgbClr val="CCCCCC"/>
                </a:solidFill>
                <a:latin typeface="Calibri" pitchFamily="34" charset="0"/>
                <a:ea typeface="Calibri" pitchFamily="34" charset="-122"/>
                <a:cs typeface="Calibri" pitchFamily="34" charset="-120"/>
              </a:rPr>
              <a:t>Define the five pipeline layers: upload, analysis, extraction, reasoning, output</a:t>
            </a:r>
            <a:endParaRPr lang="en-US" sz="1000" dirty="0"/>
          </a:p>
        </p:txBody>
      </p:sp>
      <p:sp>
        <p:nvSpPr>
          <p:cNvPr id="11" name="Shape 9"/>
          <p:cNvSpPr/>
          <p:nvPr/>
        </p:nvSpPr>
        <p:spPr>
          <a:xfrm>
            <a:off x="274320" y="2084832"/>
            <a:ext cx="8595360" cy="621792"/>
          </a:xfrm>
          <a:prstGeom prst="rect">
            <a:avLst/>
          </a:prstGeom>
          <a:solidFill>
            <a:srgbClr val="111111"/>
          </a:solidFill>
          <a:ln w="12700">
            <a:solidFill>
              <a:srgbClr val="333333"/>
            </a:solidFill>
            <a:prstDash val="solid"/>
          </a:ln>
        </p:spPr>
      </p:sp>
      <p:sp>
        <p:nvSpPr>
          <p:cNvPr id="12" name="Shape 10"/>
          <p:cNvSpPr/>
          <p:nvPr/>
        </p:nvSpPr>
        <p:spPr>
          <a:xfrm>
            <a:off x="274320" y="2084832"/>
            <a:ext cx="502920" cy="621792"/>
          </a:xfrm>
          <a:prstGeom prst="rect">
            <a:avLst/>
          </a:prstGeom>
          <a:solidFill>
            <a:srgbClr val="0D0D0D"/>
          </a:solidFill>
          <a:ln w="12700">
            <a:solidFill>
              <a:srgbClr val="0D0D0D"/>
            </a:solidFill>
            <a:prstDash val="solid"/>
          </a:ln>
        </p:spPr>
      </p:sp>
      <p:sp>
        <p:nvSpPr>
          <p:cNvPr id="13" name="Text 11"/>
          <p:cNvSpPr/>
          <p:nvPr/>
        </p:nvSpPr>
        <p:spPr>
          <a:xfrm>
            <a:off x="274320" y="2084832"/>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2</a:t>
            </a:r>
            <a:endParaRPr lang="en-US" sz="1400" dirty="0"/>
          </a:p>
        </p:txBody>
      </p:sp>
      <p:sp>
        <p:nvSpPr>
          <p:cNvPr id="14" name="Text 12"/>
          <p:cNvSpPr/>
          <p:nvPr/>
        </p:nvSpPr>
        <p:spPr>
          <a:xfrm>
            <a:off x="859536" y="2139696"/>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2:</a:t>
            </a:r>
            <a:endParaRPr lang="en-US" sz="1000" dirty="0"/>
          </a:p>
        </p:txBody>
      </p:sp>
      <p:sp>
        <p:nvSpPr>
          <p:cNvPr id="15" name="Text 13"/>
          <p:cNvSpPr/>
          <p:nvPr/>
        </p:nvSpPr>
        <p:spPr>
          <a:xfrm>
            <a:off x="859536" y="2386584"/>
            <a:ext cx="7936992" cy="274320"/>
          </a:xfrm>
          <a:prstGeom prst="rect">
            <a:avLst/>
          </a:prstGeom>
          <a:noFill/>
          <a:ln/>
        </p:spPr>
        <p:txBody>
          <a:bodyPr wrap="square" rtlCol="0" anchor="t"/>
          <a:lstStyle/>
          <a:p>
            <a:pPr algn="l" indent="0" marL="0">
              <a:buNone/>
            </a:pPr>
            <a:r>
              <a:rPr lang="en-US" sz="1000" dirty="0">
                <a:solidFill>
                  <a:srgbClr val="CCCCCC"/>
                </a:solidFill>
                <a:latin typeface="Calibri" pitchFamily="34" charset="0"/>
                <a:ea typeface="Calibri" pitchFamily="34" charset="-122"/>
                <a:cs typeface="Calibri" pitchFamily="34" charset="-120"/>
              </a:rPr>
              <a:t>Design the API contract between each layer — data formats, error handling, confidence thresholds</a:t>
            </a:r>
            <a:endParaRPr lang="en-US" sz="1000" dirty="0"/>
          </a:p>
        </p:txBody>
      </p:sp>
      <p:sp>
        <p:nvSpPr>
          <p:cNvPr id="16" name="Shape 14"/>
          <p:cNvSpPr/>
          <p:nvPr/>
        </p:nvSpPr>
        <p:spPr>
          <a:xfrm>
            <a:off x="274320" y="2779776"/>
            <a:ext cx="8595360" cy="621792"/>
          </a:xfrm>
          <a:prstGeom prst="rect">
            <a:avLst/>
          </a:prstGeom>
          <a:solidFill>
            <a:srgbClr val="FFFFFF"/>
          </a:solidFill>
          <a:ln w="12700">
            <a:solidFill>
              <a:srgbClr val="333333"/>
            </a:solidFill>
            <a:prstDash val="solid"/>
          </a:ln>
        </p:spPr>
      </p:sp>
      <p:sp>
        <p:nvSpPr>
          <p:cNvPr id="17" name="Shape 15"/>
          <p:cNvSpPr/>
          <p:nvPr/>
        </p:nvSpPr>
        <p:spPr>
          <a:xfrm>
            <a:off x="274320" y="2779776"/>
            <a:ext cx="502920" cy="621792"/>
          </a:xfrm>
          <a:prstGeom prst="rect">
            <a:avLst/>
          </a:prstGeom>
          <a:solidFill>
            <a:srgbClr val="0D0D0D"/>
          </a:solidFill>
          <a:ln w="12700">
            <a:solidFill>
              <a:srgbClr val="0D0D0D"/>
            </a:solidFill>
            <a:prstDash val="solid"/>
          </a:ln>
        </p:spPr>
      </p:sp>
      <p:sp>
        <p:nvSpPr>
          <p:cNvPr id="18" name="Text 16"/>
          <p:cNvSpPr/>
          <p:nvPr/>
        </p:nvSpPr>
        <p:spPr>
          <a:xfrm>
            <a:off x="274320" y="2779776"/>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3</a:t>
            </a:r>
            <a:endParaRPr lang="en-US" sz="1400" dirty="0"/>
          </a:p>
        </p:txBody>
      </p:sp>
      <p:sp>
        <p:nvSpPr>
          <p:cNvPr id="19" name="Text 17"/>
          <p:cNvSpPr/>
          <p:nvPr/>
        </p:nvSpPr>
        <p:spPr>
          <a:xfrm>
            <a:off x="859536" y="2834640"/>
            <a:ext cx="822960" cy="256032"/>
          </a:xfrm>
          <a:prstGeom prst="rect">
            <a:avLst/>
          </a:prstGeom>
          <a:noFill/>
          <a:ln/>
        </p:spPr>
        <p:txBody>
          <a:bodyPr wrap="square" rtlCol="0" anchor="ctr"/>
          <a:lstStyle/>
          <a:p>
            <a:pPr algn="l" indent="0" marL="0">
              <a:buNone/>
            </a:pPr>
            <a:r>
              <a:rPr lang="en-US" sz="1000" b="1" dirty="0">
                <a:solidFill>
                  <a:srgbClr val="333333"/>
                </a:solidFill>
                <a:latin typeface="Georgia" pitchFamily="34" charset="0"/>
                <a:ea typeface="Georgia" pitchFamily="34" charset="-122"/>
                <a:cs typeface="Georgia" pitchFamily="34" charset="-120"/>
              </a:rPr>
              <a:t>Step 3:</a:t>
            </a:r>
            <a:endParaRPr lang="en-US" sz="1000" dirty="0"/>
          </a:p>
        </p:txBody>
      </p:sp>
      <p:sp>
        <p:nvSpPr>
          <p:cNvPr id="20" name="Text 18"/>
          <p:cNvSpPr/>
          <p:nvPr/>
        </p:nvSpPr>
        <p:spPr>
          <a:xfrm>
            <a:off x="859536" y="3081528"/>
            <a:ext cx="7936992" cy="274320"/>
          </a:xfrm>
          <a:prstGeom prst="rect">
            <a:avLst/>
          </a:prstGeom>
          <a:noFill/>
          <a:ln/>
        </p:spPr>
        <p:txBody>
          <a:bodyPr wrap="square" rtlCol="0" anchor="t"/>
          <a:lstStyle/>
          <a:p>
            <a:pPr algn="l" indent="0" marL="0">
              <a:buNone/>
            </a:pPr>
            <a:r>
              <a:rPr lang="en-US" sz="1000" dirty="0">
                <a:solidFill>
                  <a:srgbClr val="0D0D0D"/>
                </a:solidFill>
                <a:latin typeface="Calibri" pitchFamily="34" charset="0"/>
                <a:ea typeface="Calibri" pitchFamily="34" charset="-122"/>
                <a:cs typeface="Calibri" pitchFamily="34" charset="-120"/>
              </a:rPr>
              <a:t>Design the prompt engineering strategy for Claude claude-sonnet-4-5 — role, structure, chain-of-thought</a:t>
            </a:r>
            <a:endParaRPr lang="en-US" sz="1000" dirty="0"/>
          </a:p>
        </p:txBody>
      </p:sp>
      <p:sp>
        <p:nvSpPr>
          <p:cNvPr id="21" name="Shape 19"/>
          <p:cNvSpPr/>
          <p:nvPr/>
        </p:nvSpPr>
        <p:spPr>
          <a:xfrm>
            <a:off x="274320" y="3474720"/>
            <a:ext cx="8595360" cy="621792"/>
          </a:xfrm>
          <a:prstGeom prst="rect">
            <a:avLst/>
          </a:prstGeom>
          <a:solidFill>
            <a:srgbClr val="111111"/>
          </a:solidFill>
          <a:ln w="12700">
            <a:solidFill>
              <a:srgbClr val="333333"/>
            </a:solidFill>
            <a:prstDash val="solid"/>
          </a:ln>
        </p:spPr>
      </p:sp>
      <p:sp>
        <p:nvSpPr>
          <p:cNvPr id="22" name="Shape 20"/>
          <p:cNvSpPr/>
          <p:nvPr/>
        </p:nvSpPr>
        <p:spPr>
          <a:xfrm>
            <a:off x="274320" y="3474720"/>
            <a:ext cx="502920" cy="621792"/>
          </a:xfrm>
          <a:prstGeom prst="rect">
            <a:avLst/>
          </a:prstGeom>
          <a:solidFill>
            <a:srgbClr val="0D0D0D"/>
          </a:solidFill>
          <a:ln w="12700">
            <a:solidFill>
              <a:srgbClr val="0D0D0D"/>
            </a:solidFill>
            <a:prstDash val="solid"/>
          </a:ln>
        </p:spPr>
      </p:sp>
      <p:sp>
        <p:nvSpPr>
          <p:cNvPr id="23" name="Text 21"/>
          <p:cNvSpPr/>
          <p:nvPr/>
        </p:nvSpPr>
        <p:spPr>
          <a:xfrm>
            <a:off x="274320" y="3474720"/>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4</a:t>
            </a:r>
            <a:endParaRPr lang="en-US" sz="1400" dirty="0"/>
          </a:p>
        </p:txBody>
      </p:sp>
      <p:sp>
        <p:nvSpPr>
          <p:cNvPr id="24" name="Text 22"/>
          <p:cNvSpPr/>
          <p:nvPr/>
        </p:nvSpPr>
        <p:spPr>
          <a:xfrm>
            <a:off x="859536" y="3529584"/>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4:</a:t>
            </a:r>
            <a:endParaRPr lang="en-US" sz="1000" dirty="0"/>
          </a:p>
        </p:txBody>
      </p:sp>
      <p:sp>
        <p:nvSpPr>
          <p:cNvPr id="25" name="Text 23"/>
          <p:cNvSpPr/>
          <p:nvPr/>
        </p:nvSpPr>
        <p:spPr>
          <a:xfrm>
            <a:off x="859536" y="3776472"/>
            <a:ext cx="7936992" cy="274320"/>
          </a:xfrm>
          <a:prstGeom prst="rect">
            <a:avLst/>
          </a:prstGeom>
          <a:noFill/>
          <a:ln/>
        </p:spPr>
        <p:txBody>
          <a:bodyPr wrap="square" rtlCol="0" anchor="t"/>
          <a:lstStyle/>
          <a:p>
            <a:pPr algn="l" indent="0" marL="0">
              <a:buNone/>
            </a:pPr>
            <a:r>
              <a:rPr lang="en-US" sz="1000" dirty="0">
                <a:solidFill>
                  <a:srgbClr val="CCCCCC"/>
                </a:solidFill>
                <a:latin typeface="Calibri" pitchFamily="34" charset="0"/>
                <a:ea typeface="Calibri" pitchFamily="34" charset="-122"/>
                <a:cs typeface="Calibri" pitchFamily="34" charset="-120"/>
              </a:rPr>
              <a:t>Produce system architecture diagrams showing data flow from .sol file to PDF report</a:t>
            </a:r>
            <a:endParaRPr lang="en-US" sz="1000" dirty="0"/>
          </a:p>
        </p:txBody>
      </p:sp>
      <p:sp>
        <p:nvSpPr>
          <p:cNvPr id="26" name="Shape 24"/>
          <p:cNvSpPr/>
          <p:nvPr/>
        </p:nvSpPr>
        <p:spPr>
          <a:xfrm>
            <a:off x="274320" y="4169664"/>
            <a:ext cx="8595360" cy="621792"/>
          </a:xfrm>
          <a:prstGeom prst="rect">
            <a:avLst/>
          </a:prstGeom>
          <a:solidFill>
            <a:srgbClr val="111111"/>
          </a:solidFill>
          <a:ln w="12700">
            <a:solidFill>
              <a:srgbClr val="333333"/>
            </a:solidFill>
            <a:prstDash val="solid"/>
          </a:ln>
        </p:spPr>
      </p:sp>
      <p:sp>
        <p:nvSpPr>
          <p:cNvPr id="27" name="Shape 25"/>
          <p:cNvSpPr/>
          <p:nvPr/>
        </p:nvSpPr>
        <p:spPr>
          <a:xfrm>
            <a:off x="274320" y="4169664"/>
            <a:ext cx="502920" cy="621792"/>
          </a:xfrm>
          <a:prstGeom prst="rect">
            <a:avLst/>
          </a:prstGeom>
          <a:solidFill>
            <a:srgbClr val="0D0D0D"/>
          </a:solidFill>
          <a:ln w="12700">
            <a:solidFill>
              <a:srgbClr val="0D0D0D"/>
            </a:solidFill>
            <a:prstDash val="solid"/>
          </a:ln>
        </p:spPr>
      </p:sp>
      <p:sp>
        <p:nvSpPr>
          <p:cNvPr id="28" name="Text 26"/>
          <p:cNvSpPr/>
          <p:nvPr/>
        </p:nvSpPr>
        <p:spPr>
          <a:xfrm>
            <a:off x="274320" y="4169664"/>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5</a:t>
            </a:r>
            <a:endParaRPr lang="en-US" sz="1400" dirty="0"/>
          </a:p>
        </p:txBody>
      </p:sp>
      <p:sp>
        <p:nvSpPr>
          <p:cNvPr id="29" name="Text 27"/>
          <p:cNvSpPr/>
          <p:nvPr/>
        </p:nvSpPr>
        <p:spPr>
          <a:xfrm>
            <a:off x="859536" y="4224528"/>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5:</a:t>
            </a:r>
            <a:endParaRPr lang="en-US" sz="1000" dirty="0"/>
          </a:p>
        </p:txBody>
      </p:sp>
      <p:sp>
        <p:nvSpPr>
          <p:cNvPr id="30" name="Text 28"/>
          <p:cNvSpPr/>
          <p:nvPr/>
        </p:nvSpPr>
        <p:spPr>
          <a:xfrm>
            <a:off x="859536" y="4471416"/>
            <a:ext cx="7936992" cy="274320"/>
          </a:xfrm>
          <a:prstGeom prst="rect">
            <a:avLst/>
          </a:prstGeom>
          <a:noFill/>
          <a:ln/>
        </p:spPr>
        <p:txBody>
          <a:bodyPr wrap="square" rtlCol="0" anchor="t"/>
          <a:lstStyle/>
          <a:p>
            <a:pPr algn="l" indent="0" marL="0">
              <a:buNone/>
            </a:pPr>
            <a:r>
              <a:rPr lang="en-US" sz="1000" dirty="0">
                <a:solidFill>
                  <a:srgbClr val="CCCCCC"/>
                </a:solidFill>
                <a:latin typeface="Calibri" pitchFamily="34" charset="0"/>
                <a:ea typeface="Calibri" pitchFamily="34" charset="-122"/>
                <a:cs typeface="Calibri" pitchFamily="34" charset="-120"/>
              </a:rPr>
              <a:t>Review design with supervisor and refine before implementation begins</a:t>
            </a:r>
            <a:endParaRPr lang="en-US" sz="1000" dirty="0"/>
          </a:p>
        </p:txBody>
      </p:sp>
      <p:sp>
        <p:nvSpPr>
          <p:cNvPr id="31" name="Shape 29"/>
          <p:cNvSpPr/>
          <p:nvPr/>
        </p:nvSpPr>
        <p:spPr>
          <a:xfrm>
            <a:off x="274320" y="4864608"/>
            <a:ext cx="8595360" cy="384048"/>
          </a:xfrm>
          <a:prstGeom prst="rect">
            <a:avLst/>
          </a:prstGeom>
          <a:solidFill>
            <a:srgbClr val="FFFFFF"/>
          </a:solidFill>
          <a:ln w="12700">
            <a:solidFill>
              <a:srgbClr val="0D0D0D"/>
            </a:solidFill>
            <a:prstDash val="solid"/>
          </a:ln>
        </p:spPr>
      </p:sp>
      <p:sp>
        <p:nvSpPr>
          <p:cNvPr id="32" name="Text 30"/>
          <p:cNvSpPr/>
          <p:nvPr/>
        </p:nvSpPr>
        <p:spPr>
          <a:xfrm>
            <a:off x="411480" y="4882896"/>
            <a:ext cx="8321040" cy="347472"/>
          </a:xfrm>
          <a:prstGeom prst="rect">
            <a:avLst/>
          </a:prstGeom>
          <a:noFill/>
          <a:ln/>
        </p:spPr>
        <p:txBody>
          <a:bodyPr wrap="square" rtlCol="0" anchor="ctr"/>
          <a:lstStyle/>
          <a:p>
            <a:pPr algn="l" indent="0" marL="0">
              <a:buNone/>
            </a:pPr>
            <a:r>
              <a:rPr lang="en-US" sz="1050" b="1" dirty="0">
                <a:solidFill>
                  <a:srgbClr val="0D0D0D"/>
                </a:solidFill>
                <a:latin typeface="Georgia" pitchFamily="34" charset="0"/>
                <a:ea typeface="Georgia" pitchFamily="34" charset="-122"/>
                <a:cs typeface="Georgia" pitchFamily="34" charset="-120"/>
              </a:rPr>
              <a:t>Deliverable: Complete system architecture specification + prompt design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OBJECTIVE 03 — Implement a Functional Prototype System</a:t>
            </a:r>
            <a:endParaRPr lang="en-US" sz="1500" dirty="0"/>
          </a:p>
        </p:txBody>
      </p:sp>
      <p:sp>
        <p:nvSpPr>
          <p:cNvPr id="4" name="Shape 2"/>
          <p:cNvSpPr/>
          <p:nvPr/>
        </p:nvSpPr>
        <p:spPr>
          <a:xfrm>
            <a:off x="274320" y="777240"/>
            <a:ext cx="8595360" cy="502920"/>
          </a:xfrm>
          <a:prstGeom prst="rect">
            <a:avLst/>
          </a:prstGeom>
          <a:solidFill>
            <a:srgbClr val="F0F0F0"/>
          </a:solidFill>
          <a:ln w="12700">
            <a:solidFill>
              <a:srgbClr val="CCCCCC"/>
            </a:solidFill>
            <a:prstDash val="solid"/>
          </a:ln>
        </p:spPr>
      </p:sp>
      <p:sp>
        <p:nvSpPr>
          <p:cNvPr id="5" name="Text 3"/>
          <p:cNvSpPr/>
          <p:nvPr/>
        </p:nvSpPr>
        <p:spPr>
          <a:xfrm>
            <a:off x="411480" y="795528"/>
            <a:ext cx="8321040" cy="466344"/>
          </a:xfrm>
          <a:prstGeom prst="rect">
            <a:avLst/>
          </a:prstGeom>
          <a:noFill/>
          <a:ln/>
        </p:spPr>
        <p:txBody>
          <a:bodyPr wrap="square" rtlCol="0" anchor="ctr"/>
          <a:lstStyle/>
          <a:p>
            <a:pPr algn="l" indent="0" marL="0">
              <a:buNone/>
            </a:pPr>
            <a:r>
              <a:rPr lang="en-US" sz="1050" b="1" dirty="0">
                <a:solidFill>
                  <a:srgbClr val="444444"/>
                </a:solidFill>
                <a:latin typeface="Georgia" pitchFamily="34" charset="0"/>
                <a:ea typeface="Georgia" pitchFamily="34" charset="-122"/>
                <a:cs typeface="Georgia" pitchFamily="34" charset="-120"/>
              </a:rPr>
              <a:t>Purpose: To produce a working end-to-end system that can be demonstrated and evaluated.</a:t>
            </a:r>
            <a:endParaRPr lang="en-US" sz="1050" dirty="0"/>
          </a:p>
        </p:txBody>
      </p:sp>
      <p:sp>
        <p:nvSpPr>
          <p:cNvPr id="6" name="Shape 4"/>
          <p:cNvSpPr/>
          <p:nvPr/>
        </p:nvSpPr>
        <p:spPr>
          <a:xfrm>
            <a:off x="274320" y="1389888"/>
            <a:ext cx="8595360" cy="621792"/>
          </a:xfrm>
          <a:prstGeom prst="rect">
            <a:avLst/>
          </a:prstGeom>
          <a:solidFill>
            <a:srgbClr val="F5F5F5"/>
          </a:solidFill>
          <a:ln w="12700">
            <a:solidFill>
              <a:srgbClr val="CCCCCC"/>
            </a:solidFill>
            <a:prstDash val="solid"/>
          </a:ln>
        </p:spPr>
      </p:sp>
      <p:sp>
        <p:nvSpPr>
          <p:cNvPr id="7" name="Shape 5"/>
          <p:cNvSpPr/>
          <p:nvPr/>
        </p:nvSpPr>
        <p:spPr>
          <a:xfrm>
            <a:off x="274320" y="1389888"/>
            <a:ext cx="502920" cy="621792"/>
          </a:xfrm>
          <a:prstGeom prst="rect">
            <a:avLst/>
          </a:prstGeom>
          <a:solidFill>
            <a:srgbClr val="0D0D0D"/>
          </a:solidFill>
          <a:ln w="12700">
            <a:solidFill>
              <a:srgbClr val="0D0D0D"/>
            </a:solidFill>
            <a:prstDash val="solid"/>
          </a:ln>
        </p:spPr>
      </p:sp>
      <p:sp>
        <p:nvSpPr>
          <p:cNvPr id="8" name="Text 6"/>
          <p:cNvSpPr/>
          <p:nvPr/>
        </p:nvSpPr>
        <p:spPr>
          <a:xfrm>
            <a:off x="274320" y="1389888"/>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859536" y="1444752"/>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1:</a:t>
            </a:r>
            <a:endParaRPr lang="en-US" sz="1000" dirty="0"/>
          </a:p>
        </p:txBody>
      </p:sp>
      <p:sp>
        <p:nvSpPr>
          <p:cNvPr id="10" name="Text 8"/>
          <p:cNvSpPr/>
          <p:nvPr/>
        </p:nvSpPr>
        <p:spPr>
          <a:xfrm>
            <a:off x="859536" y="1691640"/>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Build FastAPI backend — /analyze and /full-audit endpoints with file upload handling</a:t>
            </a:r>
            <a:endParaRPr lang="en-US" sz="1000" dirty="0"/>
          </a:p>
        </p:txBody>
      </p:sp>
      <p:sp>
        <p:nvSpPr>
          <p:cNvPr id="11" name="Shape 9"/>
          <p:cNvSpPr/>
          <p:nvPr/>
        </p:nvSpPr>
        <p:spPr>
          <a:xfrm>
            <a:off x="274320" y="2084832"/>
            <a:ext cx="8595360" cy="621792"/>
          </a:xfrm>
          <a:prstGeom prst="rect">
            <a:avLst/>
          </a:prstGeom>
          <a:solidFill>
            <a:srgbClr val="F5F5F5"/>
          </a:solidFill>
          <a:ln w="12700">
            <a:solidFill>
              <a:srgbClr val="CCCCCC"/>
            </a:solidFill>
            <a:prstDash val="solid"/>
          </a:ln>
        </p:spPr>
      </p:sp>
      <p:sp>
        <p:nvSpPr>
          <p:cNvPr id="12" name="Shape 10"/>
          <p:cNvSpPr/>
          <p:nvPr/>
        </p:nvSpPr>
        <p:spPr>
          <a:xfrm>
            <a:off x="274320" y="2084832"/>
            <a:ext cx="502920" cy="621792"/>
          </a:xfrm>
          <a:prstGeom prst="rect">
            <a:avLst/>
          </a:prstGeom>
          <a:solidFill>
            <a:srgbClr val="0D0D0D"/>
          </a:solidFill>
          <a:ln w="12700">
            <a:solidFill>
              <a:srgbClr val="0D0D0D"/>
            </a:solidFill>
            <a:prstDash val="solid"/>
          </a:ln>
        </p:spPr>
      </p:sp>
      <p:sp>
        <p:nvSpPr>
          <p:cNvPr id="13" name="Text 11"/>
          <p:cNvSpPr/>
          <p:nvPr/>
        </p:nvSpPr>
        <p:spPr>
          <a:xfrm>
            <a:off x="274320" y="2084832"/>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2</a:t>
            </a:r>
            <a:endParaRPr lang="en-US" sz="1400" dirty="0"/>
          </a:p>
        </p:txBody>
      </p:sp>
      <p:sp>
        <p:nvSpPr>
          <p:cNvPr id="14" name="Text 12"/>
          <p:cNvSpPr/>
          <p:nvPr/>
        </p:nvSpPr>
        <p:spPr>
          <a:xfrm>
            <a:off x="859536" y="2139696"/>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2:</a:t>
            </a:r>
            <a:endParaRPr lang="en-US" sz="1000" dirty="0"/>
          </a:p>
        </p:txBody>
      </p:sp>
      <p:sp>
        <p:nvSpPr>
          <p:cNvPr id="15" name="Text 13"/>
          <p:cNvSpPr/>
          <p:nvPr/>
        </p:nvSpPr>
        <p:spPr>
          <a:xfrm>
            <a:off x="859536" y="2386584"/>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Integrate Slither via Python subprocess — capture JSON output, filter by confidence level</a:t>
            </a:r>
            <a:endParaRPr lang="en-US" sz="1000" dirty="0"/>
          </a:p>
        </p:txBody>
      </p:sp>
      <p:sp>
        <p:nvSpPr>
          <p:cNvPr id="16" name="Shape 14"/>
          <p:cNvSpPr/>
          <p:nvPr/>
        </p:nvSpPr>
        <p:spPr>
          <a:xfrm>
            <a:off x="274320" y="2779776"/>
            <a:ext cx="8595360" cy="621792"/>
          </a:xfrm>
          <a:prstGeom prst="rect">
            <a:avLst/>
          </a:prstGeom>
          <a:solidFill>
            <a:srgbClr val="F5F5F5"/>
          </a:solidFill>
          <a:ln w="12700">
            <a:solidFill>
              <a:srgbClr val="CCCCCC"/>
            </a:solidFill>
            <a:prstDash val="solid"/>
          </a:ln>
        </p:spPr>
      </p:sp>
      <p:sp>
        <p:nvSpPr>
          <p:cNvPr id="17" name="Shape 15"/>
          <p:cNvSpPr/>
          <p:nvPr/>
        </p:nvSpPr>
        <p:spPr>
          <a:xfrm>
            <a:off x="274320" y="2779776"/>
            <a:ext cx="502920" cy="621792"/>
          </a:xfrm>
          <a:prstGeom prst="rect">
            <a:avLst/>
          </a:prstGeom>
          <a:solidFill>
            <a:srgbClr val="0D0D0D"/>
          </a:solidFill>
          <a:ln w="12700">
            <a:solidFill>
              <a:srgbClr val="0D0D0D"/>
            </a:solidFill>
            <a:prstDash val="solid"/>
          </a:ln>
        </p:spPr>
      </p:sp>
      <p:sp>
        <p:nvSpPr>
          <p:cNvPr id="18" name="Text 16"/>
          <p:cNvSpPr/>
          <p:nvPr/>
        </p:nvSpPr>
        <p:spPr>
          <a:xfrm>
            <a:off x="274320" y="2779776"/>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3</a:t>
            </a:r>
            <a:endParaRPr lang="en-US" sz="1400" dirty="0"/>
          </a:p>
        </p:txBody>
      </p:sp>
      <p:sp>
        <p:nvSpPr>
          <p:cNvPr id="19" name="Text 17"/>
          <p:cNvSpPr/>
          <p:nvPr/>
        </p:nvSpPr>
        <p:spPr>
          <a:xfrm>
            <a:off x="859536" y="2834640"/>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3:</a:t>
            </a:r>
            <a:endParaRPr lang="en-US" sz="1000" dirty="0"/>
          </a:p>
        </p:txBody>
      </p:sp>
      <p:sp>
        <p:nvSpPr>
          <p:cNvPr id="20" name="Text 18"/>
          <p:cNvSpPr/>
          <p:nvPr/>
        </p:nvSpPr>
        <p:spPr>
          <a:xfrm>
            <a:off x="859536" y="3081528"/>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Implement Claude API call — structured prompt construction, response parsing</a:t>
            </a:r>
            <a:endParaRPr lang="en-US" sz="1000" dirty="0"/>
          </a:p>
        </p:txBody>
      </p:sp>
      <p:sp>
        <p:nvSpPr>
          <p:cNvPr id="21" name="Shape 19"/>
          <p:cNvSpPr/>
          <p:nvPr/>
        </p:nvSpPr>
        <p:spPr>
          <a:xfrm>
            <a:off x="274320" y="3474720"/>
            <a:ext cx="8595360" cy="621792"/>
          </a:xfrm>
          <a:prstGeom prst="rect">
            <a:avLst/>
          </a:prstGeom>
          <a:solidFill>
            <a:srgbClr val="0D0D0D"/>
          </a:solidFill>
          <a:ln w="12700">
            <a:solidFill>
              <a:srgbClr val="CCCCCC"/>
            </a:solidFill>
            <a:prstDash val="solid"/>
          </a:ln>
        </p:spPr>
      </p:sp>
      <p:sp>
        <p:nvSpPr>
          <p:cNvPr id="22" name="Shape 20"/>
          <p:cNvSpPr/>
          <p:nvPr/>
        </p:nvSpPr>
        <p:spPr>
          <a:xfrm>
            <a:off x="274320" y="3474720"/>
            <a:ext cx="502920" cy="621792"/>
          </a:xfrm>
          <a:prstGeom prst="rect">
            <a:avLst/>
          </a:prstGeom>
          <a:solidFill>
            <a:srgbClr val="0D0D0D"/>
          </a:solidFill>
          <a:ln w="12700">
            <a:solidFill>
              <a:srgbClr val="0D0D0D"/>
            </a:solidFill>
            <a:prstDash val="solid"/>
          </a:ln>
        </p:spPr>
      </p:sp>
      <p:sp>
        <p:nvSpPr>
          <p:cNvPr id="23" name="Text 21"/>
          <p:cNvSpPr/>
          <p:nvPr/>
        </p:nvSpPr>
        <p:spPr>
          <a:xfrm>
            <a:off x="274320" y="3474720"/>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4</a:t>
            </a:r>
            <a:endParaRPr lang="en-US" sz="1400" dirty="0"/>
          </a:p>
        </p:txBody>
      </p:sp>
      <p:sp>
        <p:nvSpPr>
          <p:cNvPr id="24" name="Text 22"/>
          <p:cNvSpPr/>
          <p:nvPr/>
        </p:nvSpPr>
        <p:spPr>
          <a:xfrm>
            <a:off x="859536" y="3529584"/>
            <a:ext cx="822960" cy="256032"/>
          </a:xfrm>
          <a:prstGeom prst="rect">
            <a:avLst/>
          </a:prstGeom>
          <a:noFill/>
          <a:ln/>
        </p:spPr>
        <p:txBody>
          <a:bodyPr wrap="square" rtlCol="0" anchor="ctr"/>
          <a:lstStyle/>
          <a:p>
            <a:pPr algn="l" indent="0" marL="0">
              <a:buNone/>
            </a:pPr>
            <a:r>
              <a:rPr lang="en-US" sz="1000" b="1" dirty="0">
                <a:solidFill>
                  <a:srgbClr val="AAAAAA"/>
                </a:solidFill>
                <a:latin typeface="Georgia" pitchFamily="34" charset="0"/>
                <a:ea typeface="Georgia" pitchFamily="34" charset="-122"/>
                <a:cs typeface="Georgia" pitchFamily="34" charset="-120"/>
              </a:rPr>
              <a:t>Step 4:</a:t>
            </a:r>
            <a:endParaRPr lang="en-US" sz="1000" dirty="0"/>
          </a:p>
        </p:txBody>
      </p:sp>
      <p:sp>
        <p:nvSpPr>
          <p:cNvPr id="25" name="Text 23"/>
          <p:cNvSpPr/>
          <p:nvPr/>
        </p:nvSpPr>
        <p:spPr>
          <a:xfrm>
            <a:off x="859536" y="3776472"/>
            <a:ext cx="7936992" cy="274320"/>
          </a:xfrm>
          <a:prstGeom prst="rect">
            <a:avLst/>
          </a:prstGeom>
          <a:noFill/>
          <a:ln/>
        </p:spPr>
        <p:txBody>
          <a:bodyPr wrap="square" rtlCol="0" anchor="t"/>
          <a:lstStyle/>
          <a:p>
            <a:pPr algn="l" indent="0" marL="0">
              <a:buNone/>
            </a:pPr>
            <a:r>
              <a:rPr lang="en-US" sz="1000" dirty="0">
                <a:solidFill>
                  <a:srgbClr val="FFFFFF"/>
                </a:solidFill>
                <a:latin typeface="Calibri" pitchFamily="34" charset="0"/>
                <a:ea typeface="Calibri" pitchFamily="34" charset="-122"/>
                <a:cs typeface="Calibri" pitchFamily="34" charset="-120"/>
              </a:rPr>
              <a:t>Build Next.js frontend — file upload interface, loading states, report display</a:t>
            </a:r>
            <a:endParaRPr lang="en-US" sz="1000" dirty="0"/>
          </a:p>
        </p:txBody>
      </p:sp>
      <p:sp>
        <p:nvSpPr>
          <p:cNvPr id="26" name="Shape 24"/>
          <p:cNvSpPr/>
          <p:nvPr/>
        </p:nvSpPr>
        <p:spPr>
          <a:xfrm>
            <a:off x="274320" y="4169664"/>
            <a:ext cx="8595360" cy="621792"/>
          </a:xfrm>
          <a:prstGeom prst="rect">
            <a:avLst/>
          </a:prstGeom>
          <a:solidFill>
            <a:srgbClr val="F5F5F5"/>
          </a:solidFill>
          <a:ln w="12700">
            <a:solidFill>
              <a:srgbClr val="CCCCCC"/>
            </a:solidFill>
            <a:prstDash val="solid"/>
          </a:ln>
        </p:spPr>
      </p:sp>
      <p:sp>
        <p:nvSpPr>
          <p:cNvPr id="27" name="Shape 25"/>
          <p:cNvSpPr/>
          <p:nvPr/>
        </p:nvSpPr>
        <p:spPr>
          <a:xfrm>
            <a:off x="274320" y="4169664"/>
            <a:ext cx="502920" cy="621792"/>
          </a:xfrm>
          <a:prstGeom prst="rect">
            <a:avLst/>
          </a:prstGeom>
          <a:solidFill>
            <a:srgbClr val="0D0D0D"/>
          </a:solidFill>
          <a:ln w="12700">
            <a:solidFill>
              <a:srgbClr val="0D0D0D"/>
            </a:solidFill>
            <a:prstDash val="solid"/>
          </a:ln>
        </p:spPr>
      </p:sp>
      <p:sp>
        <p:nvSpPr>
          <p:cNvPr id="28" name="Text 26"/>
          <p:cNvSpPr/>
          <p:nvPr/>
        </p:nvSpPr>
        <p:spPr>
          <a:xfrm>
            <a:off x="274320" y="4169664"/>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5</a:t>
            </a:r>
            <a:endParaRPr lang="en-US" sz="1400" dirty="0"/>
          </a:p>
        </p:txBody>
      </p:sp>
      <p:sp>
        <p:nvSpPr>
          <p:cNvPr id="29" name="Text 27"/>
          <p:cNvSpPr/>
          <p:nvPr/>
        </p:nvSpPr>
        <p:spPr>
          <a:xfrm>
            <a:off x="859536" y="4224528"/>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5:</a:t>
            </a:r>
            <a:endParaRPr lang="en-US" sz="1000" dirty="0"/>
          </a:p>
        </p:txBody>
      </p:sp>
      <p:sp>
        <p:nvSpPr>
          <p:cNvPr id="30" name="Text 28"/>
          <p:cNvSpPr/>
          <p:nvPr/>
        </p:nvSpPr>
        <p:spPr>
          <a:xfrm>
            <a:off x="859536" y="4471416"/>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Implement ReportLab PDF generation — executive summary, findings table, remediation checklist</a:t>
            </a:r>
            <a:endParaRPr lang="en-US" sz="1000" dirty="0"/>
          </a:p>
        </p:txBody>
      </p:sp>
      <p:sp>
        <p:nvSpPr>
          <p:cNvPr id="31" name="Shape 29"/>
          <p:cNvSpPr/>
          <p:nvPr/>
        </p:nvSpPr>
        <p:spPr>
          <a:xfrm>
            <a:off x="274320" y="4864608"/>
            <a:ext cx="8595360" cy="621792"/>
          </a:xfrm>
          <a:prstGeom prst="rect">
            <a:avLst/>
          </a:prstGeom>
          <a:solidFill>
            <a:srgbClr val="F5F5F5"/>
          </a:solidFill>
          <a:ln w="12700">
            <a:solidFill>
              <a:srgbClr val="CCCCCC"/>
            </a:solidFill>
            <a:prstDash val="solid"/>
          </a:ln>
        </p:spPr>
      </p:sp>
      <p:sp>
        <p:nvSpPr>
          <p:cNvPr id="32" name="Shape 30"/>
          <p:cNvSpPr/>
          <p:nvPr/>
        </p:nvSpPr>
        <p:spPr>
          <a:xfrm>
            <a:off x="274320" y="4864608"/>
            <a:ext cx="502920" cy="621792"/>
          </a:xfrm>
          <a:prstGeom prst="rect">
            <a:avLst/>
          </a:prstGeom>
          <a:solidFill>
            <a:srgbClr val="0D0D0D"/>
          </a:solidFill>
          <a:ln w="12700">
            <a:solidFill>
              <a:srgbClr val="0D0D0D"/>
            </a:solidFill>
            <a:prstDash val="solid"/>
          </a:ln>
        </p:spPr>
      </p:sp>
      <p:sp>
        <p:nvSpPr>
          <p:cNvPr id="33" name="Text 31"/>
          <p:cNvSpPr/>
          <p:nvPr/>
        </p:nvSpPr>
        <p:spPr>
          <a:xfrm>
            <a:off x="274320" y="4864608"/>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6</a:t>
            </a:r>
            <a:endParaRPr lang="en-US" sz="1400" dirty="0"/>
          </a:p>
        </p:txBody>
      </p:sp>
      <p:sp>
        <p:nvSpPr>
          <p:cNvPr id="34" name="Text 32"/>
          <p:cNvSpPr/>
          <p:nvPr/>
        </p:nvSpPr>
        <p:spPr>
          <a:xfrm>
            <a:off x="859536" y="4919472"/>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6:</a:t>
            </a:r>
            <a:endParaRPr lang="en-US" sz="1000" dirty="0"/>
          </a:p>
        </p:txBody>
      </p:sp>
      <p:sp>
        <p:nvSpPr>
          <p:cNvPr id="35" name="Text 33"/>
          <p:cNvSpPr/>
          <p:nvPr/>
        </p:nvSpPr>
        <p:spPr>
          <a:xfrm>
            <a:off x="859536" y="5166360"/>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Deploy to testnet environment and run end-to-end integration tests on real contracts</a:t>
            </a:r>
            <a:endParaRPr lang="en-US" sz="1000" dirty="0"/>
          </a:p>
        </p:txBody>
      </p:sp>
      <p:sp>
        <p:nvSpPr>
          <p:cNvPr id="36" name="Shape 34"/>
          <p:cNvSpPr/>
          <p:nvPr/>
        </p:nvSpPr>
        <p:spPr>
          <a:xfrm>
            <a:off x="274320" y="5559552"/>
            <a:ext cx="8595360" cy="384048"/>
          </a:xfrm>
          <a:prstGeom prst="rect">
            <a:avLst/>
          </a:prstGeom>
          <a:solidFill>
            <a:srgbClr val="0D0D0D"/>
          </a:solidFill>
          <a:ln w="12700">
            <a:solidFill>
              <a:srgbClr val="0D0D0D"/>
            </a:solidFill>
            <a:prstDash val="solid"/>
          </a:ln>
        </p:spPr>
      </p:sp>
      <p:sp>
        <p:nvSpPr>
          <p:cNvPr id="37" name="Text 35"/>
          <p:cNvSpPr/>
          <p:nvPr/>
        </p:nvSpPr>
        <p:spPr>
          <a:xfrm>
            <a:off x="411480" y="5577840"/>
            <a:ext cx="8321040" cy="347472"/>
          </a:xfrm>
          <a:prstGeom prst="rect">
            <a:avLst/>
          </a:prstGeom>
          <a:noFill/>
          <a:ln/>
        </p:spPr>
        <p:txBody>
          <a:bodyPr wrap="square" rtlCol="0" anchor="ctr"/>
          <a:lstStyle/>
          <a:p>
            <a:pPr algn="l" indent="0" marL="0">
              <a:buNone/>
            </a:pPr>
            <a:r>
              <a:rPr lang="en-US" sz="1050" b="1" dirty="0">
                <a:solidFill>
                  <a:srgbClr val="FFFFFF"/>
                </a:solidFill>
                <a:latin typeface="Georgia" pitchFamily="34" charset="0"/>
                <a:ea typeface="Georgia" pitchFamily="34" charset="-122"/>
                <a:cs typeface="Georgia" pitchFamily="34" charset="-120"/>
              </a:rPr>
              <a:t>Deliverable: Working AuditAI prototype — end-to-end, fully integrated</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1A1A1A"/>
          </a:solidFill>
          <a:ln w="12700">
            <a:solidFill>
              <a:srgbClr val="1A1A1A"/>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OBJECTIVE 04 — Evaluate Detection Accuracy Against Benchmark</a:t>
            </a:r>
            <a:endParaRPr lang="en-US" sz="1500" dirty="0"/>
          </a:p>
        </p:txBody>
      </p:sp>
      <p:sp>
        <p:nvSpPr>
          <p:cNvPr id="4" name="Shape 2"/>
          <p:cNvSpPr/>
          <p:nvPr/>
        </p:nvSpPr>
        <p:spPr>
          <a:xfrm>
            <a:off x="274320" y="777240"/>
            <a:ext cx="8595360" cy="502920"/>
          </a:xfrm>
          <a:prstGeom prst="rect">
            <a:avLst/>
          </a:prstGeom>
          <a:solidFill>
            <a:srgbClr val="1A1A1A"/>
          </a:solidFill>
          <a:ln w="12700">
            <a:solidFill>
              <a:srgbClr val="444444"/>
            </a:solidFill>
            <a:prstDash val="solid"/>
          </a:ln>
        </p:spPr>
      </p:sp>
      <p:sp>
        <p:nvSpPr>
          <p:cNvPr id="5" name="Text 3"/>
          <p:cNvSpPr/>
          <p:nvPr/>
        </p:nvSpPr>
        <p:spPr>
          <a:xfrm>
            <a:off x="411480" y="795528"/>
            <a:ext cx="8321040" cy="466344"/>
          </a:xfrm>
          <a:prstGeom prst="rect">
            <a:avLst/>
          </a:prstGeom>
          <a:noFill/>
          <a:ln/>
        </p:spPr>
        <p:txBody>
          <a:bodyPr wrap="square" rtlCol="0" anchor="ctr"/>
          <a:lstStyle/>
          <a:p>
            <a:pPr algn="l" indent="0" marL="0">
              <a:buNone/>
            </a:pPr>
            <a:r>
              <a:rPr lang="en-US" sz="1050" b="1" dirty="0">
                <a:solidFill>
                  <a:srgbClr val="AAAAAA"/>
                </a:solidFill>
                <a:latin typeface="Georgia" pitchFamily="34" charset="0"/>
                <a:ea typeface="Georgia" pitchFamily="34" charset="-122"/>
                <a:cs typeface="Georgia" pitchFamily="34" charset="-120"/>
              </a:rPr>
              <a:t>Purpose: To produce rigorous, publishable quantitative evidence of system performance.</a:t>
            </a:r>
            <a:endParaRPr lang="en-US" sz="1050" dirty="0"/>
          </a:p>
        </p:txBody>
      </p:sp>
      <p:sp>
        <p:nvSpPr>
          <p:cNvPr id="6" name="Shape 4"/>
          <p:cNvSpPr/>
          <p:nvPr/>
        </p:nvSpPr>
        <p:spPr>
          <a:xfrm>
            <a:off x="274320" y="1389888"/>
            <a:ext cx="8595360" cy="621792"/>
          </a:xfrm>
          <a:prstGeom prst="rect">
            <a:avLst/>
          </a:prstGeom>
          <a:solidFill>
            <a:srgbClr val="111111"/>
          </a:solidFill>
          <a:ln w="12700">
            <a:solidFill>
              <a:srgbClr val="333333"/>
            </a:solidFill>
            <a:prstDash val="solid"/>
          </a:ln>
        </p:spPr>
      </p:sp>
      <p:sp>
        <p:nvSpPr>
          <p:cNvPr id="7" name="Shape 5"/>
          <p:cNvSpPr/>
          <p:nvPr/>
        </p:nvSpPr>
        <p:spPr>
          <a:xfrm>
            <a:off x="274320" y="1389888"/>
            <a:ext cx="502920" cy="621792"/>
          </a:xfrm>
          <a:prstGeom prst="rect">
            <a:avLst/>
          </a:prstGeom>
          <a:solidFill>
            <a:srgbClr val="0D0D0D"/>
          </a:solidFill>
          <a:ln w="12700">
            <a:solidFill>
              <a:srgbClr val="0D0D0D"/>
            </a:solidFill>
            <a:prstDash val="solid"/>
          </a:ln>
        </p:spPr>
      </p:sp>
      <p:sp>
        <p:nvSpPr>
          <p:cNvPr id="8" name="Text 6"/>
          <p:cNvSpPr/>
          <p:nvPr/>
        </p:nvSpPr>
        <p:spPr>
          <a:xfrm>
            <a:off x="274320" y="1389888"/>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859536" y="1444752"/>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1:</a:t>
            </a:r>
            <a:endParaRPr lang="en-US" sz="1000" dirty="0"/>
          </a:p>
        </p:txBody>
      </p:sp>
      <p:sp>
        <p:nvSpPr>
          <p:cNvPr id="10" name="Text 8"/>
          <p:cNvSpPr/>
          <p:nvPr/>
        </p:nvSpPr>
        <p:spPr>
          <a:xfrm>
            <a:off x="859536" y="1691640"/>
            <a:ext cx="7936992" cy="274320"/>
          </a:xfrm>
          <a:prstGeom prst="rect">
            <a:avLst/>
          </a:prstGeom>
          <a:noFill/>
          <a:ln/>
        </p:spPr>
        <p:txBody>
          <a:bodyPr wrap="square" rtlCol="0" anchor="t"/>
          <a:lstStyle/>
          <a:p>
            <a:pPr algn="l" indent="0" marL="0">
              <a:buNone/>
            </a:pPr>
            <a:r>
              <a:rPr lang="en-US" sz="1000" dirty="0">
                <a:solidFill>
                  <a:srgbClr val="CCCCCC"/>
                </a:solidFill>
                <a:latin typeface="Calibri" pitchFamily="34" charset="0"/>
                <a:ea typeface="Calibri" pitchFamily="34" charset="-122"/>
                <a:cs typeface="Calibri" pitchFamily="34" charset="-120"/>
              </a:rPr>
              <a:t>Download and prepare SmartBugs benchmark dataset — 47 annotated vulnerable Solidity contracts</a:t>
            </a:r>
            <a:endParaRPr lang="en-US" sz="1000" dirty="0"/>
          </a:p>
        </p:txBody>
      </p:sp>
      <p:sp>
        <p:nvSpPr>
          <p:cNvPr id="11" name="Shape 9"/>
          <p:cNvSpPr/>
          <p:nvPr/>
        </p:nvSpPr>
        <p:spPr>
          <a:xfrm>
            <a:off x="274320" y="2084832"/>
            <a:ext cx="8595360" cy="621792"/>
          </a:xfrm>
          <a:prstGeom prst="rect">
            <a:avLst/>
          </a:prstGeom>
          <a:solidFill>
            <a:srgbClr val="111111"/>
          </a:solidFill>
          <a:ln w="12700">
            <a:solidFill>
              <a:srgbClr val="333333"/>
            </a:solidFill>
            <a:prstDash val="solid"/>
          </a:ln>
        </p:spPr>
      </p:sp>
      <p:sp>
        <p:nvSpPr>
          <p:cNvPr id="12" name="Shape 10"/>
          <p:cNvSpPr/>
          <p:nvPr/>
        </p:nvSpPr>
        <p:spPr>
          <a:xfrm>
            <a:off x="274320" y="2084832"/>
            <a:ext cx="502920" cy="621792"/>
          </a:xfrm>
          <a:prstGeom prst="rect">
            <a:avLst/>
          </a:prstGeom>
          <a:solidFill>
            <a:srgbClr val="0D0D0D"/>
          </a:solidFill>
          <a:ln w="12700">
            <a:solidFill>
              <a:srgbClr val="0D0D0D"/>
            </a:solidFill>
            <a:prstDash val="solid"/>
          </a:ln>
        </p:spPr>
      </p:sp>
      <p:sp>
        <p:nvSpPr>
          <p:cNvPr id="13" name="Text 11"/>
          <p:cNvSpPr/>
          <p:nvPr/>
        </p:nvSpPr>
        <p:spPr>
          <a:xfrm>
            <a:off x="274320" y="2084832"/>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2</a:t>
            </a:r>
            <a:endParaRPr lang="en-US" sz="1400" dirty="0"/>
          </a:p>
        </p:txBody>
      </p:sp>
      <p:sp>
        <p:nvSpPr>
          <p:cNvPr id="14" name="Text 12"/>
          <p:cNvSpPr/>
          <p:nvPr/>
        </p:nvSpPr>
        <p:spPr>
          <a:xfrm>
            <a:off x="859536" y="2139696"/>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2:</a:t>
            </a:r>
            <a:endParaRPr lang="en-US" sz="1000" dirty="0"/>
          </a:p>
        </p:txBody>
      </p:sp>
      <p:sp>
        <p:nvSpPr>
          <p:cNvPr id="15" name="Text 13"/>
          <p:cNvSpPr/>
          <p:nvPr/>
        </p:nvSpPr>
        <p:spPr>
          <a:xfrm>
            <a:off x="859536" y="2386584"/>
            <a:ext cx="7936992" cy="274320"/>
          </a:xfrm>
          <a:prstGeom prst="rect">
            <a:avLst/>
          </a:prstGeom>
          <a:noFill/>
          <a:ln/>
        </p:spPr>
        <p:txBody>
          <a:bodyPr wrap="square" rtlCol="0" anchor="t"/>
          <a:lstStyle/>
          <a:p>
            <a:pPr algn="l" indent="0" marL="0">
              <a:buNone/>
            </a:pPr>
            <a:r>
              <a:rPr lang="en-US" sz="1000" dirty="0">
                <a:solidFill>
                  <a:srgbClr val="CCCCCC"/>
                </a:solidFill>
                <a:latin typeface="Calibri" pitchFamily="34" charset="0"/>
                <a:ea typeface="Calibri" pitchFamily="34" charset="-122"/>
                <a:cs typeface="Calibri" pitchFamily="34" charset="-120"/>
              </a:rPr>
              <a:t>Run AuditAI pipeline across all 47 contracts and record findings per vulnerability class</a:t>
            </a:r>
            <a:endParaRPr lang="en-US" sz="1000" dirty="0"/>
          </a:p>
        </p:txBody>
      </p:sp>
      <p:sp>
        <p:nvSpPr>
          <p:cNvPr id="16" name="Shape 14"/>
          <p:cNvSpPr/>
          <p:nvPr/>
        </p:nvSpPr>
        <p:spPr>
          <a:xfrm>
            <a:off x="274320" y="2779776"/>
            <a:ext cx="8595360" cy="621792"/>
          </a:xfrm>
          <a:prstGeom prst="rect">
            <a:avLst/>
          </a:prstGeom>
          <a:solidFill>
            <a:srgbClr val="FFFFFF"/>
          </a:solidFill>
          <a:ln w="12700">
            <a:solidFill>
              <a:srgbClr val="333333"/>
            </a:solidFill>
            <a:prstDash val="solid"/>
          </a:ln>
        </p:spPr>
      </p:sp>
      <p:sp>
        <p:nvSpPr>
          <p:cNvPr id="17" name="Shape 15"/>
          <p:cNvSpPr/>
          <p:nvPr/>
        </p:nvSpPr>
        <p:spPr>
          <a:xfrm>
            <a:off x="274320" y="2779776"/>
            <a:ext cx="502920" cy="621792"/>
          </a:xfrm>
          <a:prstGeom prst="rect">
            <a:avLst/>
          </a:prstGeom>
          <a:solidFill>
            <a:srgbClr val="0D0D0D"/>
          </a:solidFill>
          <a:ln w="12700">
            <a:solidFill>
              <a:srgbClr val="0D0D0D"/>
            </a:solidFill>
            <a:prstDash val="solid"/>
          </a:ln>
        </p:spPr>
      </p:sp>
      <p:sp>
        <p:nvSpPr>
          <p:cNvPr id="18" name="Text 16"/>
          <p:cNvSpPr/>
          <p:nvPr/>
        </p:nvSpPr>
        <p:spPr>
          <a:xfrm>
            <a:off x="274320" y="2779776"/>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3</a:t>
            </a:r>
            <a:endParaRPr lang="en-US" sz="1400" dirty="0"/>
          </a:p>
        </p:txBody>
      </p:sp>
      <p:sp>
        <p:nvSpPr>
          <p:cNvPr id="19" name="Text 17"/>
          <p:cNvSpPr/>
          <p:nvPr/>
        </p:nvSpPr>
        <p:spPr>
          <a:xfrm>
            <a:off x="859536" y="2834640"/>
            <a:ext cx="822960" cy="256032"/>
          </a:xfrm>
          <a:prstGeom prst="rect">
            <a:avLst/>
          </a:prstGeom>
          <a:noFill/>
          <a:ln/>
        </p:spPr>
        <p:txBody>
          <a:bodyPr wrap="square" rtlCol="0" anchor="ctr"/>
          <a:lstStyle/>
          <a:p>
            <a:pPr algn="l" indent="0" marL="0">
              <a:buNone/>
            </a:pPr>
            <a:r>
              <a:rPr lang="en-US" sz="1000" b="1" dirty="0">
                <a:solidFill>
                  <a:srgbClr val="333333"/>
                </a:solidFill>
                <a:latin typeface="Georgia" pitchFamily="34" charset="0"/>
                <a:ea typeface="Georgia" pitchFamily="34" charset="-122"/>
                <a:cs typeface="Georgia" pitchFamily="34" charset="-120"/>
              </a:rPr>
              <a:t>Step 3:</a:t>
            </a:r>
            <a:endParaRPr lang="en-US" sz="1000" dirty="0"/>
          </a:p>
        </p:txBody>
      </p:sp>
      <p:sp>
        <p:nvSpPr>
          <p:cNvPr id="20" name="Text 18"/>
          <p:cNvSpPr/>
          <p:nvPr/>
        </p:nvSpPr>
        <p:spPr>
          <a:xfrm>
            <a:off x="859536" y="3081528"/>
            <a:ext cx="7936992" cy="274320"/>
          </a:xfrm>
          <a:prstGeom prst="rect">
            <a:avLst/>
          </a:prstGeom>
          <a:noFill/>
          <a:ln/>
        </p:spPr>
        <p:txBody>
          <a:bodyPr wrap="square" rtlCol="0" anchor="t"/>
          <a:lstStyle/>
          <a:p>
            <a:pPr algn="l" indent="0" marL="0">
              <a:buNone/>
            </a:pPr>
            <a:r>
              <a:rPr lang="en-US" sz="1000" dirty="0">
                <a:solidFill>
                  <a:srgbClr val="0D0D0D"/>
                </a:solidFill>
                <a:latin typeface="Calibri" pitchFamily="34" charset="0"/>
                <a:ea typeface="Calibri" pitchFamily="34" charset="-122"/>
                <a:cs typeface="Calibri" pitchFamily="34" charset="-120"/>
              </a:rPr>
              <a:t>Compare reported findings against ground truth annotations — compute TP, FP, FN per class</a:t>
            </a:r>
            <a:endParaRPr lang="en-US" sz="1000" dirty="0"/>
          </a:p>
        </p:txBody>
      </p:sp>
      <p:sp>
        <p:nvSpPr>
          <p:cNvPr id="21" name="Shape 19"/>
          <p:cNvSpPr/>
          <p:nvPr/>
        </p:nvSpPr>
        <p:spPr>
          <a:xfrm>
            <a:off x="274320" y="3474720"/>
            <a:ext cx="8595360" cy="621792"/>
          </a:xfrm>
          <a:prstGeom prst="rect">
            <a:avLst/>
          </a:prstGeom>
          <a:solidFill>
            <a:srgbClr val="111111"/>
          </a:solidFill>
          <a:ln w="12700">
            <a:solidFill>
              <a:srgbClr val="333333"/>
            </a:solidFill>
            <a:prstDash val="solid"/>
          </a:ln>
        </p:spPr>
      </p:sp>
      <p:sp>
        <p:nvSpPr>
          <p:cNvPr id="22" name="Shape 20"/>
          <p:cNvSpPr/>
          <p:nvPr/>
        </p:nvSpPr>
        <p:spPr>
          <a:xfrm>
            <a:off x="274320" y="3474720"/>
            <a:ext cx="502920" cy="621792"/>
          </a:xfrm>
          <a:prstGeom prst="rect">
            <a:avLst/>
          </a:prstGeom>
          <a:solidFill>
            <a:srgbClr val="0D0D0D"/>
          </a:solidFill>
          <a:ln w="12700">
            <a:solidFill>
              <a:srgbClr val="0D0D0D"/>
            </a:solidFill>
            <a:prstDash val="solid"/>
          </a:ln>
        </p:spPr>
      </p:sp>
      <p:sp>
        <p:nvSpPr>
          <p:cNvPr id="23" name="Text 21"/>
          <p:cNvSpPr/>
          <p:nvPr/>
        </p:nvSpPr>
        <p:spPr>
          <a:xfrm>
            <a:off x="274320" y="3474720"/>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4</a:t>
            </a:r>
            <a:endParaRPr lang="en-US" sz="1400" dirty="0"/>
          </a:p>
        </p:txBody>
      </p:sp>
      <p:sp>
        <p:nvSpPr>
          <p:cNvPr id="24" name="Text 22"/>
          <p:cNvSpPr/>
          <p:nvPr/>
        </p:nvSpPr>
        <p:spPr>
          <a:xfrm>
            <a:off x="859536" y="3529584"/>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4:</a:t>
            </a:r>
            <a:endParaRPr lang="en-US" sz="1000" dirty="0"/>
          </a:p>
        </p:txBody>
      </p:sp>
      <p:sp>
        <p:nvSpPr>
          <p:cNvPr id="25" name="Text 23"/>
          <p:cNvSpPr/>
          <p:nvPr/>
        </p:nvSpPr>
        <p:spPr>
          <a:xfrm>
            <a:off x="859536" y="3776472"/>
            <a:ext cx="7936992" cy="274320"/>
          </a:xfrm>
          <a:prstGeom prst="rect">
            <a:avLst/>
          </a:prstGeom>
          <a:noFill/>
          <a:ln/>
        </p:spPr>
        <p:txBody>
          <a:bodyPr wrap="square" rtlCol="0" anchor="t"/>
          <a:lstStyle/>
          <a:p>
            <a:pPr algn="l" indent="0" marL="0">
              <a:buNone/>
            </a:pPr>
            <a:r>
              <a:rPr lang="en-US" sz="1000" dirty="0">
                <a:solidFill>
                  <a:srgbClr val="CCCCCC"/>
                </a:solidFill>
                <a:latin typeface="Calibri" pitchFamily="34" charset="0"/>
                <a:ea typeface="Calibri" pitchFamily="34" charset="-122"/>
                <a:cs typeface="Calibri" pitchFamily="34" charset="-120"/>
              </a:rPr>
              <a:t>Calculate precision, recall, and F1-score for each of the five SWC vulnerability classes</a:t>
            </a:r>
            <a:endParaRPr lang="en-US" sz="1000" dirty="0"/>
          </a:p>
        </p:txBody>
      </p:sp>
      <p:sp>
        <p:nvSpPr>
          <p:cNvPr id="26" name="Shape 24"/>
          <p:cNvSpPr/>
          <p:nvPr/>
        </p:nvSpPr>
        <p:spPr>
          <a:xfrm>
            <a:off x="274320" y="4169664"/>
            <a:ext cx="8595360" cy="621792"/>
          </a:xfrm>
          <a:prstGeom prst="rect">
            <a:avLst/>
          </a:prstGeom>
          <a:solidFill>
            <a:srgbClr val="111111"/>
          </a:solidFill>
          <a:ln w="12700">
            <a:solidFill>
              <a:srgbClr val="333333"/>
            </a:solidFill>
            <a:prstDash val="solid"/>
          </a:ln>
        </p:spPr>
      </p:sp>
      <p:sp>
        <p:nvSpPr>
          <p:cNvPr id="27" name="Shape 25"/>
          <p:cNvSpPr/>
          <p:nvPr/>
        </p:nvSpPr>
        <p:spPr>
          <a:xfrm>
            <a:off x="274320" y="4169664"/>
            <a:ext cx="502920" cy="621792"/>
          </a:xfrm>
          <a:prstGeom prst="rect">
            <a:avLst/>
          </a:prstGeom>
          <a:solidFill>
            <a:srgbClr val="0D0D0D"/>
          </a:solidFill>
          <a:ln w="12700">
            <a:solidFill>
              <a:srgbClr val="0D0D0D"/>
            </a:solidFill>
            <a:prstDash val="solid"/>
          </a:ln>
        </p:spPr>
      </p:sp>
      <p:sp>
        <p:nvSpPr>
          <p:cNvPr id="28" name="Text 26"/>
          <p:cNvSpPr/>
          <p:nvPr/>
        </p:nvSpPr>
        <p:spPr>
          <a:xfrm>
            <a:off x="274320" y="4169664"/>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5</a:t>
            </a:r>
            <a:endParaRPr lang="en-US" sz="1400" dirty="0"/>
          </a:p>
        </p:txBody>
      </p:sp>
      <p:sp>
        <p:nvSpPr>
          <p:cNvPr id="29" name="Text 27"/>
          <p:cNvSpPr/>
          <p:nvPr/>
        </p:nvSpPr>
        <p:spPr>
          <a:xfrm>
            <a:off x="859536" y="4224528"/>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5:</a:t>
            </a:r>
            <a:endParaRPr lang="en-US" sz="1000" dirty="0"/>
          </a:p>
        </p:txBody>
      </p:sp>
      <p:sp>
        <p:nvSpPr>
          <p:cNvPr id="30" name="Text 28"/>
          <p:cNvSpPr/>
          <p:nvPr/>
        </p:nvSpPr>
        <p:spPr>
          <a:xfrm>
            <a:off x="859536" y="4471416"/>
            <a:ext cx="7936992" cy="274320"/>
          </a:xfrm>
          <a:prstGeom prst="rect">
            <a:avLst/>
          </a:prstGeom>
          <a:noFill/>
          <a:ln/>
        </p:spPr>
        <p:txBody>
          <a:bodyPr wrap="square" rtlCol="0" anchor="t"/>
          <a:lstStyle/>
          <a:p>
            <a:pPr algn="l" indent="0" marL="0">
              <a:buNone/>
            </a:pPr>
            <a:r>
              <a:rPr lang="en-US" sz="1000" dirty="0">
                <a:solidFill>
                  <a:srgbClr val="CCCCCC"/>
                </a:solidFill>
                <a:latin typeface="Calibri" pitchFamily="34" charset="0"/>
                <a:ea typeface="Calibri" pitchFamily="34" charset="-122"/>
                <a:cs typeface="Calibri" pitchFamily="34" charset="-120"/>
              </a:rPr>
              <a:t>Tabulate results and compare to published baselines from Durieux et al. 2020</a:t>
            </a:r>
            <a:endParaRPr lang="en-US" sz="1000" dirty="0"/>
          </a:p>
        </p:txBody>
      </p:sp>
      <p:sp>
        <p:nvSpPr>
          <p:cNvPr id="31" name="Shape 29"/>
          <p:cNvSpPr/>
          <p:nvPr/>
        </p:nvSpPr>
        <p:spPr>
          <a:xfrm>
            <a:off x="274320" y="4864608"/>
            <a:ext cx="8595360" cy="384048"/>
          </a:xfrm>
          <a:prstGeom prst="rect">
            <a:avLst/>
          </a:prstGeom>
          <a:solidFill>
            <a:srgbClr val="FFFFFF"/>
          </a:solidFill>
          <a:ln w="12700">
            <a:solidFill>
              <a:srgbClr val="0D0D0D"/>
            </a:solidFill>
            <a:prstDash val="solid"/>
          </a:ln>
        </p:spPr>
      </p:sp>
      <p:sp>
        <p:nvSpPr>
          <p:cNvPr id="32" name="Text 30"/>
          <p:cNvSpPr/>
          <p:nvPr/>
        </p:nvSpPr>
        <p:spPr>
          <a:xfrm>
            <a:off x="411480" y="4882896"/>
            <a:ext cx="8321040" cy="347472"/>
          </a:xfrm>
          <a:prstGeom prst="rect">
            <a:avLst/>
          </a:prstGeom>
          <a:noFill/>
          <a:ln/>
        </p:spPr>
        <p:txBody>
          <a:bodyPr wrap="square" rtlCol="0" anchor="ctr"/>
          <a:lstStyle/>
          <a:p>
            <a:pPr algn="l" indent="0" marL="0">
              <a:buNone/>
            </a:pPr>
            <a:r>
              <a:rPr lang="en-US" sz="1050" b="1" dirty="0">
                <a:solidFill>
                  <a:srgbClr val="0D0D0D"/>
                </a:solidFill>
                <a:latin typeface="Georgia" pitchFamily="34" charset="0"/>
                <a:ea typeface="Georgia" pitchFamily="34" charset="-122"/>
                <a:cs typeface="Georgia" pitchFamily="34" charset="-120"/>
              </a:rPr>
              <a:t>Deliverable: Benchmark evaluation report — precision, recall, F1 per class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OBJECTIVE 05 — Assess and Validate AI-Generated Report Quality</a:t>
            </a:r>
            <a:endParaRPr lang="en-US" sz="1500" dirty="0"/>
          </a:p>
        </p:txBody>
      </p:sp>
      <p:sp>
        <p:nvSpPr>
          <p:cNvPr id="4" name="Shape 2"/>
          <p:cNvSpPr/>
          <p:nvPr/>
        </p:nvSpPr>
        <p:spPr>
          <a:xfrm>
            <a:off x="274320" y="777240"/>
            <a:ext cx="8595360" cy="502920"/>
          </a:xfrm>
          <a:prstGeom prst="rect">
            <a:avLst/>
          </a:prstGeom>
          <a:solidFill>
            <a:srgbClr val="F0F0F0"/>
          </a:solidFill>
          <a:ln w="12700">
            <a:solidFill>
              <a:srgbClr val="CCCCCC"/>
            </a:solidFill>
            <a:prstDash val="solid"/>
          </a:ln>
        </p:spPr>
      </p:sp>
      <p:sp>
        <p:nvSpPr>
          <p:cNvPr id="5" name="Text 3"/>
          <p:cNvSpPr/>
          <p:nvPr/>
        </p:nvSpPr>
        <p:spPr>
          <a:xfrm>
            <a:off x="411480" y="795528"/>
            <a:ext cx="8321040" cy="466344"/>
          </a:xfrm>
          <a:prstGeom prst="rect">
            <a:avLst/>
          </a:prstGeom>
          <a:noFill/>
          <a:ln/>
        </p:spPr>
        <p:txBody>
          <a:bodyPr wrap="square" rtlCol="0" anchor="ctr"/>
          <a:lstStyle/>
          <a:p>
            <a:pPr algn="l" indent="0" marL="0">
              <a:buNone/>
            </a:pPr>
            <a:r>
              <a:rPr lang="en-US" sz="1050" b="1" dirty="0">
                <a:solidFill>
                  <a:srgbClr val="444444"/>
                </a:solidFill>
                <a:latin typeface="Georgia" pitchFamily="34" charset="0"/>
                <a:ea typeface="Georgia" pitchFamily="34" charset="-122"/>
                <a:cs typeface="Georgia" pitchFamily="34" charset="-120"/>
              </a:rPr>
              <a:t>Purpose: To demonstrate that the LLM reasoning layer adds measurable, significant value over raw tool output.</a:t>
            </a:r>
            <a:endParaRPr lang="en-US" sz="1050" dirty="0"/>
          </a:p>
        </p:txBody>
      </p:sp>
      <p:sp>
        <p:nvSpPr>
          <p:cNvPr id="6" name="Shape 4"/>
          <p:cNvSpPr/>
          <p:nvPr/>
        </p:nvSpPr>
        <p:spPr>
          <a:xfrm>
            <a:off x="274320" y="1389888"/>
            <a:ext cx="8595360" cy="621792"/>
          </a:xfrm>
          <a:prstGeom prst="rect">
            <a:avLst/>
          </a:prstGeom>
          <a:solidFill>
            <a:srgbClr val="F5F5F5"/>
          </a:solidFill>
          <a:ln w="12700">
            <a:solidFill>
              <a:srgbClr val="CCCCCC"/>
            </a:solidFill>
            <a:prstDash val="solid"/>
          </a:ln>
        </p:spPr>
      </p:sp>
      <p:sp>
        <p:nvSpPr>
          <p:cNvPr id="7" name="Shape 5"/>
          <p:cNvSpPr/>
          <p:nvPr/>
        </p:nvSpPr>
        <p:spPr>
          <a:xfrm>
            <a:off x="274320" y="1389888"/>
            <a:ext cx="502920" cy="621792"/>
          </a:xfrm>
          <a:prstGeom prst="rect">
            <a:avLst/>
          </a:prstGeom>
          <a:solidFill>
            <a:srgbClr val="0D0D0D"/>
          </a:solidFill>
          <a:ln w="12700">
            <a:solidFill>
              <a:srgbClr val="0D0D0D"/>
            </a:solidFill>
            <a:prstDash val="solid"/>
          </a:ln>
        </p:spPr>
      </p:sp>
      <p:sp>
        <p:nvSpPr>
          <p:cNvPr id="8" name="Text 6"/>
          <p:cNvSpPr/>
          <p:nvPr/>
        </p:nvSpPr>
        <p:spPr>
          <a:xfrm>
            <a:off x="274320" y="1389888"/>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859536" y="1444752"/>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1:</a:t>
            </a:r>
            <a:endParaRPr lang="en-US" sz="1000" dirty="0"/>
          </a:p>
        </p:txBody>
      </p:sp>
      <p:sp>
        <p:nvSpPr>
          <p:cNvPr id="10" name="Text 8"/>
          <p:cNvSpPr/>
          <p:nvPr/>
        </p:nvSpPr>
        <p:spPr>
          <a:xfrm>
            <a:off x="859536" y="1691640"/>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Recruit three independent evaluators with relevant technical backgrounds</a:t>
            </a:r>
            <a:endParaRPr lang="en-US" sz="1000" dirty="0"/>
          </a:p>
        </p:txBody>
      </p:sp>
      <p:sp>
        <p:nvSpPr>
          <p:cNvPr id="11" name="Shape 9"/>
          <p:cNvSpPr/>
          <p:nvPr/>
        </p:nvSpPr>
        <p:spPr>
          <a:xfrm>
            <a:off x="274320" y="2084832"/>
            <a:ext cx="8595360" cy="621792"/>
          </a:xfrm>
          <a:prstGeom prst="rect">
            <a:avLst/>
          </a:prstGeom>
          <a:solidFill>
            <a:srgbClr val="F5F5F5"/>
          </a:solidFill>
          <a:ln w="12700">
            <a:solidFill>
              <a:srgbClr val="CCCCCC"/>
            </a:solidFill>
            <a:prstDash val="solid"/>
          </a:ln>
        </p:spPr>
      </p:sp>
      <p:sp>
        <p:nvSpPr>
          <p:cNvPr id="12" name="Shape 10"/>
          <p:cNvSpPr/>
          <p:nvPr/>
        </p:nvSpPr>
        <p:spPr>
          <a:xfrm>
            <a:off x="274320" y="2084832"/>
            <a:ext cx="502920" cy="621792"/>
          </a:xfrm>
          <a:prstGeom prst="rect">
            <a:avLst/>
          </a:prstGeom>
          <a:solidFill>
            <a:srgbClr val="0D0D0D"/>
          </a:solidFill>
          <a:ln w="12700">
            <a:solidFill>
              <a:srgbClr val="0D0D0D"/>
            </a:solidFill>
            <a:prstDash val="solid"/>
          </a:ln>
        </p:spPr>
      </p:sp>
      <p:sp>
        <p:nvSpPr>
          <p:cNvPr id="13" name="Text 11"/>
          <p:cNvSpPr/>
          <p:nvPr/>
        </p:nvSpPr>
        <p:spPr>
          <a:xfrm>
            <a:off x="274320" y="2084832"/>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2</a:t>
            </a:r>
            <a:endParaRPr lang="en-US" sz="1400" dirty="0"/>
          </a:p>
        </p:txBody>
      </p:sp>
      <p:sp>
        <p:nvSpPr>
          <p:cNvPr id="14" name="Text 12"/>
          <p:cNvSpPr/>
          <p:nvPr/>
        </p:nvSpPr>
        <p:spPr>
          <a:xfrm>
            <a:off x="859536" y="2139696"/>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2:</a:t>
            </a:r>
            <a:endParaRPr lang="en-US" sz="1000" dirty="0"/>
          </a:p>
        </p:txBody>
      </p:sp>
      <p:sp>
        <p:nvSpPr>
          <p:cNvPr id="15" name="Text 13"/>
          <p:cNvSpPr/>
          <p:nvPr/>
        </p:nvSpPr>
        <p:spPr>
          <a:xfrm>
            <a:off x="859536" y="2386584"/>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Develop five-point Likert scale rubric covering: clarity, accuracy, actionability, completeness</a:t>
            </a:r>
            <a:endParaRPr lang="en-US" sz="1000" dirty="0"/>
          </a:p>
        </p:txBody>
      </p:sp>
      <p:sp>
        <p:nvSpPr>
          <p:cNvPr id="16" name="Shape 14"/>
          <p:cNvSpPr/>
          <p:nvPr/>
        </p:nvSpPr>
        <p:spPr>
          <a:xfrm>
            <a:off x="274320" y="2779776"/>
            <a:ext cx="8595360" cy="621792"/>
          </a:xfrm>
          <a:prstGeom prst="rect">
            <a:avLst/>
          </a:prstGeom>
          <a:solidFill>
            <a:srgbClr val="0D0D0D"/>
          </a:solidFill>
          <a:ln w="12700">
            <a:solidFill>
              <a:srgbClr val="CCCCCC"/>
            </a:solidFill>
            <a:prstDash val="solid"/>
          </a:ln>
        </p:spPr>
      </p:sp>
      <p:sp>
        <p:nvSpPr>
          <p:cNvPr id="17" name="Shape 15"/>
          <p:cNvSpPr/>
          <p:nvPr/>
        </p:nvSpPr>
        <p:spPr>
          <a:xfrm>
            <a:off x="274320" y="2779776"/>
            <a:ext cx="502920" cy="621792"/>
          </a:xfrm>
          <a:prstGeom prst="rect">
            <a:avLst/>
          </a:prstGeom>
          <a:solidFill>
            <a:srgbClr val="0D0D0D"/>
          </a:solidFill>
          <a:ln w="12700">
            <a:solidFill>
              <a:srgbClr val="0D0D0D"/>
            </a:solidFill>
            <a:prstDash val="solid"/>
          </a:ln>
        </p:spPr>
      </p:sp>
      <p:sp>
        <p:nvSpPr>
          <p:cNvPr id="18" name="Text 16"/>
          <p:cNvSpPr/>
          <p:nvPr/>
        </p:nvSpPr>
        <p:spPr>
          <a:xfrm>
            <a:off x="274320" y="2779776"/>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3</a:t>
            </a:r>
            <a:endParaRPr lang="en-US" sz="1400" dirty="0"/>
          </a:p>
        </p:txBody>
      </p:sp>
      <p:sp>
        <p:nvSpPr>
          <p:cNvPr id="19" name="Text 17"/>
          <p:cNvSpPr/>
          <p:nvPr/>
        </p:nvSpPr>
        <p:spPr>
          <a:xfrm>
            <a:off x="859536" y="2834640"/>
            <a:ext cx="822960" cy="256032"/>
          </a:xfrm>
          <a:prstGeom prst="rect">
            <a:avLst/>
          </a:prstGeom>
          <a:noFill/>
          <a:ln/>
        </p:spPr>
        <p:txBody>
          <a:bodyPr wrap="square" rtlCol="0" anchor="ctr"/>
          <a:lstStyle/>
          <a:p>
            <a:pPr algn="l" indent="0" marL="0">
              <a:buNone/>
            </a:pPr>
            <a:r>
              <a:rPr lang="en-US" sz="1000" b="1" dirty="0">
                <a:solidFill>
                  <a:srgbClr val="AAAAAA"/>
                </a:solidFill>
                <a:latin typeface="Georgia" pitchFamily="34" charset="0"/>
                <a:ea typeface="Georgia" pitchFamily="34" charset="-122"/>
                <a:cs typeface="Georgia" pitchFamily="34" charset="-120"/>
              </a:rPr>
              <a:t>Step 3:</a:t>
            </a:r>
            <a:endParaRPr lang="en-US" sz="1000" dirty="0"/>
          </a:p>
        </p:txBody>
      </p:sp>
      <p:sp>
        <p:nvSpPr>
          <p:cNvPr id="20" name="Text 18"/>
          <p:cNvSpPr/>
          <p:nvPr/>
        </p:nvSpPr>
        <p:spPr>
          <a:xfrm>
            <a:off x="859536" y="3081528"/>
            <a:ext cx="7936992" cy="274320"/>
          </a:xfrm>
          <a:prstGeom prst="rect">
            <a:avLst/>
          </a:prstGeom>
          <a:noFill/>
          <a:ln/>
        </p:spPr>
        <p:txBody>
          <a:bodyPr wrap="square" rtlCol="0" anchor="t"/>
          <a:lstStyle/>
          <a:p>
            <a:pPr algn="l" indent="0" marL="0">
              <a:buNone/>
            </a:pPr>
            <a:r>
              <a:rPr lang="en-US" sz="1000" dirty="0">
                <a:solidFill>
                  <a:srgbClr val="FFFFFF"/>
                </a:solidFill>
                <a:latin typeface="Calibri" pitchFamily="34" charset="0"/>
                <a:ea typeface="Calibri" pitchFamily="34" charset="-122"/>
                <a:cs typeface="Calibri" pitchFamily="34" charset="-120"/>
              </a:rPr>
              <a:t>Provide evaluators with paired outputs — AuditAI PDF report vs raw Slither output — for the same contracts</a:t>
            </a:r>
            <a:endParaRPr lang="en-US" sz="1000" dirty="0"/>
          </a:p>
        </p:txBody>
      </p:sp>
      <p:sp>
        <p:nvSpPr>
          <p:cNvPr id="21" name="Shape 19"/>
          <p:cNvSpPr/>
          <p:nvPr/>
        </p:nvSpPr>
        <p:spPr>
          <a:xfrm>
            <a:off x="274320" y="3474720"/>
            <a:ext cx="8595360" cy="621792"/>
          </a:xfrm>
          <a:prstGeom prst="rect">
            <a:avLst/>
          </a:prstGeom>
          <a:solidFill>
            <a:srgbClr val="F5F5F5"/>
          </a:solidFill>
          <a:ln w="12700">
            <a:solidFill>
              <a:srgbClr val="CCCCCC"/>
            </a:solidFill>
            <a:prstDash val="solid"/>
          </a:ln>
        </p:spPr>
      </p:sp>
      <p:sp>
        <p:nvSpPr>
          <p:cNvPr id="22" name="Shape 20"/>
          <p:cNvSpPr/>
          <p:nvPr/>
        </p:nvSpPr>
        <p:spPr>
          <a:xfrm>
            <a:off x="274320" y="3474720"/>
            <a:ext cx="502920" cy="621792"/>
          </a:xfrm>
          <a:prstGeom prst="rect">
            <a:avLst/>
          </a:prstGeom>
          <a:solidFill>
            <a:srgbClr val="0D0D0D"/>
          </a:solidFill>
          <a:ln w="12700">
            <a:solidFill>
              <a:srgbClr val="0D0D0D"/>
            </a:solidFill>
            <a:prstDash val="solid"/>
          </a:ln>
        </p:spPr>
      </p:sp>
      <p:sp>
        <p:nvSpPr>
          <p:cNvPr id="23" name="Text 21"/>
          <p:cNvSpPr/>
          <p:nvPr/>
        </p:nvSpPr>
        <p:spPr>
          <a:xfrm>
            <a:off x="274320" y="3474720"/>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4</a:t>
            </a:r>
            <a:endParaRPr lang="en-US" sz="1400" dirty="0"/>
          </a:p>
        </p:txBody>
      </p:sp>
      <p:sp>
        <p:nvSpPr>
          <p:cNvPr id="24" name="Text 22"/>
          <p:cNvSpPr/>
          <p:nvPr/>
        </p:nvSpPr>
        <p:spPr>
          <a:xfrm>
            <a:off x="859536" y="3529584"/>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4:</a:t>
            </a:r>
            <a:endParaRPr lang="en-US" sz="1000" dirty="0"/>
          </a:p>
        </p:txBody>
      </p:sp>
      <p:sp>
        <p:nvSpPr>
          <p:cNvPr id="25" name="Text 23"/>
          <p:cNvSpPr/>
          <p:nvPr/>
        </p:nvSpPr>
        <p:spPr>
          <a:xfrm>
            <a:off x="859536" y="3776472"/>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Collect and aggregate scores. Compute inter-rater reliability using Cohen's kappa</a:t>
            </a:r>
            <a:endParaRPr lang="en-US" sz="1000" dirty="0"/>
          </a:p>
        </p:txBody>
      </p:sp>
      <p:sp>
        <p:nvSpPr>
          <p:cNvPr id="26" name="Shape 24"/>
          <p:cNvSpPr/>
          <p:nvPr/>
        </p:nvSpPr>
        <p:spPr>
          <a:xfrm>
            <a:off x="274320" y="4169664"/>
            <a:ext cx="8595360" cy="621792"/>
          </a:xfrm>
          <a:prstGeom prst="rect">
            <a:avLst/>
          </a:prstGeom>
          <a:solidFill>
            <a:srgbClr val="F5F5F5"/>
          </a:solidFill>
          <a:ln w="12700">
            <a:solidFill>
              <a:srgbClr val="CCCCCC"/>
            </a:solidFill>
            <a:prstDash val="solid"/>
          </a:ln>
        </p:spPr>
      </p:sp>
      <p:sp>
        <p:nvSpPr>
          <p:cNvPr id="27" name="Shape 25"/>
          <p:cNvSpPr/>
          <p:nvPr/>
        </p:nvSpPr>
        <p:spPr>
          <a:xfrm>
            <a:off x="274320" y="4169664"/>
            <a:ext cx="502920" cy="621792"/>
          </a:xfrm>
          <a:prstGeom prst="rect">
            <a:avLst/>
          </a:prstGeom>
          <a:solidFill>
            <a:srgbClr val="0D0D0D"/>
          </a:solidFill>
          <a:ln w="12700">
            <a:solidFill>
              <a:srgbClr val="0D0D0D"/>
            </a:solidFill>
            <a:prstDash val="solid"/>
          </a:ln>
        </p:spPr>
      </p:sp>
      <p:sp>
        <p:nvSpPr>
          <p:cNvPr id="28" name="Text 26"/>
          <p:cNvSpPr/>
          <p:nvPr/>
        </p:nvSpPr>
        <p:spPr>
          <a:xfrm>
            <a:off x="274320" y="4169664"/>
            <a:ext cx="502920" cy="621792"/>
          </a:xfrm>
          <a:prstGeom prst="rect">
            <a:avLst/>
          </a:prstGeom>
          <a:noFill/>
          <a:ln/>
        </p:spPr>
        <p:txBody>
          <a:bodyPr wrap="square" rtlCol="0" anchor="ctr"/>
          <a:lstStyle/>
          <a:p>
            <a:pPr algn="ctr" indent="0" marL="0">
              <a:buNone/>
            </a:pPr>
            <a:r>
              <a:rPr lang="en-US" sz="1400" b="1" dirty="0">
                <a:solidFill>
                  <a:srgbClr val="888888"/>
                </a:solidFill>
                <a:latin typeface="Georgia" pitchFamily="34" charset="0"/>
                <a:ea typeface="Georgia" pitchFamily="34" charset="-122"/>
                <a:cs typeface="Georgia" pitchFamily="34" charset="-120"/>
              </a:rPr>
              <a:t>5</a:t>
            </a:r>
            <a:endParaRPr lang="en-US" sz="1400" dirty="0"/>
          </a:p>
        </p:txBody>
      </p:sp>
      <p:sp>
        <p:nvSpPr>
          <p:cNvPr id="29" name="Text 27"/>
          <p:cNvSpPr/>
          <p:nvPr/>
        </p:nvSpPr>
        <p:spPr>
          <a:xfrm>
            <a:off x="859536" y="4224528"/>
            <a:ext cx="822960" cy="256032"/>
          </a:xfrm>
          <a:prstGeom prst="rect">
            <a:avLst/>
          </a:prstGeom>
          <a:noFill/>
          <a:ln/>
        </p:spPr>
        <p:txBody>
          <a:bodyPr wrap="square" rtlCol="0" anchor="ctr"/>
          <a:lstStyle/>
          <a:p>
            <a:pPr algn="l" indent="0" marL="0">
              <a:buNone/>
            </a:pPr>
            <a:r>
              <a:rPr lang="en-US" sz="1000" b="1" dirty="0">
                <a:solidFill>
                  <a:srgbClr val="888888"/>
                </a:solidFill>
                <a:latin typeface="Georgia" pitchFamily="34" charset="0"/>
                <a:ea typeface="Georgia" pitchFamily="34" charset="-122"/>
                <a:cs typeface="Georgia" pitchFamily="34" charset="-120"/>
              </a:rPr>
              <a:t>Step 5:</a:t>
            </a:r>
            <a:endParaRPr lang="en-US" sz="1000" dirty="0"/>
          </a:p>
        </p:txBody>
      </p:sp>
      <p:sp>
        <p:nvSpPr>
          <p:cNvPr id="30" name="Text 28"/>
          <p:cNvSpPr/>
          <p:nvPr/>
        </p:nvSpPr>
        <p:spPr>
          <a:xfrm>
            <a:off x="859536" y="4471416"/>
            <a:ext cx="7936992" cy="274320"/>
          </a:xfrm>
          <a:prstGeom prst="rect">
            <a:avLst/>
          </a:prstGeom>
          <a:noFill/>
          <a:ln/>
        </p:spPr>
        <p:txBody>
          <a:bodyPr wrap="square" rtlCol="0" anchor="t"/>
          <a:lstStyle/>
          <a:p>
            <a:pPr algn="l" indent="0" marL="0">
              <a:buNone/>
            </a:pPr>
            <a:r>
              <a:rPr lang="en-US" sz="1000" dirty="0">
                <a:solidFill>
                  <a:srgbClr val="333333"/>
                </a:solidFill>
                <a:latin typeface="Calibri" pitchFamily="34" charset="0"/>
                <a:ea typeface="Calibri" pitchFamily="34" charset="-122"/>
                <a:cs typeface="Calibri" pitchFamily="34" charset="-120"/>
              </a:rPr>
              <a:t>Conduct statistical comparison between AuditAI and Slither scores across all four dimensions</a:t>
            </a:r>
            <a:endParaRPr lang="en-US" sz="1000" dirty="0"/>
          </a:p>
        </p:txBody>
      </p:sp>
      <p:sp>
        <p:nvSpPr>
          <p:cNvPr id="31" name="Shape 29"/>
          <p:cNvSpPr/>
          <p:nvPr/>
        </p:nvSpPr>
        <p:spPr>
          <a:xfrm>
            <a:off x="274320" y="4864608"/>
            <a:ext cx="8595360" cy="384048"/>
          </a:xfrm>
          <a:prstGeom prst="rect">
            <a:avLst/>
          </a:prstGeom>
          <a:solidFill>
            <a:srgbClr val="0D0D0D"/>
          </a:solidFill>
          <a:ln w="12700">
            <a:solidFill>
              <a:srgbClr val="0D0D0D"/>
            </a:solidFill>
            <a:prstDash val="solid"/>
          </a:ln>
        </p:spPr>
      </p:sp>
      <p:sp>
        <p:nvSpPr>
          <p:cNvPr id="32" name="Text 30"/>
          <p:cNvSpPr/>
          <p:nvPr/>
        </p:nvSpPr>
        <p:spPr>
          <a:xfrm>
            <a:off x="411480" y="4882896"/>
            <a:ext cx="8321040" cy="347472"/>
          </a:xfrm>
          <a:prstGeom prst="rect">
            <a:avLst/>
          </a:prstGeom>
          <a:noFill/>
          <a:ln/>
        </p:spPr>
        <p:txBody>
          <a:bodyPr wrap="square" rtlCol="0" anchor="ctr"/>
          <a:lstStyle/>
          <a:p>
            <a:pPr algn="l" indent="0" marL="0">
              <a:buNone/>
            </a:pPr>
            <a:r>
              <a:rPr lang="en-US" sz="1050" b="1" dirty="0">
                <a:solidFill>
                  <a:srgbClr val="FFFFFF"/>
                </a:solidFill>
                <a:latin typeface="Georgia" pitchFamily="34" charset="0"/>
                <a:ea typeface="Georgia" pitchFamily="34" charset="-122"/>
                <a:cs typeface="Georgia" pitchFamily="34" charset="-120"/>
              </a:rPr>
              <a:t>Deliverable: Validated report quality study — Cohen's kappa inter-rater reliability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SIGNIFICANCE OF THE STUDY</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Why AuditAI matters — to Nigerian developers, to the Web3 ecosystem, and to the academic community.</a:t>
            </a:r>
            <a:endParaRPr lang="en-US" sz="1000" dirty="0"/>
          </a:p>
        </p:txBody>
      </p:sp>
      <p:sp>
        <p:nvSpPr>
          <p:cNvPr id="6" name="Shape 4"/>
          <p:cNvSpPr/>
          <p:nvPr/>
        </p:nvSpPr>
        <p:spPr>
          <a:xfrm>
            <a:off x="274320" y="1261872"/>
            <a:ext cx="4251960" cy="1755648"/>
          </a:xfrm>
          <a:prstGeom prst="rect">
            <a:avLst/>
          </a:prstGeom>
          <a:solidFill>
            <a:srgbClr val="0D0D0D"/>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274320" y="1261872"/>
            <a:ext cx="4251960" cy="384048"/>
          </a:xfrm>
          <a:prstGeom prst="rect">
            <a:avLst/>
          </a:prstGeom>
          <a:solidFill>
            <a:srgbClr val="0D0D0D"/>
          </a:solidFill>
          <a:ln w="12700">
            <a:solidFill>
              <a:srgbClr val="0D0D0D"/>
            </a:solidFill>
            <a:prstDash val="solid"/>
          </a:ln>
        </p:spPr>
      </p:sp>
      <p:sp>
        <p:nvSpPr>
          <p:cNvPr id="8" name="Text 6"/>
          <p:cNvSpPr/>
          <p:nvPr/>
        </p:nvSpPr>
        <p:spPr>
          <a:xfrm>
            <a:off x="365760" y="1261872"/>
            <a:ext cx="4160520" cy="384048"/>
          </a:xfrm>
          <a:prstGeom prst="rect">
            <a:avLst/>
          </a:prstGeom>
          <a:noFill/>
          <a:ln/>
        </p:spPr>
        <p:txBody>
          <a:bodyPr wrap="square" rtlCol="0" anchor="ctr"/>
          <a:lstStyle/>
          <a:p>
            <a:pPr algn="l" indent="0" marL="0">
              <a:buNone/>
            </a:pPr>
            <a:r>
              <a:rPr lang="en-US" sz="1150" b="1" dirty="0">
                <a:solidFill>
                  <a:srgbClr val="FFFFFF"/>
                </a:solidFill>
                <a:latin typeface="Georgia" pitchFamily="34" charset="0"/>
                <a:ea typeface="Georgia" pitchFamily="34" charset="-122"/>
                <a:cs typeface="Georgia" pitchFamily="34" charset="-120"/>
              </a:rPr>
              <a:t>For Nigerian Developers</a:t>
            </a:r>
            <a:endParaRPr lang="en-US" sz="1150" dirty="0"/>
          </a:p>
        </p:txBody>
      </p:sp>
      <p:sp>
        <p:nvSpPr>
          <p:cNvPr id="9" name="Text 7"/>
          <p:cNvSpPr/>
          <p:nvPr/>
        </p:nvSpPr>
        <p:spPr>
          <a:xfrm>
            <a:off x="365760" y="1700784"/>
            <a:ext cx="4069080" cy="1261872"/>
          </a:xfrm>
          <a:prstGeom prst="rect">
            <a:avLst/>
          </a:prstGeom>
          <a:noFill/>
          <a:ln/>
        </p:spPr>
        <p:txBody>
          <a:bodyPr wrap="square" rtlCol="0" anchor="t"/>
          <a:lstStyle/>
          <a:p>
            <a:pPr algn="l" indent="0" marL="0">
              <a:buNone/>
            </a:pPr>
            <a:r>
              <a:rPr lang="en-US" sz="900" dirty="0">
                <a:solidFill>
                  <a:srgbClr val="CCCCCC"/>
                </a:solidFill>
                <a:latin typeface="Calibri" pitchFamily="34" charset="0"/>
                <a:ea typeface="Calibri" pitchFamily="34" charset="-122"/>
                <a:cs typeface="Calibri" pitchFamily="34" charset="-120"/>
              </a:rPr>
              <a:t>Nigeria has a rapidly growing blockchain developer community. Professional audits at $10,000–$50,000 are financially inaccessible for most. AuditAI provides the first accessible, free-tier security review tool designed for the emerging market developer — who builds real products but cannot access elite-tier security tooling.</a:t>
            </a:r>
            <a:endParaRPr lang="en-US" sz="900" dirty="0"/>
          </a:p>
        </p:txBody>
      </p:sp>
      <p:sp>
        <p:nvSpPr>
          <p:cNvPr id="10" name="Shape 8"/>
          <p:cNvSpPr/>
          <p:nvPr/>
        </p:nvSpPr>
        <p:spPr>
          <a:xfrm>
            <a:off x="4709160" y="1261872"/>
            <a:ext cx="4251960" cy="1755648"/>
          </a:xfrm>
          <a:prstGeom prst="rect">
            <a:avLst/>
          </a:prstGeom>
          <a:solidFill>
            <a:srgbClr val="F0F0F0"/>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11" name="Shape 9"/>
          <p:cNvSpPr/>
          <p:nvPr/>
        </p:nvSpPr>
        <p:spPr>
          <a:xfrm>
            <a:off x="4709160" y="1261872"/>
            <a:ext cx="4251960" cy="384048"/>
          </a:xfrm>
          <a:prstGeom prst="rect">
            <a:avLst/>
          </a:prstGeom>
          <a:solidFill>
            <a:srgbClr val="0D0D0D"/>
          </a:solidFill>
          <a:ln w="12700">
            <a:solidFill>
              <a:srgbClr val="0D0D0D"/>
            </a:solidFill>
            <a:prstDash val="solid"/>
          </a:ln>
        </p:spPr>
      </p:sp>
      <p:sp>
        <p:nvSpPr>
          <p:cNvPr id="12" name="Text 10"/>
          <p:cNvSpPr/>
          <p:nvPr/>
        </p:nvSpPr>
        <p:spPr>
          <a:xfrm>
            <a:off x="4800600" y="1261872"/>
            <a:ext cx="4160520" cy="384048"/>
          </a:xfrm>
          <a:prstGeom prst="rect">
            <a:avLst/>
          </a:prstGeom>
          <a:noFill/>
          <a:ln/>
        </p:spPr>
        <p:txBody>
          <a:bodyPr wrap="square" rtlCol="0" anchor="ctr"/>
          <a:lstStyle/>
          <a:p>
            <a:pPr algn="l" indent="0" marL="0">
              <a:buNone/>
            </a:pPr>
            <a:r>
              <a:rPr lang="en-US" sz="1150" b="1" dirty="0">
                <a:solidFill>
                  <a:srgbClr val="FFFFFF"/>
                </a:solidFill>
                <a:latin typeface="Georgia" pitchFamily="34" charset="0"/>
                <a:ea typeface="Georgia" pitchFamily="34" charset="-122"/>
                <a:cs typeface="Georgia" pitchFamily="34" charset="-120"/>
              </a:rPr>
              <a:t>For the Web3 Ecosystem</a:t>
            </a:r>
            <a:endParaRPr lang="en-US" sz="1150" dirty="0"/>
          </a:p>
        </p:txBody>
      </p:sp>
      <p:sp>
        <p:nvSpPr>
          <p:cNvPr id="13" name="Text 11"/>
          <p:cNvSpPr/>
          <p:nvPr/>
        </p:nvSpPr>
        <p:spPr>
          <a:xfrm>
            <a:off x="4800600" y="1700784"/>
            <a:ext cx="4069080" cy="1261872"/>
          </a:xfrm>
          <a:prstGeom prst="rect">
            <a:avLst/>
          </a:prstGeom>
          <a:noFill/>
          <a:ln/>
        </p:spPr>
        <p:txBody>
          <a:bodyPr wrap="square" rtlCol="0" anchor="t"/>
          <a:lstStyle/>
          <a:p>
            <a:pPr algn="l" indent="0" marL="0">
              <a:buNone/>
            </a:pPr>
            <a:r>
              <a:rPr lang="en-US" sz="900" dirty="0">
                <a:solidFill>
                  <a:srgbClr val="444444"/>
                </a:solidFill>
                <a:latin typeface="Calibri" pitchFamily="34" charset="0"/>
                <a:ea typeface="Calibri" pitchFamily="34" charset="-122"/>
                <a:cs typeface="Calibri" pitchFamily="34" charset="-120"/>
              </a:rPr>
              <a:t>Billions of dollars of user funds are lost annually to smart contract exploits that static analysis could have caught. A tool that removes the expertise barrier between vulnerability detection and developer action directly reduces exploitable contracts in production. Every developer who uses AuditAI before deploying is one fewer vulnerable contract on-chain.</a:t>
            </a:r>
            <a:endParaRPr lang="en-US" sz="900" dirty="0"/>
          </a:p>
        </p:txBody>
      </p:sp>
      <p:sp>
        <p:nvSpPr>
          <p:cNvPr id="14" name="Shape 12"/>
          <p:cNvSpPr/>
          <p:nvPr/>
        </p:nvSpPr>
        <p:spPr>
          <a:xfrm>
            <a:off x="274320" y="3136392"/>
            <a:ext cx="4251960" cy="1755648"/>
          </a:xfrm>
          <a:prstGeom prst="rect">
            <a:avLst/>
          </a:prstGeom>
          <a:solidFill>
            <a:srgbClr val="F0F0F0"/>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15" name="Shape 13"/>
          <p:cNvSpPr/>
          <p:nvPr/>
        </p:nvSpPr>
        <p:spPr>
          <a:xfrm>
            <a:off x="274320" y="3136392"/>
            <a:ext cx="4251960" cy="384048"/>
          </a:xfrm>
          <a:prstGeom prst="rect">
            <a:avLst/>
          </a:prstGeom>
          <a:solidFill>
            <a:srgbClr val="0D0D0D"/>
          </a:solidFill>
          <a:ln w="12700">
            <a:solidFill>
              <a:srgbClr val="0D0D0D"/>
            </a:solidFill>
            <a:prstDash val="solid"/>
          </a:ln>
        </p:spPr>
      </p:sp>
      <p:sp>
        <p:nvSpPr>
          <p:cNvPr id="16" name="Text 14"/>
          <p:cNvSpPr/>
          <p:nvPr/>
        </p:nvSpPr>
        <p:spPr>
          <a:xfrm>
            <a:off x="365760" y="3136392"/>
            <a:ext cx="4160520" cy="384048"/>
          </a:xfrm>
          <a:prstGeom prst="rect">
            <a:avLst/>
          </a:prstGeom>
          <a:noFill/>
          <a:ln/>
        </p:spPr>
        <p:txBody>
          <a:bodyPr wrap="square" rtlCol="0" anchor="ctr"/>
          <a:lstStyle/>
          <a:p>
            <a:pPr algn="l" indent="0" marL="0">
              <a:buNone/>
            </a:pPr>
            <a:r>
              <a:rPr lang="en-US" sz="1150" b="1" dirty="0">
                <a:solidFill>
                  <a:srgbClr val="FFFFFF"/>
                </a:solidFill>
                <a:latin typeface="Georgia" pitchFamily="34" charset="0"/>
                <a:ea typeface="Georgia" pitchFamily="34" charset="-122"/>
                <a:cs typeface="Georgia" pitchFamily="34" charset="-120"/>
              </a:rPr>
              <a:t>For Nigerian Academia</a:t>
            </a:r>
            <a:endParaRPr lang="en-US" sz="1150" dirty="0"/>
          </a:p>
        </p:txBody>
      </p:sp>
      <p:sp>
        <p:nvSpPr>
          <p:cNvPr id="17" name="Text 15"/>
          <p:cNvSpPr/>
          <p:nvPr/>
        </p:nvSpPr>
        <p:spPr>
          <a:xfrm>
            <a:off x="365760" y="3575304"/>
            <a:ext cx="4069080" cy="1261872"/>
          </a:xfrm>
          <a:prstGeom prst="rect">
            <a:avLst/>
          </a:prstGeom>
          <a:noFill/>
          <a:ln/>
        </p:spPr>
        <p:txBody>
          <a:bodyPr wrap="square" rtlCol="0" anchor="t"/>
          <a:lstStyle/>
          <a:p>
            <a:pPr algn="l" indent="0" marL="0">
              <a:buNone/>
            </a:pPr>
            <a:r>
              <a:rPr lang="en-US" sz="900" dirty="0">
                <a:solidFill>
                  <a:srgbClr val="444444"/>
                </a:solidFill>
                <a:latin typeface="Calibri" pitchFamily="34" charset="0"/>
                <a:ea typeface="Calibri" pitchFamily="34" charset="-122"/>
                <a:cs typeface="Calibri" pitchFamily="34" charset="-120"/>
              </a:rPr>
              <a:t>AuditAI is a research contribution at the intersection of program analysis, natural language processing, and blockchain security — three of the most active areas of computer science research globally. It produces a replicable benchmark evaluation, a novel evaluation framework for AI-generated security documentation, and an open-source codebase for future researchers.</a:t>
            </a:r>
            <a:endParaRPr lang="en-US" sz="900" dirty="0"/>
          </a:p>
        </p:txBody>
      </p:sp>
      <p:sp>
        <p:nvSpPr>
          <p:cNvPr id="18" name="Shape 16"/>
          <p:cNvSpPr/>
          <p:nvPr/>
        </p:nvSpPr>
        <p:spPr>
          <a:xfrm>
            <a:off x="4709160" y="3136392"/>
            <a:ext cx="4251960" cy="1755648"/>
          </a:xfrm>
          <a:prstGeom prst="rect">
            <a:avLst/>
          </a:prstGeom>
          <a:solidFill>
            <a:srgbClr val="0D0D0D"/>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19" name="Shape 17"/>
          <p:cNvSpPr/>
          <p:nvPr/>
        </p:nvSpPr>
        <p:spPr>
          <a:xfrm>
            <a:off x="4709160" y="3136392"/>
            <a:ext cx="4251960" cy="384048"/>
          </a:xfrm>
          <a:prstGeom prst="rect">
            <a:avLst/>
          </a:prstGeom>
          <a:solidFill>
            <a:srgbClr val="0D0D0D"/>
          </a:solidFill>
          <a:ln w="12700">
            <a:solidFill>
              <a:srgbClr val="0D0D0D"/>
            </a:solidFill>
            <a:prstDash val="solid"/>
          </a:ln>
        </p:spPr>
      </p:sp>
      <p:sp>
        <p:nvSpPr>
          <p:cNvPr id="20" name="Text 18"/>
          <p:cNvSpPr/>
          <p:nvPr/>
        </p:nvSpPr>
        <p:spPr>
          <a:xfrm>
            <a:off x="4800600" y="3136392"/>
            <a:ext cx="4160520" cy="384048"/>
          </a:xfrm>
          <a:prstGeom prst="rect">
            <a:avLst/>
          </a:prstGeom>
          <a:noFill/>
          <a:ln/>
        </p:spPr>
        <p:txBody>
          <a:bodyPr wrap="square" rtlCol="0" anchor="ctr"/>
          <a:lstStyle/>
          <a:p>
            <a:pPr algn="l" indent="0" marL="0">
              <a:buNone/>
            </a:pPr>
            <a:r>
              <a:rPr lang="en-US" sz="1150" b="1" dirty="0">
                <a:solidFill>
                  <a:srgbClr val="FFFFFF"/>
                </a:solidFill>
                <a:latin typeface="Georgia" pitchFamily="34" charset="0"/>
                <a:ea typeface="Georgia" pitchFamily="34" charset="-122"/>
                <a:cs typeface="Georgia" pitchFamily="34" charset="-120"/>
              </a:rPr>
              <a:t>For Software Engineering Practice</a:t>
            </a:r>
            <a:endParaRPr lang="en-US" sz="1150" dirty="0"/>
          </a:p>
        </p:txBody>
      </p:sp>
      <p:sp>
        <p:nvSpPr>
          <p:cNvPr id="21" name="Text 19"/>
          <p:cNvSpPr/>
          <p:nvPr/>
        </p:nvSpPr>
        <p:spPr>
          <a:xfrm>
            <a:off x="4800600" y="3575304"/>
            <a:ext cx="4069080" cy="1261872"/>
          </a:xfrm>
          <a:prstGeom prst="rect">
            <a:avLst/>
          </a:prstGeom>
          <a:noFill/>
          <a:ln/>
        </p:spPr>
        <p:txBody>
          <a:bodyPr wrap="square" rtlCol="0" anchor="t"/>
          <a:lstStyle/>
          <a:p>
            <a:pPr algn="l" indent="0" marL="0">
              <a:buNone/>
            </a:pPr>
            <a:r>
              <a:rPr lang="en-US" sz="900" dirty="0">
                <a:solidFill>
                  <a:srgbClr val="CCCCCC"/>
                </a:solidFill>
                <a:latin typeface="Calibri" pitchFamily="34" charset="0"/>
                <a:ea typeface="Calibri" pitchFamily="34" charset="-122"/>
                <a:cs typeface="Calibri" pitchFamily="34" charset="-120"/>
              </a:rPr>
              <a:t>The system demonstrates that AI reasoning can bridge the gap between automated technical tools and human-accessible output — a generalizable principle with applications far beyond smart contract auditing. This work contributes evidence for the broader proposition that LLM augmentation of static analysis improves developer usability.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LITERATURE REVIEW — KEY WORKS (2020–2024)</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Six papers reviewed — each directly validates a design decision in AuditAI. All published within the last five years.</a:t>
            </a:r>
            <a:endParaRPr lang="en-US" sz="1000" dirty="0"/>
          </a:p>
        </p:txBody>
      </p:sp>
      <p:pic>
        <p:nvPicPr>
          <p:cNvPr id="6" name="Image 0" descr="/home/claude/fyp/literature.png">    </p:cNvPr>
          <p:cNvPicPr>
            <a:picLocks noChangeAspect="1"/>
          </p:cNvPicPr>
          <p:nvPr/>
        </p:nvPicPr>
        <p:blipFill>
          <a:blip r:embed="rId1"/>
          <a:stretch>
            <a:fillRect/>
          </a:stretch>
        </p:blipFill>
        <p:spPr>
          <a:xfrm>
            <a:off x="274320" y="1261872"/>
            <a:ext cx="8595360" cy="960120"/>
          </a:xfrm>
          <a:prstGeom prst="rect">
            <a:avLst/>
          </a:prstGeom>
          <a:effectLst>
            <a:outerShdw sx="100000" sy="100000" kx="0" ky="0" algn="bl" rotWithShape="0" blurRad="101600" dist="38100" dir="8100000">
              <a:srgbClr val="000000">
                <a:alpha val="15000"/>
              </a:srgbClr>
            </a:outerShdw>
          </a:effectLst>
        </p:spPr>
      </p:pic>
      <p:sp>
        <p:nvSpPr>
          <p:cNvPr id="7" name="Shape 4"/>
          <p:cNvSpPr/>
          <p:nvPr/>
        </p:nvSpPr>
        <p:spPr>
          <a:xfrm>
            <a:off x="274320" y="2304288"/>
            <a:ext cx="4251960" cy="859536"/>
          </a:xfrm>
          <a:prstGeom prst="rect">
            <a:avLst/>
          </a:prstGeom>
          <a:solidFill>
            <a:srgbClr val="0D0D0D"/>
          </a:solidFill>
          <a:ln w="12700">
            <a:solidFill>
              <a:srgbClr val="0D0D0D"/>
            </a:solidFill>
            <a:prstDash val="solid"/>
          </a:ln>
        </p:spPr>
      </p:sp>
      <p:sp>
        <p:nvSpPr>
          <p:cNvPr id="8" name="Text 5"/>
          <p:cNvSpPr/>
          <p:nvPr/>
        </p:nvSpPr>
        <p:spPr>
          <a:xfrm>
            <a:off x="365760" y="2359152"/>
            <a:ext cx="4069080" cy="201168"/>
          </a:xfrm>
          <a:prstGeom prst="rect">
            <a:avLst/>
          </a:prstGeom>
          <a:noFill/>
          <a:ln/>
        </p:spPr>
        <p:txBody>
          <a:bodyPr wrap="square" rtlCol="0" anchor="ctr"/>
          <a:lstStyle/>
          <a:p>
            <a:pPr algn="l" indent="0" marL="0">
              <a:buNone/>
            </a:pPr>
            <a:r>
              <a:rPr lang="en-US" sz="850" b="1" dirty="0">
                <a:solidFill>
                  <a:srgbClr val="888888"/>
                </a:solidFill>
                <a:latin typeface="Calibri" pitchFamily="34" charset="0"/>
                <a:ea typeface="Calibri" pitchFamily="34" charset="-122"/>
                <a:cs typeface="Calibri" pitchFamily="34" charset="-120"/>
              </a:rPr>
              <a:t>2020  Durieux et al. — ICSE 2020</a:t>
            </a:r>
            <a:endParaRPr lang="en-US" sz="850" dirty="0"/>
          </a:p>
        </p:txBody>
      </p:sp>
      <p:sp>
        <p:nvSpPr>
          <p:cNvPr id="9" name="Text 6"/>
          <p:cNvSpPr/>
          <p:nvPr/>
        </p:nvSpPr>
        <p:spPr>
          <a:xfrm>
            <a:off x="365760" y="2560320"/>
            <a:ext cx="4069080" cy="256032"/>
          </a:xfrm>
          <a:prstGeom prst="rect">
            <a:avLst/>
          </a:prstGeom>
          <a:noFill/>
          <a:ln/>
        </p:spPr>
        <p:txBody>
          <a:bodyPr wrap="square" rtlCol="0" anchor="ctr"/>
          <a:lstStyle/>
          <a:p>
            <a:pPr algn="l" indent="0" marL="0">
              <a:buNone/>
            </a:pPr>
            <a:r>
              <a:rPr lang="en-US" sz="1000" b="1" dirty="0">
                <a:solidFill>
                  <a:srgbClr val="FFFFFF"/>
                </a:solidFill>
                <a:latin typeface="Georgia" pitchFamily="34" charset="0"/>
                <a:ea typeface="Georgia" pitchFamily="34" charset="-122"/>
                <a:cs typeface="Georgia" pitchFamily="34" charset="-120"/>
              </a:rPr>
              <a:t>Empirical Review of 9 Automated Analysis Tools on 47,587 Ethereum Contracts</a:t>
            </a:r>
            <a:endParaRPr lang="en-US" sz="1000" dirty="0"/>
          </a:p>
        </p:txBody>
      </p:sp>
      <p:sp>
        <p:nvSpPr>
          <p:cNvPr id="10" name="Text 7"/>
          <p:cNvSpPr/>
          <p:nvPr/>
        </p:nvSpPr>
        <p:spPr>
          <a:xfrm>
            <a:off x="365760" y="2834640"/>
            <a:ext cx="4069080" cy="274320"/>
          </a:xfrm>
          <a:prstGeom prst="rect">
            <a:avLst/>
          </a:prstGeom>
          <a:noFill/>
          <a:ln/>
        </p:spPr>
        <p:txBody>
          <a:bodyPr wrap="square" rtlCol="0" anchor="ctr"/>
          <a:lstStyle/>
          <a:p>
            <a:pPr algn="l" indent="0" marL="0">
              <a:buNone/>
            </a:pPr>
            <a:r>
              <a:rPr lang="en-US" sz="880" dirty="0">
                <a:solidFill>
                  <a:srgbClr val="CCCCCC"/>
                </a:solidFill>
                <a:latin typeface="Calibri" pitchFamily="34" charset="0"/>
                <a:ea typeface="Calibri" pitchFamily="34" charset="-122"/>
                <a:cs typeface="Calibri" pitchFamily="34" charset="-120"/>
              </a:rPr>
              <a:t>No single tool dominates all vulnerability classes. Motivates the Slither + LLM hybrid rather than any single-tool approach.</a:t>
            </a:r>
            <a:endParaRPr lang="en-US" sz="880" dirty="0"/>
          </a:p>
        </p:txBody>
      </p:sp>
      <p:sp>
        <p:nvSpPr>
          <p:cNvPr id="11" name="Shape 8"/>
          <p:cNvSpPr/>
          <p:nvPr/>
        </p:nvSpPr>
        <p:spPr>
          <a:xfrm>
            <a:off x="4709160" y="2304288"/>
            <a:ext cx="4251960" cy="859536"/>
          </a:xfrm>
          <a:prstGeom prst="rect">
            <a:avLst/>
          </a:prstGeom>
          <a:solidFill>
            <a:srgbClr val="F0F0F0"/>
          </a:solidFill>
          <a:ln w="12700">
            <a:solidFill>
              <a:srgbClr val="0D0D0D"/>
            </a:solidFill>
            <a:prstDash val="solid"/>
          </a:ln>
        </p:spPr>
      </p:sp>
      <p:sp>
        <p:nvSpPr>
          <p:cNvPr id="12" name="Text 9"/>
          <p:cNvSpPr/>
          <p:nvPr/>
        </p:nvSpPr>
        <p:spPr>
          <a:xfrm>
            <a:off x="4800600" y="2359152"/>
            <a:ext cx="4069080" cy="201168"/>
          </a:xfrm>
          <a:prstGeom prst="rect">
            <a:avLst/>
          </a:prstGeom>
          <a:noFill/>
          <a:ln/>
        </p:spPr>
        <p:txBody>
          <a:bodyPr wrap="square" rtlCol="0" anchor="ctr"/>
          <a:lstStyle/>
          <a:p>
            <a:pPr algn="l" indent="0" marL="0">
              <a:buNone/>
            </a:pPr>
            <a:r>
              <a:rPr lang="en-US" sz="850" b="1" dirty="0">
                <a:solidFill>
                  <a:srgbClr val="888888"/>
                </a:solidFill>
                <a:latin typeface="Calibri" pitchFamily="34" charset="0"/>
                <a:ea typeface="Calibri" pitchFamily="34" charset="-122"/>
                <a:cs typeface="Calibri" pitchFamily="34" charset="-120"/>
              </a:rPr>
              <a:t>2022  Pearce et al. — IEEE S&amp;P</a:t>
            </a:r>
            <a:endParaRPr lang="en-US" sz="850" dirty="0"/>
          </a:p>
        </p:txBody>
      </p:sp>
      <p:sp>
        <p:nvSpPr>
          <p:cNvPr id="13" name="Text 10"/>
          <p:cNvSpPr/>
          <p:nvPr/>
        </p:nvSpPr>
        <p:spPr>
          <a:xfrm>
            <a:off x="4800600" y="2560320"/>
            <a:ext cx="4069080" cy="256032"/>
          </a:xfrm>
          <a:prstGeom prst="rect">
            <a:avLst/>
          </a:prstGeom>
          <a:noFill/>
          <a:ln/>
        </p:spPr>
        <p:txBody>
          <a:bodyPr wrap="square" rtlCol="0" anchor="ctr"/>
          <a:lstStyle/>
          <a:p>
            <a:pPr algn="l" indent="0" marL="0">
              <a:buNone/>
            </a:pPr>
            <a:r>
              <a:rPr lang="en-US" sz="1000" b="1" dirty="0">
                <a:solidFill>
                  <a:srgbClr val="0D0D0D"/>
                </a:solidFill>
                <a:latin typeface="Georgia" pitchFamily="34" charset="0"/>
                <a:ea typeface="Georgia" pitchFamily="34" charset="-122"/>
                <a:cs typeface="Georgia" pitchFamily="34" charset="-120"/>
              </a:rPr>
              <a:t>Examining Zero-Shot Vulnerability Repair with Large Language Models</a:t>
            </a:r>
            <a:endParaRPr lang="en-US" sz="1000" dirty="0"/>
          </a:p>
        </p:txBody>
      </p:sp>
      <p:sp>
        <p:nvSpPr>
          <p:cNvPr id="14" name="Text 11"/>
          <p:cNvSpPr/>
          <p:nvPr/>
        </p:nvSpPr>
        <p:spPr>
          <a:xfrm>
            <a:off x="4800600" y="2834640"/>
            <a:ext cx="4069080" cy="274320"/>
          </a:xfrm>
          <a:prstGeom prst="rect">
            <a:avLst/>
          </a:prstGeom>
          <a:noFill/>
          <a:ln/>
        </p:spPr>
        <p:txBody>
          <a:bodyPr wrap="square" rtlCol="0" anchor="ctr"/>
          <a:lstStyle/>
          <a:p>
            <a:pPr algn="l" indent="0" marL="0">
              <a:buNone/>
            </a:pPr>
            <a:r>
              <a:rPr lang="en-US" sz="880" dirty="0">
                <a:solidFill>
                  <a:srgbClr val="888888"/>
                </a:solidFill>
                <a:latin typeface="Calibri" pitchFamily="34" charset="0"/>
                <a:ea typeface="Calibri" pitchFamily="34" charset="-122"/>
                <a:cs typeface="Calibri" pitchFamily="34" charset="-120"/>
              </a:rPr>
              <a:t>LLMs can propose plausible code fixes for known vulnerability patterns — validates using Claude for remediation guidance.</a:t>
            </a:r>
            <a:endParaRPr lang="en-US" sz="880" dirty="0"/>
          </a:p>
        </p:txBody>
      </p:sp>
      <p:sp>
        <p:nvSpPr>
          <p:cNvPr id="15" name="Shape 12"/>
          <p:cNvSpPr/>
          <p:nvPr/>
        </p:nvSpPr>
        <p:spPr>
          <a:xfrm>
            <a:off x="274320" y="3236976"/>
            <a:ext cx="4251960" cy="859536"/>
          </a:xfrm>
          <a:prstGeom prst="rect">
            <a:avLst/>
          </a:prstGeom>
          <a:solidFill>
            <a:srgbClr val="0D0D0D"/>
          </a:solidFill>
          <a:ln w="12700">
            <a:solidFill>
              <a:srgbClr val="0D0D0D"/>
            </a:solidFill>
            <a:prstDash val="solid"/>
          </a:ln>
        </p:spPr>
      </p:sp>
      <p:sp>
        <p:nvSpPr>
          <p:cNvPr id="16" name="Text 13"/>
          <p:cNvSpPr/>
          <p:nvPr/>
        </p:nvSpPr>
        <p:spPr>
          <a:xfrm>
            <a:off x="365760" y="3291840"/>
            <a:ext cx="4069080" cy="201168"/>
          </a:xfrm>
          <a:prstGeom prst="rect">
            <a:avLst/>
          </a:prstGeom>
          <a:noFill/>
          <a:ln/>
        </p:spPr>
        <p:txBody>
          <a:bodyPr wrap="square" rtlCol="0" anchor="ctr"/>
          <a:lstStyle/>
          <a:p>
            <a:pPr algn="l" indent="0" marL="0">
              <a:buNone/>
            </a:pPr>
            <a:r>
              <a:rPr lang="en-US" sz="850" b="1" dirty="0">
                <a:solidFill>
                  <a:srgbClr val="888888"/>
                </a:solidFill>
                <a:latin typeface="Calibri" pitchFamily="34" charset="0"/>
                <a:ea typeface="Calibri" pitchFamily="34" charset="-122"/>
                <a:cs typeface="Calibri" pitchFamily="34" charset="-120"/>
              </a:rPr>
              <a:t>2023  David et al. — arXiv 2023</a:t>
            </a:r>
            <a:endParaRPr lang="en-US" sz="850" dirty="0"/>
          </a:p>
        </p:txBody>
      </p:sp>
      <p:sp>
        <p:nvSpPr>
          <p:cNvPr id="17" name="Text 14"/>
          <p:cNvSpPr/>
          <p:nvPr/>
        </p:nvSpPr>
        <p:spPr>
          <a:xfrm>
            <a:off x="365760" y="3493008"/>
            <a:ext cx="4069080" cy="256032"/>
          </a:xfrm>
          <a:prstGeom prst="rect">
            <a:avLst/>
          </a:prstGeom>
          <a:noFill/>
          <a:ln/>
        </p:spPr>
        <p:txBody>
          <a:bodyPr wrap="square" rtlCol="0" anchor="ctr"/>
          <a:lstStyle/>
          <a:p>
            <a:pPr algn="l" indent="0" marL="0">
              <a:buNone/>
            </a:pPr>
            <a:r>
              <a:rPr lang="en-US" sz="1000" b="1" dirty="0">
                <a:solidFill>
                  <a:srgbClr val="FFFFFF"/>
                </a:solidFill>
                <a:latin typeface="Georgia" pitchFamily="34" charset="0"/>
                <a:ea typeface="Georgia" pitchFamily="34" charset="-122"/>
                <a:cs typeface="Georgia" pitchFamily="34" charset="-120"/>
              </a:rPr>
              <a:t>Do You Still Need a Manual Smart Contract Audit?</a:t>
            </a:r>
            <a:endParaRPr lang="en-US" sz="1000" dirty="0"/>
          </a:p>
        </p:txBody>
      </p:sp>
      <p:sp>
        <p:nvSpPr>
          <p:cNvPr id="18" name="Text 15"/>
          <p:cNvSpPr/>
          <p:nvPr/>
        </p:nvSpPr>
        <p:spPr>
          <a:xfrm>
            <a:off x="365760" y="3767328"/>
            <a:ext cx="4069080" cy="274320"/>
          </a:xfrm>
          <a:prstGeom prst="rect">
            <a:avLst/>
          </a:prstGeom>
          <a:noFill/>
          <a:ln/>
        </p:spPr>
        <p:txBody>
          <a:bodyPr wrap="square" rtlCol="0" anchor="ctr"/>
          <a:lstStyle/>
          <a:p>
            <a:pPr algn="l" indent="0" marL="0">
              <a:buNone/>
            </a:pPr>
            <a:r>
              <a:rPr lang="en-US" sz="880" dirty="0">
                <a:solidFill>
                  <a:srgbClr val="CCCCCC"/>
                </a:solidFill>
                <a:latin typeface="Calibri" pitchFamily="34" charset="0"/>
                <a:ea typeface="Calibri" pitchFamily="34" charset="-122"/>
                <a:cs typeface="Calibri" pitchFamily="34" charset="-120"/>
              </a:rPr>
              <a:t>LLM-only approaches hallucinate and miss complex exploits — combining with static analysis is essential for accuracy.</a:t>
            </a:r>
            <a:endParaRPr lang="en-US" sz="880" dirty="0"/>
          </a:p>
        </p:txBody>
      </p:sp>
      <p:sp>
        <p:nvSpPr>
          <p:cNvPr id="19" name="Shape 16"/>
          <p:cNvSpPr/>
          <p:nvPr/>
        </p:nvSpPr>
        <p:spPr>
          <a:xfrm>
            <a:off x="4709160" y="3236976"/>
            <a:ext cx="4251960" cy="859536"/>
          </a:xfrm>
          <a:prstGeom prst="rect">
            <a:avLst/>
          </a:prstGeom>
          <a:solidFill>
            <a:srgbClr val="F0F0F0"/>
          </a:solidFill>
          <a:ln w="12700">
            <a:solidFill>
              <a:srgbClr val="0D0D0D"/>
            </a:solidFill>
            <a:prstDash val="solid"/>
          </a:ln>
        </p:spPr>
      </p:sp>
      <p:sp>
        <p:nvSpPr>
          <p:cNvPr id="20" name="Text 17"/>
          <p:cNvSpPr/>
          <p:nvPr/>
        </p:nvSpPr>
        <p:spPr>
          <a:xfrm>
            <a:off x="4800600" y="3291840"/>
            <a:ext cx="4069080" cy="201168"/>
          </a:xfrm>
          <a:prstGeom prst="rect">
            <a:avLst/>
          </a:prstGeom>
          <a:noFill/>
          <a:ln/>
        </p:spPr>
        <p:txBody>
          <a:bodyPr wrap="square" rtlCol="0" anchor="ctr"/>
          <a:lstStyle/>
          <a:p>
            <a:pPr algn="l" indent="0" marL="0">
              <a:buNone/>
            </a:pPr>
            <a:r>
              <a:rPr lang="en-US" sz="850" b="1" dirty="0">
                <a:solidFill>
                  <a:srgbClr val="888888"/>
                </a:solidFill>
                <a:latin typeface="Calibri" pitchFamily="34" charset="0"/>
                <a:ea typeface="Calibri" pitchFamily="34" charset="-122"/>
                <a:cs typeface="Calibri" pitchFamily="34" charset="-120"/>
              </a:rPr>
              <a:t>2023  Sun et al. — arXiv 2023</a:t>
            </a:r>
            <a:endParaRPr lang="en-US" sz="850" dirty="0"/>
          </a:p>
        </p:txBody>
      </p:sp>
      <p:sp>
        <p:nvSpPr>
          <p:cNvPr id="21" name="Text 18"/>
          <p:cNvSpPr/>
          <p:nvPr/>
        </p:nvSpPr>
        <p:spPr>
          <a:xfrm>
            <a:off x="4800600" y="3493008"/>
            <a:ext cx="4069080" cy="256032"/>
          </a:xfrm>
          <a:prstGeom prst="rect">
            <a:avLst/>
          </a:prstGeom>
          <a:noFill/>
          <a:ln/>
        </p:spPr>
        <p:txBody>
          <a:bodyPr wrap="square" rtlCol="0" anchor="ctr"/>
          <a:lstStyle/>
          <a:p>
            <a:pPr algn="l" indent="0" marL="0">
              <a:buNone/>
            </a:pPr>
            <a:r>
              <a:rPr lang="en-US" sz="1000" b="1" dirty="0">
                <a:solidFill>
                  <a:srgbClr val="0D0D0D"/>
                </a:solidFill>
                <a:latin typeface="Georgia" pitchFamily="34" charset="0"/>
                <a:ea typeface="Georgia" pitchFamily="34" charset="-122"/>
                <a:cs typeface="Georgia" pitchFamily="34" charset="-120"/>
              </a:rPr>
              <a:t>GPTScan: Detecting Logic Vulnerabilities via GPT + Program Analysis</a:t>
            </a:r>
            <a:endParaRPr lang="en-US" sz="1000" dirty="0"/>
          </a:p>
        </p:txBody>
      </p:sp>
      <p:sp>
        <p:nvSpPr>
          <p:cNvPr id="22" name="Text 19"/>
          <p:cNvSpPr/>
          <p:nvPr/>
        </p:nvSpPr>
        <p:spPr>
          <a:xfrm>
            <a:off x="4800600" y="3767328"/>
            <a:ext cx="4069080" cy="274320"/>
          </a:xfrm>
          <a:prstGeom prst="rect">
            <a:avLst/>
          </a:prstGeom>
          <a:noFill/>
          <a:ln/>
        </p:spPr>
        <p:txBody>
          <a:bodyPr wrap="square" rtlCol="0" anchor="ctr"/>
          <a:lstStyle/>
          <a:p>
            <a:pPr algn="l" indent="0" marL="0">
              <a:buNone/>
            </a:pPr>
            <a:r>
              <a:rPr lang="en-US" sz="880" dirty="0">
                <a:solidFill>
                  <a:srgbClr val="888888"/>
                </a:solidFill>
                <a:latin typeface="Calibri" pitchFamily="34" charset="0"/>
                <a:ea typeface="Calibri" pitchFamily="34" charset="-122"/>
                <a:cs typeface="Calibri" pitchFamily="34" charset="-120"/>
              </a:rPr>
              <a:t>Hybrid static + GPT outperforms either alone — directly validates the AuditAI pipeline architecture.</a:t>
            </a:r>
            <a:endParaRPr lang="en-US" sz="880" dirty="0"/>
          </a:p>
        </p:txBody>
      </p:sp>
      <p:sp>
        <p:nvSpPr>
          <p:cNvPr id="23" name="Shape 20"/>
          <p:cNvSpPr/>
          <p:nvPr/>
        </p:nvSpPr>
        <p:spPr>
          <a:xfrm>
            <a:off x="274320" y="4169664"/>
            <a:ext cx="4251960" cy="859536"/>
          </a:xfrm>
          <a:prstGeom prst="rect">
            <a:avLst/>
          </a:prstGeom>
          <a:solidFill>
            <a:srgbClr val="0D0D0D"/>
          </a:solidFill>
          <a:ln w="12700">
            <a:solidFill>
              <a:srgbClr val="0D0D0D"/>
            </a:solidFill>
            <a:prstDash val="solid"/>
          </a:ln>
        </p:spPr>
      </p:sp>
      <p:sp>
        <p:nvSpPr>
          <p:cNvPr id="24" name="Text 21"/>
          <p:cNvSpPr/>
          <p:nvPr/>
        </p:nvSpPr>
        <p:spPr>
          <a:xfrm>
            <a:off x="365760" y="4224528"/>
            <a:ext cx="4069080" cy="201168"/>
          </a:xfrm>
          <a:prstGeom prst="rect">
            <a:avLst/>
          </a:prstGeom>
          <a:noFill/>
          <a:ln/>
        </p:spPr>
        <p:txBody>
          <a:bodyPr wrap="square" rtlCol="0" anchor="ctr"/>
          <a:lstStyle/>
          <a:p>
            <a:pPr algn="l" indent="0" marL="0">
              <a:buNone/>
            </a:pPr>
            <a:r>
              <a:rPr lang="en-US" sz="850" b="1" dirty="0">
                <a:solidFill>
                  <a:srgbClr val="888888"/>
                </a:solidFill>
                <a:latin typeface="Calibri" pitchFamily="34" charset="0"/>
                <a:ea typeface="Calibri" pitchFamily="34" charset="-122"/>
                <a:cs typeface="Calibri" pitchFamily="34" charset="-120"/>
              </a:rPr>
              <a:t>2024  Ni et al. — Anthropic</a:t>
            </a:r>
            <a:endParaRPr lang="en-US" sz="850" dirty="0"/>
          </a:p>
        </p:txBody>
      </p:sp>
      <p:sp>
        <p:nvSpPr>
          <p:cNvPr id="25" name="Text 22"/>
          <p:cNvSpPr/>
          <p:nvPr/>
        </p:nvSpPr>
        <p:spPr>
          <a:xfrm>
            <a:off x="365760" y="4425696"/>
            <a:ext cx="4069080" cy="256032"/>
          </a:xfrm>
          <a:prstGeom prst="rect">
            <a:avLst/>
          </a:prstGeom>
          <a:noFill/>
          <a:ln/>
        </p:spPr>
        <p:txBody>
          <a:bodyPr wrap="square" rtlCol="0" anchor="ctr"/>
          <a:lstStyle/>
          <a:p>
            <a:pPr algn="l" indent="0" marL="0">
              <a:buNone/>
            </a:pPr>
            <a:r>
              <a:rPr lang="en-US" sz="1000" b="1" dirty="0">
                <a:solidFill>
                  <a:srgbClr val="FFFFFF"/>
                </a:solidFill>
                <a:latin typeface="Georgia" pitchFamily="34" charset="0"/>
                <a:ea typeface="Georgia" pitchFamily="34" charset="-122"/>
                <a:cs typeface="Georgia" pitchFamily="34" charset="-120"/>
              </a:rPr>
              <a:t>Best Practices for Prompt Engineering with Large Language Models</a:t>
            </a:r>
            <a:endParaRPr lang="en-US" sz="1000" dirty="0"/>
          </a:p>
        </p:txBody>
      </p:sp>
      <p:sp>
        <p:nvSpPr>
          <p:cNvPr id="26" name="Text 23"/>
          <p:cNvSpPr/>
          <p:nvPr/>
        </p:nvSpPr>
        <p:spPr>
          <a:xfrm>
            <a:off x="365760" y="4700016"/>
            <a:ext cx="4069080" cy="274320"/>
          </a:xfrm>
          <a:prstGeom prst="rect">
            <a:avLst/>
          </a:prstGeom>
          <a:noFill/>
          <a:ln/>
        </p:spPr>
        <p:txBody>
          <a:bodyPr wrap="square" rtlCol="0" anchor="ctr"/>
          <a:lstStyle/>
          <a:p>
            <a:pPr algn="l" indent="0" marL="0">
              <a:buNone/>
            </a:pPr>
            <a:r>
              <a:rPr lang="en-US" sz="880" dirty="0">
                <a:solidFill>
                  <a:srgbClr val="CCCCCC"/>
                </a:solidFill>
                <a:latin typeface="Calibri" pitchFamily="34" charset="0"/>
                <a:ea typeface="Calibri" pitchFamily="34" charset="-122"/>
                <a:cs typeface="Calibri" pitchFamily="34" charset="-120"/>
              </a:rPr>
              <a:t>Chain-of-thought and structured output prompting improves accuracy on technical tasks — used in AuditAI's prompt design.</a:t>
            </a:r>
            <a:endParaRPr lang="en-US" sz="880" dirty="0"/>
          </a:p>
        </p:txBody>
      </p:sp>
      <p:sp>
        <p:nvSpPr>
          <p:cNvPr id="27" name="Shape 24"/>
          <p:cNvSpPr/>
          <p:nvPr/>
        </p:nvSpPr>
        <p:spPr>
          <a:xfrm>
            <a:off x="4709160" y="4169664"/>
            <a:ext cx="4251960" cy="859536"/>
          </a:xfrm>
          <a:prstGeom prst="rect">
            <a:avLst/>
          </a:prstGeom>
          <a:solidFill>
            <a:srgbClr val="F0F0F0"/>
          </a:solidFill>
          <a:ln w="12700">
            <a:solidFill>
              <a:srgbClr val="0D0D0D"/>
            </a:solidFill>
            <a:prstDash val="solid"/>
          </a:ln>
        </p:spPr>
      </p:sp>
      <p:sp>
        <p:nvSpPr>
          <p:cNvPr id="28" name="Text 25"/>
          <p:cNvSpPr/>
          <p:nvPr/>
        </p:nvSpPr>
        <p:spPr>
          <a:xfrm>
            <a:off x="4800600" y="4224528"/>
            <a:ext cx="4069080" cy="201168"/>
          </a:xfrm>
          <a:prstGeom prst="rect">
            <a:avLst/>
          </a:prstGeom>
          <a:noFill/>
          <a:ln/>
        </p:spPr>
        <p:txBody>
          <a:bodyPr wrap="square" rtlCol="0" anchor="ctr"/>
          <a:lstStyle/>
          <a:p>
            <a:pPr algn="l" indent="0" marL="0">
              <a:buNone/>
            </a:pPr>
            <a:r>
              <a:rPr lang="en-US" sz="850" b="1" dirty="0">
                <a:solidFill>
                  <a:srgbClr val="888888"/>
                </a:solidFill>
                <a:latin typeface="Calibri" pitchFamily="34" charset="0"/>
                <a:ea typeface="Calibri" pitchFamily="34" charset="-122"/>
                <a:cs typeface="Calibri" pitchFamily="34" charset="-120"/>
              </a:rPr>
              <a:t>2024  Chen et al. — TOSEM 2024</a:t>
            </a:r>
            <a:endParaRPr lang="en-US" sz="850" dirty="0"/>
          </a:p>
        </p:txBody>
      </p:sp>
      <p:sp>
        <p:nvSpPr>
          <p:cNvPr id="29" name="Text 26"/>
          <p:cNvSpPr/>
          <p:nvPr/>
        </p:nvSpPr>
        <p:spPr>
          <a:xfrm>
            <a:off x="4800600" y="4425696"/>
            <a:ext cx="4069080" cy="256032"/>
          </a:xfrm>
          <a:prstGeom prst="rect">
            <a:avLst/>
          </a:prstGeom>
          <a:noFill/>
          <a:ln/>
        </p:spPr>
        <p:txBody>
          <a:bodyPr wrap="square" rtlCol="0" anchor="ctr"/>
          <a:lstStyle/>
          <a:p>
            <a:pPr algn="l" indent="0" marL="0">
              <a:buNone/>
            </a:pPr>
            <a:r>
              <a:rPr lang="en-US" sz="1000" b="1" dirty="0">
                <a:solidFill>
                  <a:srgbClr val="0D0D0D"/>
                </a:solidFill>
                <a:latin typeface="Georgia" pitchFamily="34" charset="0"/>
                <a:ea typeface="Georgia" pitchFamily="34" charset="-122"/>
                <a:cs typeface="Georgia" pitchFamily="34" charset="-120"/>
              </a:rPr>
              <a:t>LLMs for Smart Contract Auditing: A Systematic Study</a:t>
            </a:r>
            <a:endParaRPr lang="en-US" sz="1000" dirty="0"/>
          </a:p>
        </p:txBody>
      </p:sp>
      <p:sp>
        <p:nvSpPr>
          <p:cNvPr id="30" name="Text 27"/>
          <p:cNvSpPr/>
          <p:nvPr/>
        </p:nvSpPr>
        <p:spPr>
          <a:xfrm>
            <a:off x="4800600" y="4700016"/>
            <a:ext cx="4069080" cy="274320"/>
          </a:xfrm>
          <a:prstGeom prst="rect">
            <a:avLst/>
          </a:prstGeom>
          <a:noFill/>
          <a:ln/>
        </p:spPr>
        <p:txBody>
          <a:bodyPr wrap="square" rtlCol="0" anchor="ctr"/>
          <a:lstStyle/>
          <a:p>
            <a:pPr algn="l" indent="0" marL="0">
              <a:buNone/>
            </a:pPr>
            <a:r>
              <a:rPr lang="en-US" sz="880" dirty="0">
                <a:solidFill>
                  <a:srgbClr val="888888"/>
                </a:solidFill>
                <a:latin typeface="Calibri" pitchFamily="34" charset="0"/>
                <a:ea typeface="Calibri" pitchFamily="34" charset="-122"/>
                <a:cs typeface="Calibri" pitchFamily="34" charset="-120"/>
              </a:rPr>
              <a:t>LLMs peak accuracy when grounded with static analysis context — confirms AuditAI's core architectural decision.</a:t>
            </a:r>
            <a:endParaRPr lang="en-US" sz="8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IDENTIFIED RESEARCH GAP</a:t>
            </a:r>
            <a:endParaRPr lang="en-US" sz="1500" dirty="0"/>
          </a:p>
        </p:txBody>
      </p:sp>
      <p:sp>
        <p:nvSpPr>
          <p:cNvPr id="4" name="Shape 2"/>
          <p:cNvSpPr/>
          <p:nvPr/>
        </p:nvSpPr>
        <p:spPr>
          <a:xfrm>
            <a:off x="274320" y="777240"/>
            <a:ext cx="8595360" cy="402336"/>
          </a:xfrm>
          <a:prstGeom prst="rect">
            <a:avLst/>
          </a:prstGeom>
          <a:solidFill>
            <a:srgbClr val="1A1A1A"/>
          </a:solidFill>
          <a:ln w="12700">
            <a:solidFill>
              <a:srgbClr val="444444"/>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AAAAAA"/>
                </a:solidFill>
                <a:latin typeface="Calibri" pitchFamily="34" charset="0"/>
                <a:ea typeface="Calibri" pitchFamily="34" charset="-122"/>
                <a:cs typeface="Calibri" pitchFamily="34" charset="-120"/>
              </a:rPr>
              <a:t>What the existing literature has not produced — and why AuditAI addresses it.</a:t>
            </a:r>
            <a:endParaRPr lang="en-US" sz="1000" dirty="0"/>
          </a:p>
        </p:txBody>
      </p:sp>
      <p:sp>
        <p:nvSpPr>
          <p:cNvPr id="6" name="Shape 4"/>
          <p:cNvSpPr/>
          <p:nvPr/>
        </p:nvSpPr>
        <p:spPr>
          <a:xfrm>
            <a:off x="274320" y="1261872"/>
            <a:ext cx="8595360" cy="777240"/>
          </a:xfrm>
          <a:prstGeom prst="rect">
            <a:avLst/>
          </a:prstGeom>
          <a:solidFill>
            <a:srgbClr val="1A1A1A"/>
          </a:solidFill>
          <a:ln w="12700">
            <a:solidFill>
              <a:srgbClr val="444444"/>
            </a:solidFill>
            <a:prstDash val="solid"/>
          </a:ln>
        </p:spPr>
      </p:sp>
      <p:sp>
        <p:nvSpPr>
          <p:cNvPr id="7" name="Text 5"/>
          <p:cNvSpPr/>
          <p:nvPr/>
        </p:nvSpPr>
        <p:spPr>
          <a:xfrm>
            <a:off x="457200" y="1289304"/>
            <a:ext cx="8229600" cy="7315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The existing literature focuses on detection accuracy as the primary metric. No published end-to-end system combines current static analysis tooling with a state-of-the-art instruction-following LLM for the express purpose of generating accessible developer-facing audit reports — and evaluates report quality as a primary metric alongside detection.</a:t>
            </a:r>
            <a:endParaRPr lang="en-US" sz="1200" dirty="0"/>
          </a:p>
        </p:txBody>
      </p:sp>
      <p:sp>
        <p:nvSpPr>
          <p:cNvPr id="8" name="Shape 6"/>
          <p:cNvSpPr/>
          <p:nvPr/>
        </p:nvSpPr>
        <p:spPr>
          <a:xfrm>
            <a:off x="274320" y="2148840"/>
            <a:ext cx="2834640" cy="2834640"/>
          </a:xfrm>
          <a:prstGeom prst="rect">
            <a:avLst/>
          </a:prstGeom>
          <a:solidFill>
            <a:srgbClr val="111111"/>
          </a:solidFill>
          <a:ln w="19050">
            <a:solidFill>
              <a:srgbClr val="444444"/>
            </a:solidFill>
            <a:prstDash val="solid"/>
          </a:ln>
        </p:spPr>
      </p:sp>
      <p:sp>
        <p:nvSpPr>
          <p:cNvPr id="9" name="Shape 7"/>
          <p:cNvSpPr/>
          <p:nvPr/>
        </p:nvSpPr>
        <p:spPr>
          <a:xfrm>
            <a:off x="274320" y="2148840"/>
            <a:ext cx="2834640" cy="402336"/>
          </a:xfrm>
          <a:prstGeom prst="rect">
            <a:avLst/>
          </a:prstGeom>
          <a:solidFill>
            <a:srgbClr val="222222"/>
          </a:solidFill>
          <a:ln w="12700">
            <a:solidFill>
              <a:srgbClr val="222222"/>
            </a:solidFill>
            <a:prstDash val="solid"/>
          </a:ln>
        </p:spPr>
      </p:sp>
      <p:sp>
        <p:nvSpPr>
          <p:cNvPr id="10" name="Text 8"/>
          <p:cNvSpPr/>
          <p:nvPr/>
        </p:nvSpPr>
        <p:spPr>
          <a:xfrm>
            <a:off x="274320" y="2148840"/>
            <a:ext cx="2834640" cy="402336"/>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Gap 1: Usability Ignored</a:t>
            </a:r>
            <a:endParaRPr lang="en-US" sz="1100" dirty="0"/>
          </a:p>
        </p:txBody>
      </p:sp>
      <p:sp>
        <p:nvSpPr>
          <p:cNvPr id="11" name="Text 9"/>
          <p:cNvSpPr/>
          <p:nvPr/>
        </p:nvSpPr>
        <p:spPr>
          <a:xfrm>
            <a:off x="365760" y="2596896"/>
            <a:ext cx="2670048" cy="2331720"/>
          </a:xfrm>
          <a:prstGeom prst="rect">
            <a:avLst/>
          </a:prstGeom>
          <a:noFill/>
          <a:ln/>
        </p:spPr>
        <p:txBody>
          <a:bodyPr wrap="square" rtlCol="0" anchor="t"/>
          <a:lstStyle/>
          <a:p>
            <a:pPr algn="l" indent="0" marL="0">
              <a:buNone/>
            </a:pPr>
            <a:r>
              <a:rPr lang="en-US" sz="950" dirty="0">
                <a:solidFill>
                  <a:srgbClr val="CCCCCC"/>
                </a:solidFill>
                <a:latin typeface="Calibri" pitchFamily="34" charset="0"/>
                <a:ea typeface="Calibri" pitchFamily="34" charset="-122"/>
                <a:cs typeface="Calibri" pitchFamily="34" charset="-120"/>
              </a:rPr>
              <a:t>All prior evaluation frameworks measure precision, recall, and F1 on detection. None measure whether developers can actually understand and act on the output — which is the gap that causes vulnerable contracts to be deployed despite tool warnings.</a:t>
            </a:r>
            <a:endParaRPr lang="en-US" sz="950" dirty="0"/>
          </a:p>
        </p:txBody>
      </p:sp>
      <p:sp>
        <p:nvSpPr>
          <p:cNvPr id="12" name="Shape 10"/>
          <p:cNvSpPr/>
          <p:nvPr/>
        </p:nvSpPr>
        <p:spPr>
          <a:xfrm>
            <a:off x="3246120" y="2148840"/>
            <a:ext cx="2834640" cy="2834640"/>
          </a:xfrm>
          <a:prstGeom prst="rect">
            <a:avLst/>
          </a:prstGeom>
          <a:solidFill>
            <a:srgbClr val="1A1A1A"/>
          </a:solidFill>
          <a:ln w="19050">
            <a:solidFill>
              <a:srgbClr val="444444"/>
            </a:solidFill>
            <a:prstDash val="solid"/>
          </a:ln>
        </p:spPr>
      </p:sp>
      <p:sp>
        <p:nvSpPr>
          <p:cNvPr id="13" name="Shape 11"/>
          <p:cNvSpPr/>
          <p:nvPr/>
        </p:nvSpPr>
        <p:spPr>
          <a:xfrm>
            <a:off x="3246120" y="2148840"/>
            <a:ext cx="2834640" cy="402336"/>
          </a:xfrm>
          <a:prstGeom prst="rect">
            <a:avLst/>
          </a:prstGeom>
          <a:solidFill>
            <a:srgbClr val="222222"/>
          </a:solidFill>
          <a:ln w="12700">
            <a:solidFill>
              <a:srgbClr val="222222"/>
            </a:solidFill>
            <a:prstDash val="solid"/>
          </a:ln>
        </p:spPr>
      </p:sp>
      <p:sp>
        <p:nvSpPr>
          <p:cNvPr id="14" name="Text 12"/>
          <p:cNvSpPr/>
          <p:nvPr/>
        </p:nvSpPr>
        <p:spPr>
          <a:xfrm>
            <a:off x="3246120" y="2148840"/>
            <a:ext cx="2834640" cy="402336"/>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Gap 2: No End-to-End Pipeline</a:t>
            </a:r>
            <a:endParaRPr lang="en-US" sz="1100" dirty="0"/>
          </a:p>
        </p:txBody>
      </p:sp>
      <p:sp>
        <p:nvSpPr>
          <p:cNvPr id="15" name="Text 13"/>
          <p:cNvSpPr/>
          <p:nvPr/>
        </p:nvSpPr>
        <p:spPr>
          <a:xfrm>
            <a:off x="3337560" y="2596896"/>
            <a:ext cx="2670048" cy="2331720"/>
          </a:xfrm>
          <a:prstGeom prst="rect">
            <a:avLst/>
          </a:prstGeom>
          <a:noFill/>
          <a:ln/>
        </p:spPr>
        <p:txBody>
          <a:bodyPr wrap="square" rtlCol="0" anchor="t"/>
          <a:lstStyle/>
          <a:p>
            <a:pPr algn="l" indent="0" marL="0">
              <a:buNone/>
            </a:pPr>
            <a:r>
              <a:rPr lang="en-US" sz="950" dirty="0">
                <a:solidFill>
                  <a:srgbClr val="CCCCCC"/>
                </a:solidFill>
                <a:latin typeface="Calibri" pitchFamily="34" charset="0"/>
                <a:ea typeface="Calibri" pitchFamily="34" charset="-122"/>
                <a:cs typeface="Calibri" pitchFamily="34" charset="-120"/>
              </a:rPr>
              <a:t>David et al. evaluate LLM-only auditing. Sun et al. evaluate a hybrid approach for logic bugs. Neither produces an end-to-end system from file upload to formatted PDF report that a non-specialist developer can actually use without installing anything.</a:t>
            </a:r>
            <a:endParaRPr lang="en-US" sz="950" dirty="0"/>
          </a:p>
        </p:txBody>
      </p:sp>
      <p:sp>
        <p:nvSpPr>
          <p:cNvPr id="16" name="Shape 14"/>
          <p:cNvSpPr/>
          <p:nvPr/>
        </p:nvSpPr>
        <p:spPr>
          <a:xfrm>
            <a:off x="6217920" y="2148840"/>
            <a:ext cx="2834640" cy="2834640"/>
          </a:xfrm>
          <a:prstGeom prst="rect">
            <a:avLst/>
          </a:prstGeom>
          <a:solidFill>
            <a:srgbClr val="111111"/>
          </a:solidFill>
          <a:ln w="19050">
            <a:solidFill>
              <a:srgbClr val="444444"/>
            </a:solidFill>
            <a:prstDash val="solid"/>
          </a:ln>
        </p:spPr>
      </p:sp>
      <p:sp>
        <p:nvSpPr>
          <p:cNvPr id="17" name="Shape 15"/>
          <p:cNvSpPr/>
          <p:nvPr/>
        </p:nvSpPr>
        <p:spPr>
          <a:xfrm>
            <a:off x="6217920" y="2148840"/>
            <a:ext cx="2834640" cy="402336"/>
          </a:xfrm>
          <a:prstGeom prst="rect">
            <a:avLst/>
          </a:prstGeom>
          <a:solidFill>
            <a:srgbClr val="222222"/>
          </a:solidFill>
          <a:ln w="12700">
            <a:solidFill>
              <a:srgbClr val="222222"/>
            </a:solidFill>
            <a:prstDash val="solid"/>
          </a:ln>
        </p:spPr>
      </p:sp>
      <p:sp>
        <p:nvSpPr>
          <p:cNvPr id="18" name="Text 16"/>
          <p:cNvSpPr/>
          <p:nvPr/>
        </p:nvSpPr>
        <p:spPr>
          <a:xfrm>
            <a:off x="6217920" y="2148840"/>
            <a:ext cx="2834640" cy="402336"/>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Gap 3: No LLM Report Quality Study</a:t>
            </a:r>
            <a:endParaRPr lang="en-US" sz="1100" dirty="0"/>
          </a:p>
        </p:txBody>
      </p:sp>
      <p:sp>
        <p:nvSpPr>
          <p:cNvPr id="19" name="Text 17"/>
          <p:cNvSpPr/>
          <p:nvPr/>
        </p:nvSpPr>
        <p:spPr>
          <a:xfrm>
            <a:off x="6309360" y="2596896"/>
            <a:ext cx="2670048" cy="2331720"/>
          </a:xfrm>
          <a:prstGeom prst="rect">
            <a:avLst/>
          </a:prstGeom>
          <a:noFill/>
          <a:ln/>
        </p:spPr>
        <p:txBody>
          <a:bodyPr wrap="square" rtlCol="0" anchor="t"/>
          <a:lstStyle/>
          <a:p>
            <a:pPr algn="l" indent="0" marL="0">
              <a:buNone/>
            </a:pPr>
            <a:r>
              <a:rPr lang="en-US" sz="950" dirty="0">
                <a:solidFill>
                  <a:srgbClr val="CCCCCC"/>
                </a:solidFill>
                <a:latin typeface="Calibri" pitchFamily="34" charset="0"/>
                <a:ea typeface="Calibri" pitchFamily="34" charset="-122"/>
                <a:cs typeface="Calibri" pitchFamily="34" charset="-120"/>
              </a:rPr>
              <a:t>No published work has evaluated the quality of LLM-generated audit reports as a primary research contribution — using a structured rubric, multiple evaluators, and inter-rater reliability. This study fills that gap directly.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METHODOLOGY — DESIGN SCIENCE RESEARCH</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Research Design: Design Science Research (Hevner et al., 2004) — design, build, and rigorously evaluate an IT artefact that solves a real problem.</a:t>
            </a:r>
            <a:endParaRPr lang="en-US" sz="1000" dirty="0"/>
          </a:p>
        </p:txBody>
      </p:sp>
      <p:sp>
        <p:nvSpPr>
          <p:cNvPr id="6" name="Shape 4"/>
          <p:cNvSpPr/>
          <p:nvPr/>
        </p:nvSpPr>
        <p:spPr>
          <a:xfrm>
            <a:off x="274320" y="1261872"/>
            <a:ext cx="4251960" cy="1325880"/>
          </a:xfrm>
          <a:prstGeom prst="rect">
            <a:avLst/>
          </a:prstGeom>
          <a:solidFill>
            <a:srgbClr val="0D0D0D"/>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274320" y="1261872"/>
            <a:ext cx="502920" cy="1325880"/>
          </a:xfrm>
          <a:prstGeom prst="rect">
            <a:avLst/>
          </a:prstGeom>
          <a:solidFill>
            <a:srgbClr val="0D0D0D"/>
          </a:solidFill>
          <a:ln w="12700">
            <a:solidFill>
              <a:srgbClr val="0D0D0D"/>
            </a:solidFill>
            <a:prstDash val="solid"/>
          </a:ln>
        </p:spPr>
      </p:sp>
      <p:sp>
        <p:nvSpPr>
          <p:cNvPr id="8" name="Text 6"/>
          <p:cNvSpPr/>
          <p:nvPr/>
        </p:nvSpPr>
        <p:spPr>
          <a:xfrm>
            <a:off x="274320" y="1261872"/>
            <a:ext cx="502920" cy="13258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841248" y="1353312"/>
            <a:ext cx="3611880" cy="402336"/>
          </a:xfrm>
          <a:prstGeom prst="rect">
            <a:avLst/>
          </a:prstGeom>
          <a:noFill/>
          <a:ln/>
        </p:spPr>
        <p:txBody>
          <a:bodyPr wrap="square" rtlCol="0" anchor="ctr"/>
          <a:lstStyle/>
          <a:p>
            <a:pPr algn="l" indent="0" marL="0">
              <a:buNone/>
            </a:pPr>
            <a:r>
              <a:rPr lang="en-US" sz="1150" b="1" dirty="0">
                <a:solidFill>
                  <a:srgbClr val="FFFFFF"/>
                </a:solidFill>
                <a:latin typeface="Georgia" pitchFamily="34" charset="0"/>
                <a:ea typeface="Georgia" pitchFamily="34" charset="-122"/>
                <a:cs typeface="Georgia" pitchFamily="34" charset="-120"/>
              </a:rPr>
              <a:t>Literature Review</a:t>
            </a:r>
            <a:endParaRPr lang="en-US" sz="1150" dirty="0"/>
          </a:p>
          <a:p>
            <a:pPr algn="l" indent="0" marL="0">
              <a:buNone/>
            </a:pPr>
            <a:r>
              <a:rPr lang="en-US" sz="1150" b="1" dirty="0">
                <a:solidFill>
                  <a:srgbClr val="FFFFFF"/>
                </a:solidFill>
                <a:latin typeface="Georgia" pitchFamily="34" charset="0"/>
                <a:ea typeface="Georgia" pitchFamily="34" charset="-122"/>
                <a:cs typeface="Georgia" pitchFamily="34" charset="-120"/>
              </a:rPr>
              <a:t>(Weeks 1–3)</a:t>
            </a:r>
            <a:endParaRPr lang="en-US" sz="1150" dirty="0"/>
          </a:p>
        </p:txBody>
      </p:sp>
      <p:sp>
        <p:nvSpPr>
          <p:cNvPr id="10" name="Text 8"/>
          <p:cNvSpPr/>
          <p:nvPr/>
        </p:nvSpPr>
        <p:spPr>
          <a:xfrm>
            <a:off x="841248" y="1764792"/>
            <a:ext cx="3611880" cy="777240"/>
          </a:xfrm>
          <a:prstGeom prst="rect">
            <a:avLst/>
          </a:prstGeom>
          <a:noFill/>
          <a:ln/>
        </p:spPr>
        <p:txBody>
          <a:bodyPr wrap="square" rtlCol="0" anchor="t"/>
          <a:lstStyle/>
          <a:p>
            <a:pPr algn="l" indent="0" marL="0">
              <a:buNone/>
            </a:pPr>
            <a:r>
              <a:rPr lang="en-US" sz="950" dirty="0">
                <a:solidFill>
                  <a:srgbClr val="CCCCCC"/>
                </a:solidFill>
                <a:latin typeface="Calibri" pitchFamily="34" charset="0"/>
                <a:ea typeface="Calibri" pitchFamily="34" charset="-122"/>
                <a:cs typeface="Calibri" pitchFamily="34" charset="-120"/>
              </a:rPr>
              <a:t>Systematic review of SWC vulnerability taxonomy, static analysis tools (Slither, Mythril, Echidna), and prior LLM code security applications. SmartBugs dataset and Ethereum vulnerability corpus review.</a:t>
            </a:r>
            <a:endParaRPr lang="en-US" sz="950" dirty="0"/>
          </a:p>
        </p:txBody>
      </p:sp>
      <p:sp>
        <p:nvSpPr>
          <p:cNvPr id="11" name="Shape 9"/>
          <p:cNvSpPr/>
          <p:nvPr/>
        </p:nvSpPr>
        <p:spPr>
          <a:xfrm>
            <a:off x="4709160" y="1261872"/>
            <a:ext cx="4251960" cy="1325880"/>
          </a:xfrm>
          <a:prstGeom prst="rect">
            <a:avLst/>
          </a:prstGeom>
          <a:solidFill>
            <a:srgbClr val="F0F0F0"/>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12" name="Shape 10"/>
          <p:cNvSpPr/>
          <p:nvPr/>
        </p:nvSpPr>
        <p:spPr>
          <a:xfrm>
            <a:off x="4709160" y="1261872"/>
            <a:ext cx="502920" cy="1325880"/>
          </a:xfrm>
          <a:prstGeom prst="rect">
            <a:avLst/>
          </a:prstGeom>
          <a:solidFill>
            <a:srgbClr val="0D0D0D"/>
          </a:solidFill>
          <a:ln w="12700">
            <a:solidFill>
              <a:srgbClr val="0D0D0D"/>
            </a:solidFill>
            <a:prstDash val="solid"/>
          </a:ln>
        </p:spPr>
      </p:sp>
      <p:sp>
        <p:nvSpPr>
          <p:cNvPr id="13" name="Text 11"/>
          <p:cNvSpPr/>
          <p:nvPr/>
        </p:nvSpPr>
        <p:spPr>
          <a:xfrm>
            <a:off x="4709160" y="1261872"/>
            <a:ext cx="502920" cy="13258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5276088" y="1353312"/>
            <a:ext cx="3611880" cy="402336"/>
          </a:xfrm>
          <a:prstGeom prst="rect">
            <a:avLst/>
          </a:prstGeom>
          <a:noFill/>
          <a:ln/>
        </p:spPr>
        <p:txBody>
          <a:bodyPr wrap="square" rtlCol="0" anchor="ctr"/>
          <a:lstStyle/>
          <a:p>
            <a:pPr algn="l" indent="0" marL="0">
              <a:buNone/>
            </a:pPr>
            <a:r>
              <a:rPr lang="en-US" sz="1150" b="1" dirty="0">
                <a:solidFill>
                  <a:srgbClr val="0D0D0D"/>
                </a:solidFill>
                <a:latin typeface="Georgia" pitchFamily="34" charset="0"/>
                <a:ea typeface="Georgia" pitchFamily="34" charset="-122"/>
                <a:cs typeface="Georgia" pitchFamily="34" charset="-120"/>
              </a:rPr>
              <a:t>System Design</a:t>
            </a:r>
            <a:endParaRPr lang="en-US" sz="1150" dirty="0"/>
          </a:p>
          <a:p>
            <a:pPr algn="l" indent="0" marL="0">
              <a:buNone/>
            </a:pPr>
            <a:r>
              <a:rPr lang="en-US" sz="1150" b="1" dirty="0">
                <a:solidFill>
                  <a:srgbClr val="0D0D0D"/>
                </a:solidFill>
                <a:latin typeface="Georgia" pitchFamily="34" charset="0"/>
                <a:ea typeface="Georgia" pitchFamily="34" charset="-122"/>
                <a:cs typeface="Georgia" pitchFamily="34" charset="-120"/>
              </a:rPr>
              <a:t>(Weeks 4–5)</a:t>
            </a:r>
            <a:endParaRPr lang="en-US" sz="1150" dirty="0"/>
          </a:p>
        </p:txBody>
      </p:sp>
      <p:sp>
        <p:nvSpPr>
          <p:cNvPr id="15" name="Text 13"/>
          <p:cNvSpPr/>
          <p:nvPr/>
        </p:nvSpPr>
        <p:spPr>
          <a:xfrm>
            <a:off x="5276088" y="1764792"/>
            <a:ext cx="3611880" cy="777240"/>
          </a:xfrm>
          <a:prstGeom prst="rect">
            <a:avLst/>
          </a:prstGeom>
          <a:noFill/>
          <a:ln/>
        </p:spPr>
        <p:txBody>
          <a:bodyPr wrap="square" rtlCol="0" anchor="t"/>
          <a:lstStyle/>
          <a:p>
            <a:pPr algn="l" indent="0" marL="0">
              <a:buNone/>
            </a:pPr>
            <a:r>
              <a:rPr lang="en-US" sz="950" dirty="0">
                <a:solidFill>
                  <a:srgbClr val="444444"/>
                </a:solidFill>
                <a:latin typeface="Calibri" pitchFamily="34" charset="0"/>
                <a:ea typeface="Calibri" pitchFamily="34" charset="-122"/>
                <a:cs typeface="Calibri" pitchFamily="34" charset="-120"/>
              </a:rPr>
              <a:t>Five-layer AuditAI pipeline architecture. Prompt engineering strategy for Claude claude-sonnet-4-5. API contract specification. Technology selection and justification.</a:t>
            </a:r>
            <a:endParaRPr lang="en-US" sz="950" dirty="0"/>
          </a:p>
        </p:txBody>
      </p:sp>
      <p:sp>
        <p:nvSpPr>
          <p:cNvPr id="16" name="Shape 14"/>
          <p:cNvSpPr/>
          <p:nvPr/>
        </p:nvSpPr>
        <p:spPr>
          <a:xfrm>
            <a:off x="274320" y="2706624"/>
            <a:ext cx="4251960" cy="1325880"/>
          </a:xfrm>
          <a:prstGeom prst="rect">
            <a:avLst/>
          </a:prstGeom>
          <a:solidFill>
            <a:srgbClr val="F0F0F0"/>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17" name="Shape 15"/>
          <p:cNvSpPr/>
          <p:nvPr/>
        </p:nvSpPr>
        <p:spPr>
          <a:xfrm>
            <a:off x="274320" y="2706624"/>
            <a:ext cx="502920" cy="1325880"/>
          </a:xfrm>
          <a:prstGeom prst="rect">
            <a:avLst/>
          </a:prstGeom>
          <a:solidFill>
            <a:srgbClr val="0D0D0D"/>
          </a:solidFill>
          <a:ln w="12700">
            <a:solidFill>
              <a:srgbClr val="0D0D0D"/>
            </a:solidFill>
            <a:prstDash val="solid"/>
          </a:ln>
        </p:spPr>
      </p:sp>
      <p:sp>
        <p:nvSpPr>
          <p:cNvPr id="18" name="Text 16"/>
          <p:cNvSpPr/>
          <p:nvPr/>
        </p:nvSpPr>
        <p:spPr>
          <a:xfrm>
            <a:off x="274320" y="2706624"/>
            <a:ext cx="502920" cy="13258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841248" y="2798064"/>
            <a:ext cx="3611880" cy="402336"/>
          </a:xfrm>
          <a:prstGeom prst="rect">
            <a:avLst/>
          </a:prstGeom>
          <a:noFill/>
          <a:ln/>
        </p:spPr>
        <p:txBody>
          <a:bodyPr wrap="square" rtlCol="0" anchor="ctr"/>
          <a:lstStyle/>
          <a:p>
            <a:pPr algn="l" indent="0" marL="0">
              <a:buNone/>
            </a:pPr>
            <a:r>
              <a:rPr lang="en-US" sz="1150" b="1" dirty="0">
                <a:solidFill>
                  <a:srgbClr val="0D0D0D"/>
                </a:solidFill>
                <a:latin typeface="Georgia" pitchFamily="34" charset="0"/>
                <a:ea typeface="Georgia" pitchFamily="34" charset="-122"/>
                <a:cs typeface="Georgia" pitchFamily="34" charset="-120"/>
              </a:rPr>
              <a:t>Implementation</a:t>
            </a:r>
            <a:endParaRPr lang="en-US" sz="1150" dirty="0"/>
          </a:p>
          <a:p>
            <a:pPr algn="l" indent="0" marL="0">
              <a:buNone/>
            </a:pPr>
            <a:r>
              <a:rPr lang="en-US" sz="1150" b="1" dirty="0">
                <a:solidFill>
                  <a:srgbClr val="0D0D0D"/>
                </a:solidFill>
                <a:latin typeface="Georgia" pitchFamily="34" charset="0"/>
                <a:ea typeface="Georgia" pitchFamily="34" charset="-122"/>
                <a:cs typeface="Georgia" pitchFamily="34" charset="-120"/>
              </a:rPr>
              <a:t>(Weeks 6–10)</a:t>
            </a:r>
            <a:endParaRPr lang="en-US" sz="1150" dirty="0"/>
          </a:p>
        </p:txBody>
      </p:sp>
      <p:sp>
        <p:nvSpPr>
          <p:cNvPr id="20" name="Text 18"/>
          <p:cNvSpPr/>
          <p:nvPr/>
        </p:nvSpPr>
        <p:spPr>
          <a:xfrm>
            <a:off x="841248" y="3209544"/>
            <a:ext cx="3611880" cy="777240"/>
          </a:xfrm>
          <a:prstGeom prst="rect">
            <a:avLst/>
          </a:prstGeom>
          <a:noFill/>
          <a:ln/>
        </p:spPr>
        <p:txBody>
          <a:bodyPr wrap="square" rtlCol="0" anchor="t"/>
          <a:lstStyle/>
          <a:p>
            <a:pPr algn="l" indent="0" marL="0">
              <a:buNone/>
            </a:pPr>
            <a:r>
              <a:rPr lang="en-US" sz="950" dirty="0">
                <a:solidFill>
                  <a:srgbClr val="444444"/>
                </a:solidFill>
                <a:latin typeface="Calibri" pitchFamily="34" charset="0"/>
                <a:ea typeface="Calibri" pitchFamily="34" charset="-122"/>
                <a:cs typeface="Calibri" pitchFamily="34" charset="-120"/>
              </a:rPr>
              <a:t>Python FastAPI backend. Slither subprocess integration. Claude API reasoning layer. Next.js web frontend. ReportLab PDF generation. Full integration testing on real contracts.</a:t>
            </a:r>
            <a:endParaRPr lang="en-US" sz="950" dirty="0"/>
          </a:p>
        </p:txBody>
      </p:sp>
      <p:sp>
        <p:nvSpPr>
          <p:cNvPr id="21" name="Shape 19"/>
          <p:cNvSpPr/>
          <p:nvPr/>
        </p:nvSpPr>
        <p:spPr>
          <a:xfrm>
            <a:off x="4709160" y="2706624"/>
            <a:ext cx="4251960" cy="1325880"/>
          </a:xfrm>
          <a:prstGeom prst="rect">
            <a:avLst/>
          </a:prstGeom>
          <a:solidFill>
            <a:srgbClr val="0D0D0D"/>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22" name="Shape 20"/>
          <p:cNvSpPr/>
          <p:nvPr/>
        </p:nvSpPr>
        <p:spPr>
          <a:xfrm>
            <a:off x="4709160" y="2706624"/>
            <a:ext cx="502920" cy="1325880"/>
          </a:xfrm>
          <a:prstGeom prst="rect">
            <a:avLst/>
          </a:prstGeom>
          <a:solidFill>
            <a:srgbClr val="0D0D0D"/>
          </a:solidFill>
          <a:ln w="12700">
            <a:solidFill>
              <a:srgbClr val="0D0D0D"/>
            </a:solidFill>
            <a:prstDash val="solid"/>
          </a:ln>
        </p:spPr>
      </p:sp>
      <p:sp>
        <p:nvSpPr>
          <p:cNvPr id="23" name="Text 21"/>
          <p:cNvSpPr/>
          <p:nvPr/>
        </p:nvSpPr>
        <p:spPr>
          <a:xfrm>
            <a:off x="4709160" y="2706624"/>
            <a:ext cx="502920" cy="132588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4" name="Text 22"/>
          <p:cNvSpPr/>
          <p:nvPr/>
        </p:nvSpPr>
        <p:spPr>
          <a:xfrm>
            <a:off x="5276088" y="2798064"/>
            <a:ext cx="3611880" cy="402336"/>
          </a:xfrm>
          <a:prstGeom prst="rect">
            <a:avLst/>
          </a:prstGeom>
          <a:noFill/>
          <a:ln/>
        </p:spPr>
        <p:txBody>
          <a:bodyPr wrap="square" rtlCol="0" anchor="ctr"/>
          <a:lstStyle/>
          <a:p>
            <a:pPr algn="l" indent="0" marL="0">
              <a:buNone/>
            </a:pPr>
            <a:r>
              <a:rPr lang="en-US" sz="1150" b="1" dirty="0">
                <a:solidFill>
                  <a:srgbClr val="FFFFFF"/>
                </a:solidFill>
                <a:latin typeface="Georgia" pitchFamily="34" charset="0"/>
                <a:ea typeface="Georgia" pitchFamily="34" charset="-122"/>
                <a:cs typeface="Georgia" pitchFamily="34" charset="-120"/>
              </a:rPr>
              <a:t>Evaluation</a:t>
            </a:r>
            <a:endParaRPr lang="en-US" sz="1150" dirty="0"/>
          </a:p>
          <a:p>
            <a:pPr algn="l" indent="0" marL="0">
              <a:buNone/>
            </a:pPr>
            <a:r>
              <a:rPr lang="en-US" sz="1150" b="1" dirty="0">
                <a:solidFill>
                  <a:srgbClr val="FFFFFF"/>
                </a:solidFill>
                <a:latin typeface="Georgia" pitchFamily="34" charset="0"/>
                <a:ea typeface="Georgia" pitchFamily="34" charset="-122"/>
                <a:cs typeface="Georgia" pitchFamily="34" charset="-120"/>
              </a:rPr>
              <a:t>(Weeks 11–13)</a:t>
            </a:r>
            <a:endParaRPr lang="en-US" sz="1150" dirty="0"/>
          </a:p>
        </p:txBody>
      </p:sp>
      <p:sp>
        <p:nvSpPr>
          <p:cNvPr id="25" name="Text 23"/>
          <p:cNvSpPr/>
          <p:nvPr/>
        </p:nvSpPr>
        <p:spPr>
          <a:xfrm>
            <a:off x="5276088" y="3209544"/>
            <a:ext cx="3611880" cy="777240"/>
          </a:xfrm>
          <a:prstGeom prst="rect">
            <a:avLst/>
          </a:prstGeom>
          <a:noFill/>
          <a:ln/>
        </p:spPr>
        <p:txBody>
          <a:bodyPr wrap="square" rtlCol="0" anchor="t"/>
          <a:lstStyle/>
          <a:p>
            <a:pPr algn="l" indent="0" marL="0">
              <a:buNone/>
            </a:pPr>
            <a:r>
              <a:rPr lang="en-US" sz="950" dirty="0">
                <a:solidFill>
                  <a:srgbClr val="CCCCCC"/>
                </a:solidFill>
                <a:latin typeface="Calibri" pitchFamily="34" charset="0"/>
                <a:ea typeface="Calibri" pitchFamily="34" charset="-122"/>
                <a:cs typeface="Calibri" pitchFamily="34" charset="-120"/>
              </a:rPr>
              <a:t>SmartBugs 47-contract benchmark evaluation — precision, recall, F1 per class. Three-evaluator report quality study — 5-point Likert rubric, Cohen's kappa.</a:t>
            </a:r>
            <a:endParaRPr lang="en-US" sz="950" dirty="0"/>
          </a:p>
        </p:txBody>
      </p:sp>
      <p:sp>
        <p:nvSpPr>
          <p:cNvPr id="26" name="Shape 24"/>
          <p:cNvSpPr/>
          <p:nvPr/>
        </p:nvSpPr>
        <p:spPr>
          <a:xfrm>
            <a:off x="274320" y="4224528"/>
            <a:ext cx="8595360" cy="786384"/>
          </a:xfrm>
          <a:prstGeom prst="rect">
            <a:avLst/>
          </a:prstGeom>
          <a:solidFill>
            <a:srgbClr val="0D0D0D"/>
          </a:solidFill>
          <a:ln w="12700">
            <a:solidFill>
              <a:srgbClr val="0D0D0D"/>
            </a:solidFill>
            <a:prstDash val="solid"/>
          </a:ln>
        </p:spPr>
      </p:sp>
      <p:sp>
        <p:nvSpPr>
          <p:cNvPr id="27" name="Text 25"/>
          <p:cNvSpPr/>
          <p:nvPr/>
        </p:nvSpPr>
        <p:spPr>
          <a:xfrm>
            <a:off x="438912" y="4279392"/>
            <a:ext cx="1828800" cy="292608"/>
          </a:xfrm>
          <a:prstGeom prst="rect">
            <a:avLst/>
          </a:prstGeom>
          <a:noFill/>
          <a:ln/>
        </p:spPr>
        <p:txBody>
          <a:bodyPr wrap="square" rtlCol="0" anchor="ctr"/>
          <a:lstStyle/>
          <a:p>
            <a:pPr algn="l" indent="0" marL="0">
              <a:buNone/>
            </a:pPr>
            <a:r>
              <a:rPr lang="en-US" sz="1100" b="1" dirty="0">
                <a:solidFill>
                  <a:srgbClr val="FFFFFF"/>
                </a:solidFill>
                <a:latin typeface="Georgia" pitchFamily="34" charset="0"/>
                <a:ea typeface="Georgia" pitchFamily="34" charset="-122"/>
                <a:cs typeface="Georgia" pitchFamily="34" charset="-120"/>
              </a:rPr>
              <a:t>Evaluation Metrics:</a:t>
            </a:r>
            <a:endParaRPr lang="en-US" sz="1100" dirty="0"/>
          </a:p>
        </p:txBody>
      </p:sp>
      <p:sp>
        <p:nvSpPr>
          <p:cNvPr id="28" name="Text 26"/>
          <p:cNvSpPr/>
          <p:nvPr/>
        </p:nvSpPr>
        <p:spPr>
          <a:xfrm>
            <a:off x="365760" y="4315968"/>
            <a:ext cx="2148840" cy="658368"/>
          </a:xfrm>
          <a:prstGeom prst="rect">
            <a:avLst/>
          </a:prstGeom>
          <a:noFill/>
          <a:ln/>
        </p:spPr>
        <p:txBody>
          <a:bodyPr wrap="square" rtlCol="0" anchor="ctr"/>
          <a:lstStyle/>
          <a:p>
            <a:pPr algn="ctr" indent="0" marL="0">
              <a:buNone/>
            </a:pPr>
            <a:r>
              <a:rPr lang="en-US" sz="950" dirty="0">
                <a:solidFill>
                  <a:srgbClr val="CCCCCC"/>
                </a:solidFill>
                <a:latin typeface="Calibri" pitchFamily="34" charset="0"/>
                <a:ea typeface="Calibri" pitchFamily="34" charset="-122"/>
                <a:cs typeface="Calibri" pitchFamily="34" charset="-120"/>
              </a:rPr>
              <a:t>Precision = TP÷(TP+FP)</a:t>
            </a:r>
            <a:endParaRPr lang="en-US" sz="950" dirty="0"/>
          </a:p>
        </p:txBody>
      </p:sp>
      <p:sp>
        <p:nvSpPr>
          <p:cNvPr id="29" name="Shape 27"/>
          <p:cNvSpPr/>
          <p:nvPr/>
        </p:nvSpPr>
        <p:spPr>
          <a:xfrm>
            <a:off x="2560320" y="4352544"/>
            <a:ext cx="27432" cy="566928"/>
          </a:xfrm>
          <a:prstGeom prst="rect">
            <a:avLst/>
          </a:prstGeom>
          <a:solidFill>
            <a:srgbClr val="444444"/>
          </a:solidFill>
          <a:ln w="12700">
            <a:solidFill>
              <a:srgbClr val="444444"/>
            </a:solidFill>
            <a:prstDash val="solid"/>
          </a:ln>
        </p:spPr>
      </p:sp>
      <p:sp>
        <p:nvSpPr>
          <p:cNvPr id="30" name="Text 28"/>
          <p:cNvSpPr/>
          <p:nvPr/>
        </p:nvSpPr>
        <p:spPr>
          <a:xfrm>
            <a:off x="2578608" y="4315968"/>
            <a:ext cx="2148840" cy="658368"/>
          </a:xfrm>
          <a:prstGeom prst="rect">
            <a:avLst/>
          </a:prstGeom>
          <a:noFill/>
          <a:ln/>
        </p:spPr>
        <p:txBody>
          <a:bodyPr wrap="square" rtlCol="0" anchor="ctr"/>
          <a:lstStyle/>
          <a:p>
            <a:pPr algn="ctr" indent="0" marL="0">
              <a:buNone/>
            </a:pPr>
            <a:r>
              <a:rPr lang="en-US" sz="950" dirty="0">
                <a:solidFill>
                  <a:srgbClr val="CCCCCC"/>
                </a:solidFill>
                <a:latin typeface="Calibri" pitchFamily="34" charset="0"/>
                <a:ea typeface="Calibri" pitchFamily="34" charset="-122"/>
                <a:cs typeface="Calibri" pitchFamily="34" charset="-120"/>
              </a:rPr>
              <a:t>Recall = TP÷(TP+FN)</a:t>
            </a:r>
            <a:endParaRPr lang="en-US" sz="950" dirty="0"/>
          </a:p>
        </p:txBody>
      </p:sp>
      <p:sp>
        <p:nvSpPr>
          <p:cNvPr id="31" name="Shape 29"/>
          <p:cNvSpPr/>
          <p:nvPr/>
        </p:nvSpPr>
        <p:spPr>
          <a:xfrm>
            <a:off x="4773168" y="4352544"/>
            <a:ext cx="27432" cy="566928"/>
          </a:xfrm>
          <a:prstGeom prst="rect">
            <a:avLst/>
          </a:prstGeom>
          <a:solidFill>
            <a:srgbClr val="444444"/>
          </a:solidFill>
          <a:ln w="12700">
            <a:solidFill>
              <a:srgbClr val="444444"/>
            </a:solidFill>
            <a:prstDash val="solid"/>
          </a:ln>
        </p:spPr>
      </p:sp>
      <p:sp>
        <p:nvSpPr>
          <p:cNvPr id="32" name="Text 30"/>
          <p:cNvSpPr/>
          <p:nvPr/>
        </p:nvSpPr>
        <p:spPr>
          <a:xfrm>
            <a:off x="4791456" y="4315968"/>
            <a:ext cx="2148840" cy="658368"/>
          </a:xfrm>
          <a:prstGeom prst="rect">
            <a:avLst/>
          </a:prstGeom>
          <a:noFill/>
          <a:ln/>
        </p:spPr>
        <p:txBody>
          <a:bodyPr wrap="square" rtlCol="0" anchor="ctr"/>
          <a:lstStyle/>
          <a:p>
            <a:pPr algn="ctr" indent="0" marL="0">
              <a:buNone/>
            </a:pPr>
            <a:r>
              <a:rPr lang="en-US" sz="950" dirty="0">
                <a:solidFill>
                  <a:srgbClr val="CCCCCC"/>
                </a:solidFill>
                <a:latin typeface="Calibri" pitchFamily="34" charset="0"/>
                <a:ea typeface="Calibri" pitchFamily="34" charset="-122"/>
                <a:cs typeface="Calibri" pitchFamily="34" charset="-120"/>
              </a:rPr>
              <a:t>F1-Score = 2PR÷(P+R)</a:t>
            </a:r>
            <a:endParaRPr lang="en-US" sz="950" dirty="0"/>
          </a:p>
        </p:txBody>
      </p:sp>
      <p:sp>
        <p:nvSpPr>
          <p:cNvPr id="33" name="Shape 31"/>
          <p:cNvSpPr/>
          <p:nvPr/>
        </p:nvSpPr>
        <p:spPr>
          <a:xfrm>
            <a:off x="6986016" y="4352544"/>
            <a:ext cx="27432" cy="566928"/>
          </a:xfrm>
          <a:prstGeom prst="rect">
            <a:avLst/>
          </a:prstGeom>
          <a:solidFill>
            <a:srgbClr val="444444"/>
          </a:solidFill>
          <a:ln w="12700">
            <a:solidFill>
              <a:srgbClr val="444444"/>
            </a:solidFill>
            <a:prstDash val="solid"/>
          </a:ln>
        </p:spPr>
      </p:sp>
      <p:sp>
        <p:nvSpPr>
          <p:cNvPr id="34" name="Text 32"/>
          <p:cNvSpPr/>
          <p:nvPr/>
        </p:nvSpPr>
        <p:spPr>
          <a:xfrm>
            <a:off x="7004304" y="4315968"/>
            <a:ext cx="2148840" cy="658368"/>
          </a:xfrm>
          <a:prstGeom prst="rect">
            <a:avLst/>
          </a:prstGeom>
          <a:noFill/>
          <a:ln/>
        </p:spPr>
        <p:txBody>
          <a:bodyPr wrap="square" rtlCol="0" anchor="ctr"/>
          <a:lstStyle/>
          <a:p>
            <a:pPr algn="ctr" indent="0" marL="0">
              <a:buNone/>
            </a:pPr>
            <a:r>
              <a:rPr lang="en-US" sz="950" dirty="0">
                <a:solidFill>
                  <a:srgbClr val="CCCCCC"/>
                </a:solidFill>
                <a:latin typeface="Calibri" pitchFamily="34" charset="0"/>
                <a:ea typeface="Calibri" pitchFamily="34" charset="-122"/>
                <a:cs typeface="Calibri" pitchFamily="34" charset="-120"/>
              </a:rPr>
              <a:t>Report Quality: 5-pt Likert × 3 evaluators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SYSTEM ARCHITECTURE — THE FIVE-LAYER PIPELINE</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From .sol file upload to structured PDF audit report — five discrete layers, each with a defined input, output, and technology.</a:t>
            </a:r>
            <a:endParaRPr lang="en-US" sz="1000" dirty="0"/>
          </a:p>
        </p:txBody>
      </p:sp>
      <p:pic>
        <p:nvPicPr>
          <p:cNvPr id="6" name="Image 0" descr="/home/claude/fyp/pipeline.png">    </p:cNvPr>
          <p:cNvPicPr>
            <a:picLocks noChangeAspect="1"/>
          </p:cNvPicPr>
          <p:nvPr/>
        </p:nvPicPr>
        <p:blipFill>
          <a:blip r:embed="rId1"/>
          <a:stretch>
            <a:fillRect/>
          </a:stretch>
        </p:blipFill>
        <p:spPr>
          <a:xfrm>
            <a:off x="274320" y="1261872"/>
            <a:ext cx="8595360" cy="1664208"/>
          </a:xfrm>
          <a:prstGeom prst="rect">
            <a:avLst/>
          </a:prstGeom>
          <a:effectLst>
            <a:outerShdw sx="100000" sy="100000" kx="0" ky="0" algn="bl" rotWithShape="0" blurRad="101600" dist="38100" dir="8100000">
              <a:srgbClr val="000000">
                <a:alpha val="15000"/>
              </a:srgbClr>
            </a:outerShdw>
          </a:effectLst>
        </p:spPr>
      </p:pic>
      <p:sp>
        <p:nvSpPr>
          <p:cNvPr id="7" name="Shape 4"/>
          <p:cNvSpPr/>
          <p:nvPr/>
        </p:nvSpPr>
        <p:spPr>
          <a:xfrm>
            <a:off x="274320" y="3035808"/>
            <a:ext cx="1645920" cy="1993392"/>
          </a:xfrm>
          <a:prstGeom prst="rect">
            <a:avLst/>
          </a:prstGeom>
          <a:solidFill>
            <a:srgbClr val="F0F0F0"/>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8" name="Text 5"/>
          <p:cNvSpPr/>
          <p:nvPr/>
        </p:nvSpPr>
        <p:spPr>
          <a:xfrm>
            <a:off x="274320" y="3090672"/>
            <a:ext cx="1645920" cy="274320"/>
          </a:xfrm>
          <a:prstGeom prst="rect">
            <a:avLst/>
          </a:prstGeom>
          <a:noFill/>
          <a:ln/>
        </p:spPr>
        <p:txBody>
          <a:bodyPr wrap="square" rtlCol="0" anchor="ctr"/>
          <a:lstStyle/>
          <a:p>
            <a:pPr algn="ctr" indent="0" marL="0">
              <a:buNone/>
            </a:pPr>
            <a:r>
              <a:rPr lang="en-US" sz="1000" dirty="0">
                <a:solidFill>
                  <a:srgbClr val="AAAAAA"/>
                </a:solidFill>
                <a:latin typeface="Calibri" pitchFamily="34" charset="0"/>
                <a:ea typeface="Calibri" pitchFamily="34" charset="-122"/>
                <a:cs typeface="Calibri" pitchFamily="34" charset="-120"/>
              </a:rPr>
              <a:t>01</a:t>
            </a:r>
            <a:endParaRPr lang="en-US" sz="1000" dirty="0"/>
          </a:p>
        </p:txBody>
      </p:sp>
      <p:sp>
        <p:nvSpPr>
          <p:cNvPr id="9" name="Text 6"/>
          <p:cNvSpPr/>
          <p:nvPr/>
        </p:nvSpPr>
        <p:spPr>
          <a:xfrm>
            <a:off x="274320" y="3364992"/>
            <a:ext cx="1645920" cy="347472"/>
          </a:xfrm>
          <a:prstGeom prst="rect">
            <a:avLst/>
          </a:prstGeom>
          <a:noFill/>
          <a:ln/>
        </p:spPr>
        <p:txBody>
          <a:bodyPr wrap="square" rtlCol="0" anchor="ctr"/>
          <a:lstStyle/>
          <a:p>
            <a:pPr algn="ctr" indent="0" marL="0">
              <a:buNone/>
            </a:pPr>
            <a:r>
              <a:rPr lang="en-US" sz="1100" b="1" dirty="0">
                <a:solidFill>
                  <a:srgbClr val="0D0D0D"/>
                </a:solidFill>
                <a:latin typeface="Georgia" pitchFamily="34" charset="0"/>
                <a:ea typeface="Georgia" pitchFamily="34" charset="-122"/>
                <a:cs typeface="Georgia" pitchFamily="34" charset="-120"/>
              </a:rPr>
              <a:t>Upload</a:t>
            </a:r>
            <a:endParaRPr lang="en-US" sz="1100" dirty="0"/>
          </a:p>
        </p:txBody>
      </p:sp>
      <p:sp>
        <p:nvSpPr>
          <p:cNvPr id="10" name="Shape 7"/>
          <p:cNvSpPr/>
          <p:nvPr/>
        </p:nvSpPr>
        <p:spPr>
          <a:xfrm>
            <a:off x="457200" y="3749040"/>
            <a:ext cx="1298448" cy="27432"/>
          </a:xfrm>
          <a:prstGeom prst="rect">
            <a:avLst/>
          </a:prstGeom>
          <a:solidFill>
            <a:srgbClr val="CCCCCC"/>
          </a:solidFill>
          <a:ln w="12700">
            <a:solidFill>
              <a:srgbClr val="CCCCCC"/>
            </a:solidFill>
            <a:prstDash val="solid"/>
          </a:ln>
        </p:spPr>
      </p:sp>
      <p:sp>
        <p:nvSpPr>
          <p:cNvPr id="11" name="Text 8"/>
          <p:cNvSpPr/>
          <p:nvPr/>
        </p:nvSpPr>
        <p:spPr>
          <a:xfrm>
            <a:off x="329184" y="3803904"/>
            <a:ext cx="1554480" cy="1005840"/>
          </a:xfrm>
          <a:prstGeom prst="rect">
            <a:avLst/>
          </a:prstGeom>
          <a:noFill/>
          <a:ln/>
        </p:spPr>
        <p:txBody>
          <a:bodyPr wrap="square" rtlCol="0" anchor="t"/>
          <a:lstStyle/>
          <a:p>
            <a:pPr algn="ctr" indent="0" marL="0">
              <a:buNone/>
            </a:pPr>
            <a:r>
              <a:rPr lang="en-US" sz="850" dirty="0">
                <a:solidFill>
                  <a:srgbClr val="555555"/>
                </a:solidFill>
                <a:latin typeface="Calibri" pitchFamily="34" charset="0"/>
                <a:ea typeface="Calibri" pitchFamily="34" charset="-122"/>
                <a:cs typeface="Calibri" pitchFamily="34" charset="-120"/>
              </a:rPr>
              <a:t>Developer submits .sol file via Next.js web interface. Multipart form data sent to FastAPI backend. File saved temporarily for analysis. No installation required.</a:t>
            </a:r>
            <a:endParaRPr lang="en-US" sz="850" dirty="0"/>
          </a:p>
        </p:txBody>
      </p:sp>
      <p:sp>
        <p:nvSpPr>
          <p:cNvPr id="12" name="Shape 9"/>
          <p:cNvSpPr/>
          <p:nvPr/>
        </p:nvSpPr>
        <p:spPr>
          <a:xfrm>
            <a:off x="411480" y="4892040"/>
            <a:ext cx="1389888" cy="347472"/>
          </a:xfrm>
          <a:prstGeom prst="rect">
            <a:avLst/>
          </a:prstGeom>
          <a:solidFill>
            <a:srgbClr val="E0E0E0"/>
          </a:solidFill>
          <a:ln w="12700">
            <a:solidFill>
              <a:srgbClr val="CCCCCC"/>
            </a:solidFill>
            <a:prstDash val="solid"/>
          </a:ln>
        </p:spPr>
      </p:sp>
      <p:sp>
        <p:nvSpPr>
          <p:cNvPr id="13" name="Text 10"/>
          <p:cNvSpPr/>
          <p:nvPr/>
        </p:nvSpPr>
        <p:spPr>
          <a:xfrm>
            <a:off x="411480" y="4892040"/>
            <a:ext cx="1389888" cy="347472"/>
          </a:xfrm>
          <a:prstGeom prst="rect">
            <a:avLst/>
          </a:prstGeom>
          <a:noFill/>
          <a:ln/>
        </p:spPr>
        <p:txBody>
          <a:bodyPr wrap="square" rtlCol="0" anchor="ctr"/>
          <a:lstStyle/>
          <a:p>
            <a:pPr algn="ctr" indent="0" marL="0">
              <a:buNone/>
            </a:pPr>
            <a:r>
              <a:rPr lang="en-US" sz="850" dirty="0">
                <a:solidFill>
                  <a:srgbClr val="666666"/>
                </a:solidFill>
                <a:latin typeface="Calibri" pitchFamily="34" charset="0"/>
                <a:ea typeface="Calibri" pitchFamily="34" charset="-122"/>
                <a:cs typeface="Calibri" pitchFamily="34" charset="-120"/>
              </a:rPr>
              <a:t>Next.js 14 / React</a:t>
            </a:r>
            <a:endParaRPr lang="en-US" sz="850" dirty="0"/>
          </a:p>
        </p:txBody>
      </p:sp>
      <p:sp>
        <p:nvSpPr>
          <p:cNvPr id="14" name="Shape 11"/>
          <p:cNvSpPr/>
          <p:nvPr/>
        </p:nvSpPr>
        <p:spPr>
          <a:xfrm>
            <a:off x="2029968" y="3035808"/>
            <a:ext cx="1645920" cy="1993392"/>
          </a:xfrm>
          <a:prstGeom prst="rect">
            <a:avLst/>
          </a:prstGeom>
          <a:solidFill>
            <a:srgbClr val="F0F0F0"/>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15" name="Text 12"/>
          <p:cNvSpPr/>
          <p:nvPr/>
        </p:nvSpPr>
        <p:spPr>
          <a:xfrm>
            <a:off x="2029968" y="3090672"/>
            <a:ext cx="1645920" cy="274320"/>
          </a:xfrm>
          <a:prstGeom prst="rect">
            <a:avLst/>
          </a:prstGeom>
          <a:noFill/>
          <a:ln/>
        </p:spPr>
        <p:txBody>
          <a:bodyPr wrap="square" rtlCol="0" anchor="ctr"/>
          <a:lstStyle/>
          <a:p>
            <a:pPr algn="ctr" indent="0" marL="0">
              <a:buNone/>
            </a:pPr>
            <a:r>
              <a:rPr lang="en-US" sz="1000" dirty="0">
                <a:solidFill>
                  <a:srgbClr val="AAAAAA"/>
                </a:solidFill>
                <a:latin typeface="Calibri" pitchFamily="34" charset="0"/>
                <a:ea typeface="Calibri" pitchFamily="34" charset="-122"/>
                <a:cs typeface="Calibri" pitchFamily="34" charset="-120"/>
              </a:rPr>
              <a:t>02</a:t>
            </a:r>
            <a:endParaRPr lang="en-US" sz="1000" dirty="0"/>
          </a:p>
        </p:txBody>
      </p:sp>
      <p:sp>
        <p:nvSpPr>
          <p:cNvPr id="16" name="Text 13"/>
          <p:cNvSpPr/>
          <p:nvPr/>
        </p:nvSpPr>
        <p:spPr>
          <a:xfrm>
            <a:off x="2029968" y="3364992"/>
            <a:ext cx="1645920" cy="347472"/>
          </a:xfrm>
          <a:prstGeom prst="rect">
            <a:avLst/>
          </a:prstGeom>
          <a:noFill/>
          <a:ln/>
        </p:spPr>
        <p:txBody>
          <a:bodyPr wrap="square" rtlCol="0" anchor="ctr"/>
          <a:lstStyle/>
          <a:p>
            <a:pPr algn="ctr" indent="0" marL="0">
              <a:buNone/>
            </a:pPr>
            <a:r>
              <a:rPr lang="en-US" sz="1100" b="1" dirty="0">
                <a:solidFill>
                  <a:srgbClr val="0D0D0D"/>
                </a:solidFill>
                <a:latin typeface="Georgia" pitchFamily="34" charset="0"/>
                <a:ea typeface="Georgia" pitchFamily="34" charset="-122"/>
                <a:cs typeface="Georgia" pitchFamily="34" charset="-120"/>
              </a:rPr>
              <a:t>Slither Analysis</a:t>
            </a:r>
            <a:endParaRPr lang="en-US" sz="1100" dirty="0"/>
          </a:p>
        </p:txBody>
      </p:sp>
      <p:sp>
        <p:nvSpPr>
          <p:cNvPr id="17" name="Shape 14"/>
          <p:cNvSpPr/>
          <p:nvPr/>
        </p:nvSpPr>
        <p:spPr>
          <a:xfrm>
            <a:off x="2212848" y="3749040"/>
            <a:ext cx="1298448" cy="27432"/>
          </a:xfrm>
          <a:prstGeom prst="rect">
            <a:avLst/>
          </a:prstGeom>
          <a:solidFill>
            <a:srgbClr val="CCCCCC"/>
          </a:solidFill>
          <a:ln w="12700">
            <a:solidFill>
              <a:srgbClr val="CCCCCC"/>
            </a:solidFill>
            <a:prstDash val="solid"/>
          </a:ln>
        </p:spPr>
      </p:sp>
      <p:sp>
        <p:nvSpPr>
          <p:cNvPr id="18" name="Text 15"/>
          <p:cNvSpPr/>
          <p:nvPr/>
        </p:nvSpPr>
        <p:spPr>
          <a:xfrm>
            <a:off x="2084832" y="3803904"/>
            <a:ext cx="1554480" cy="1005840"/>
          </a:xfrm>
          <a:prstGeom prst="rect">
            <a:avLst/>
          </a:prstGeom>
          <a:noFill/>
          <a:ln/>
        </p:spPr>
        <p:txBody>
          <a:bodyPr wrap="square" rtlCol="0" anchor="t"/>
          <a:lstStyle/>
          <a:p>
            <a:pPr algn="ctr" indent="0" marL="0">
              <a:buNone/>
            </a:pPr>
            <a:r>
              <a:rPr lang="en-US" sz="850" dirty="0">
                <a:solidFill>
                  <a:srgbClr val="555555"/>
                </a:solidFill>
                <a:latin typeface="Calibri" pitchFamily="34" charset="0"/>
                <a:ea typeface="Calibri" pitchFamily="34" charset="-122"/>
                <a:cs typeface="Calibri" pitchFamily="34" charset="-120"/>
              </a:rPr>
              <a:t>Contract passed to Slither CLI via subprocess. Slither converts Solidity to SlithIR and runs 90+ vulnerability detectors. Outputs structured JSON with findings above Medium confidence.</a:t>
            </a:r>
            <a:endParaRPr lang="en-US" sz="850" dirty="0"/>
          </a:p>
        </p:txBody>
      </p:sp>
      <p:sp>
        <p:nvSpPr>
          <p:cNvPr id="19" name="Shape 16"/>
          <p:cNvSpPr/>
          <p:nvPr/>
        </p:nvSpPr>
        <p:spPr>
          <a:xfrm>
            <a:off x="2167128" y="4892040"/>
            <a:ext cx="1389888" cy="347472"/>
          </a:xfrm>
          <a:prstGeom prst="rect">
            <a:avLst/>
          </a:prstGeom>
          <a:solidFill>
            <a:srgbClr val="E0E0E0"/>
          </a:solidFill>
          <a:ln w="12700">
            <a:solidFill>
              <a:srgbClr val="CCCCCC"/>
            </a:solidFill>
            <a:prstDash val="solid"/>
          </a:ln>
        </p:spPr>
      </p:sp>
      <p:sp>
        <p:nvSpPr>
          <p:cNvPr id="20" name="Text 17"/>
          <p:cNvSpPr/>
          <p:nvPr/>
        </p:nvSpPr>
        <p:spPr>
          <a:xfrm>
            <a:off x="2167128" y="4892040"/>
            <a:ext cx="1389888" cy="347472"/>
          </a:xfrm>
          <a:prstGeom prst="rect">
            <a:avLst/>
          </a:prstGeom>
          <a:noFill/>
          <a:ln/>
        </p:spPr>
        <p:txBody>
          <a:bodyPr wrap="square" rtlCol="0" anchor="ctr"/>
          <a:lstStyle/>
          <a:p>
            <a:pPr algn="ctr" indent="0" marL="0">
              <a:buNone/>
            </a:pPr>
            <a:r>
              <a:rPr lang="en-US" sz="850" dirty="0">
                <a:solidFill>
                  <a:srgbClr val="666666"/>
                </a:solidFill>
                <a:latin typeface="Calibri" pitchFamily="34" charset="0"/>
                <a:ea typeface="Calibri" pitchFamily="34" charset="-122"/>
                <a:cs typeface="Calibri" pitchFamily="34" charset="-120"/>
              </a:rPr>
              <a:t>Python + Slither</a:t>
            </a:r>
            <a:endParaRPr lang="en-US" sz="850" dirty="0"/>
          </a:p>
        </p:txBody>
      </p:sp>
      <p:sp>
        <p:nvSpPr>
          <p:cNvPr id="21" name="Shape 18"/>
          <p:cNvSpPr/>
          <p:nvPr/>
        </p:nvSpPr>
        <p:spPr>
          <a:xfrm>
            <a:off x="3785616" y="3035808"/>
            <a:ext cx="1645920" cy="1993392"/>
          </a:xfrm>
          <a:prstGeom prst="rect">
            <a:avLst/>
          </a:prstGeom>
          <a:solidFill>
            <a:srgbClr val="F0F0F0"/>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22" name="Text 19"/>
          <p:cNvSpPr/>
          <p:nvPr/>
        </p:nvSpPr>
        <p:spPr>
          <a:xfrm>
            <a:off x="3785616" y="3090672"/>
            <a:ext cx="1645920" cy="274320"/>
          </a:xfrm>
          <a:prstGeom prst="rect">
            <a:avLst/>
          </a:prstGeom>
          <a:noFill/>
          <a:ln/>
        </p:spPr>
        <p:txBody>
          <a:bodyPr wrap="square" rtlCol="0" anchor="ctr"/>
          <a:lstStyle/>
          <a:p>
            <a:pPr algn="ctr" indent="0" marL="0">
              <a:buNone/>
            </a:pPr>
            <a:r>
              <a:rPr lang="en-US" sz="1000" dirty="0">
                <a:solidFill>
                  <a:srgbClr val="AAAAAA"/>
                </a:solidFill>
                <a:latin typeface="Calibri" pitchFamily="34" charset="0"/>
                <a:ea typeface="Calibri" pitchFamily="34" charset="-122"/>
                <a:cs typeface="Calibri" pitchFamily="34" charset="-120"/>
              </a:rPr>
              <a:t>03</a:t>
            </a:r>
            <a:endParaRPr lang="en-US" sz="1000" dirty="0"/>
          </a:p>
        </p:txBody>
      </p:sp>
      <p:sp>
        <p:nvSpPr>
          <p:cNvPr id="23" name="Text 20"/>
          <p:cNvSpPr/>
          <p:nvPr/>
        </p:nvSpPr>
        <p:spPr>
          <a:xfrm>
            <a:off x="3785616" y="3364992"/>
            <a:ext cx="1645920" cy="347472"/>
          </a:xfrm>
          <a:prstGeom prst="rect">
            <a:avLst/>
          </a:prstGeom>
          <a:noFill/>
          <a:ln/>
        </p:spPr>
        <p:txBody>
          <a:bodyPr wrap="square" rtlCol="0" anchor="ctr"/>
          <a:lstStyle/>
          <a:p>
            <a:pPr algn="ctr" indent="0" marL="0">
              <a:buNone/>
            </a:pPr>
            <a:r>
              <a:rPr lang="en-US" sz="1100" b="1" dirty="0">
                <a:solidFill>
                  <a:srgbClr val="0D0D0D"/>
                </a:solidFill>
                <a:latin typeface="Georgia" pitchFamily="34" charset="0"/>
                <a:ea typeface="Georgia" pitchFamily="34" charset="-122"/>
                <a:cs typeface="Georgia" pitchFamily="34" charset="-120"/>
              </a:rPr>
              <a:t>Finding Extraction</a:t>
            </a:r>
            <a:endParaRPr lang="en-US" sz="1100" dirty="0"/>
          </a:p>
        </p:txBody>
      </p:sp>
      <p:sp>
        <p:nvSpPr>
          <p:cNvPr id="24" name="Shape 21"/>
          <p:cNvSpPr/>
          <p:nvPr/>
        </p:nvSpPr>
        <p:spPr>
          <a:xfrm>
            <a:off x="3968496" y="3749040"/>
            <a:ext cx="1298448" cy="27432"/>
          </a:xfrm>
          <a:prstGeom prst="rect">
            <a:avLst/>
          </a:prstGeom>
          <a:solidFill>
            <a:srgbClr val="CCCCCC"/>
          </a:solidFill>
          <a:ln w="12700">
            <a:solidFill>
              <a:srgbClr val="CCCCCC"/>
            </a:solidFill>
            <a:prstDash val="solid"/>
          </a:ln>
        </p:spPr>
      </p:sp>
      <p:sp>
        <p:nvSpPr>
          <p:cNvPr id="25" name="Text 22"/>
          <p:cNvSpPr/>
          <p:nvPr/>
        </p:nvSpPr>
        <p:spPr>
          <a:xfrm>
            <a:off x="3840480" y="3803904"/>
            <a:ext cx="1554480" cy="1005840"/>
          </a:xfrm>
          <a:prstGeom prst="rect">
            <a:avLst/>
          </a:prstGeom>
          <a:noFill/>
          <a:ln/>
        </p:spPr>
        <p:txBody>
          <a:bodyPr wrap="square" rtlCol="0" anchor="t"/>
          <a:lstStyle/>
          <a:p>
            <a:pPr algn="ctr" indent="0" marL="0">
              <a:buNone/>
            </a:pPr>
            <a:r>
              <a:rPr lang="en-US" sz="850" dirty="0">
                <a:solidFill>
                  <a:srgbClr val="555555"/>
                </a:solidFill>
                <a:latin typeface="Calibri" pitchFamily="34" charset="0"/>
                <a:ea typeface="Calibri" pitchFamily="34" charset="-122"/>
                <a:cs typeface="Calibri" pitchFamily="34" charset="-120"/>
              </a:rPr>
              <a:t>JSON parser extracts finding class, severity, confidence, description, affected function names, and source line numbers. Filters out Informational results to reduce noise.</a:t>
            </a:r>
            <a:endParaRPr lang="en-US" sz="850" dirty="0"/>
          </a:p>
        </p:txBody>
      </p:sp>
      <p:sp>
        <p:nvSpPr>
          <p:cNvPr id="26" name="Shape 23"/>
          <p:cNvSpPr/>
          <p:nvPr/>
        </p:nvSpPr>
        <p:spPr>
          <a:xfrm>
            <a:off x="3922776" y="4892040"/>
            <a:ext cx="1389888" cy="347472"/>
          </a:xfrm>
          <a:prstGeom prst="rect">
            <a:avLst/>
          </a:prstGeom>
          <a:solidFill>
            <a:srgbClr val="E0E0E0"/>
          </a:solidFill>
          <a:ln w="12700">
            <a:solidFill>
              <a:srgbClr val="CCCCCC"/>
            </a:solidFill>
            <a:prstDash val="solid"/>
          </a:ln>
        </p:spPr>
      </p:sp>
      <p:sp>
        <p:nvSpPr>
          <p:cNvPr id="27" name="Text 24"/>
          <p:cNvSpPr/>
          <p:nvPr/>
        </p:nvSpPr>
        <p:spPr>
          <a:xfrm>
            <a:off x="3922776" y="4892040"/>
            <a:ext cx="1389888" cy="347472"/>
          </a:xfrm>
          <a:prstGeom prst="rect">
            <a:avLst/>
          </a:prstGeom>
          <a:noFill/>
          <a:ln/>
        </p:spPr>
        <p:txBody>
          <a:bodyPr wrap="square" rtlCol="0" anchor="ctr"/>
          <a:lstStyle/>
          <a:p>
            <a:pPr algn="ctr" indent="0" marL="0">
              <a:buNone/>
            </a:pPr>
            <a:r>
              <a:rPr lang="en-US" sz="850" dirty="0">
                <a:solidFill>
                  <a:srgbClr val="666666"/>
                </a:solidFill>
                <a:latin typeface="Calibri" pitchFamily="34" charset="0"/>
                <a:ea typeface="Calibri" pitchFamily="34" charset="-122"/>
                <a:cs typeface="Calibri" pitchFamily="34" charset="-120"/>
              </a:rPr>
              <a:t>Python Parser</a:t>
            </a:r>
            <a:endParaRPr lang="en-US" sz="850" dirty="0"/>
          </a:p>
        </p:txBody>
      </p:sp>
      <p:sp>
        <p:nvSpPr>
          <p:cNvPr id="28" name="Shape 25"/>
          <p:cNvSpPr/>
          <p:nvPr/>
        </p:nvSpPr>
        <p:spPr>
          <a:xfrm>
            <a:off x="5541264" y="3035808"/>
            <a:ext cx="1645920" cy="1993392"/>
          </a:xfrm>
          <a:prstGeom prst="rect">
            <a:avLst/>
          </a:prstGeom>
          <a:solidFill>
            <a:srgbClr val="0D0D0D"/>
          </a:solidFill>
          <a:ln w="25400">
            <a:solidFill>
              <a:srgbClr val="0D0D0D"/>
            </a:solidFill>
            <a:prstDash val="solid"/>
          </a:ln>
          <a:effectLst>
            <a:outerShdw sx="100000" sy="100000" kx="0" ky="0" algn="bl" rotWithShape="0" blurRad="101600" dist="38100" dir="8100000">
              <a:srgbClr val="000000">
                <a:alpha val="15000"/>
              </a:srgbClr>
            </a:outerShdw>
          </a:effectLst>
        </p:spPr>
      </p:sp>
      <p:sp>
        <p:nvSpPr>
          <p:cNvPr id="29" name="Text 26"/>
          <p:cNvSpPr/>
          <p:nvPr/>
        </p:nvSpPr>
        <p:spPr>
          <a:xfrm>
            <a:off x="5541264" y="3090672"/>
            <a:ext cx="1645920" cy="274320"/>
          </a:xfrm>
          <a:prstGeom prst="rect">
            <a:avLst/>
          </a:prstGeom>
          <a:noFill/>
          <a:ln/>
        </p:spPr>
        <p:txBody>
          <a:bodyPr wrap="square" rtlCol="0" anchor="ctr"/>
          <a:lstStyle/>
          <a:p>
            <a:pPr algn="ctr" indent="0" marL="0">
              <a:buNone/>
            </a:pPr>
            <a:r>
              <a:rPr lang="en-US" sz="1000" dirty="0">
                <a:solidFill>
                  <a:srgbClr val="888888"/>
                </a:solidFill>
                <a:latin typeface="Calibri" pitchFamily="34" charset="0"/>
                <a:ea typeface="Calibri" pitchFamily="34" charset="-122"/>
                <a:cs typeface="Calibri" pitchFamily="34" charset="-120"/>
              </a:rPr>
              <a:t>04</a:t>
            </a:r>
            <a:endParaRPr lang="en-US" sz="1000" dirty="0"/>
          </a:p>
        </p:txBody>
      </p:sp>
      <p:sp>
        <p:nvSpPr>
          <p:cNvPr id="30" name="Text 27"/>
          <p:cNvSpPr/>
          <p:nvPr/>
        </p:nvSpPr>
        <p:spPr>
          <a:xfrm>
            <a:off x="5541264" y="3364992"/>
            <a:ext cx="1645920" cy="347472"/>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Claude Reasoning</a:t>
            </a:r>
            <a:endParaRPr lang="en-US" sz="1100" dirty="0"/>
          </a:p>
        </p:txBody>
      </p:sp>
      <p:sp>
        <p:nvSpPr>
          <p:cNvPr id="31" name="Shape 28"/>
          <p:cNvSpPr/>
          <p:nvPr/>
        </p:nvSpPr>
        <p:spPr>
          <a:xfrm>
            <a:off x="5724144" y="3749040"/>
            <a:ext cx="1298448" cy="27432"/>
          </a:xfrm>
          <a:prstGeom prst="rect">
            <a:avLst/>
          </a:prstGeom>
          <a:solidFill>
            <a:srgbClr val="444444"/>
          </a:solidFill>
          <a:ln w="12700">
            <a:solidFill>
              <a:srgbClr val="444444"/>
            </a:solidFill>
            <a:prstDash val="solid"/>
          </a:ln>
        </p:spPr>
      </p:sp>
      <p:sp>
        <p:nvSpPr>
          <p:cNvPr id="32" name="Text 29"/>
          <p:cNvSpPr/>
          <p:nvPr/>
        </p:nvSpPr>
        <p:spPr>
          <a:xfrm>
            <a:off x="5596128" y="3803904"/>
            <a:ext cx="1554480" cy="1005840"/>
          </a:xfrm>
          <a:prstGeom prst="rect">
            <a:avLst/>
          </a:prstGeom>
          <a:noFill/>
          <a:ln/>
        </p:spPr>
        <p:txBody>
          <a:bodyPr wrap="square" rtlCol="0" anchor="t"/>
          <a:lstStyle/>
          <a:p>
            <a:pPr algn="ctr" indent="0" marL="0">
              <a:buNone/>
            </a:pPr>
            <a:r>
              <a:rPr lang="en-US" sz="850" dirty="0">
                <a:solidFill>
                  <a:srgbClr val="CCCCCC"/>
                </a:solidFill>
                <a:latin typeface="Calibri" pitchFamily="34" charset="0"/>
                <a:ea typeface="Calibri" pitchFamily="34" charset="-122"/>
                <a:cs typeface="Calibri" pitchFamily="34" charset="-120"/>
              </a:rPr>
              <a:t>Contract source + structured findings sent to claude-sonnet-4-5. Chain-of-thought prompt instructs plain-English explanation, danger assessment, and corrected code example per finding.</a:t>
            </a:r>
            <a:endParaRPr lang="en-US" sz="850" dirty="0"/>
          </a:p>
        </p:txBody>
      </p:sp>
      <p:sp>
        <p:nvSpPr>
          <p:cNvPr id="33" name="Shape 30"/>
          <p:cNvSpPr/>
          <p:nvPr/>
        </p:nvSpPr>
        <p:spPr>
          <a:xfrm>
            <a:off x="5678424" y="4892040"/>
            <a:ext cx="1389888" cy="347472"/>
          </a:xfrm>
          <a:prstGeom prst="rect">
            <a:avLst/>
          </a:prstGeom>
          <a:solidFill>
            <a:srgbClr val="222222"/>
          </a:solidFill>
          <a:ln w="12700">
            <a:solidFill>
              <a:srgbClr val="444444"/>
            </a:solidFill>
            <a:prstDash val="solid"/>
          </a:ln>
        </p:spPr>
      </p:sp>
      <p:sp>
        <p:nvSpPr>
          <p:cNvPr id="34" name="Text 31"/>
          <p:cNvSpPr/>
          <p:nvPr/>
        </p:nvSpPr>
        <p:spPr>
          <a:xfrm>
            <a:off x="5678424" y="4892040"/>
            <a:ext cx="1389888" cy="347472"/>
          </a:xfrm>
          <a:prstGeom prst="rect">
            <a:avLst/>
          </a:prstGeom>
          <a:noFill/>
          <a:ln/>
        </p:spPr>
        <p:txBody>
          <a:bodyPr wrap="square" rtlCol="0" anchor="ctr"/>
          <a:lstStyle/>
          <a:p>
            <a:pPr algn="ctr" indent="0" marL="0">
              <a:buNone/>
            </a:pPr>
            <a:r>
              <a:rPr lang="en-US" sz="850" dirty="0">
                <a:solidFill>
                  <a:srgbClr val="AAAAAA"/>
                </a:solidFill>
                <a:latin typeface="Calibri" pitchFamily="34" charset="0"/>
                <a:ea typeface="Calibri" pitchFamily="34" charset="-122"/>
                <a:cs typeface="Calibri" pitchFamily="34" charset="-120"/>
              </a:rPr>
              <a:t>Anthropic API</a:t>
            </a:r>
            <a:endParaRPr lang="en-US" sz="850" dirty="0"/>
          </a:p>
        </p:txBody>
      </p:sp>
      <p:sp>
        <p:nvSpPr>
          <p:cNvPr id="35" name="Shape 32"/>
          <p:cNvSpPr/>
          <p:nvPr/>
        </p:nvSpPr>
        <p:spPr>
          <a:xfrm>
            <a:off x="7296912" y="3035808"/>
            <a:ext cx="1645920" cy="1993392"/>
          </a:xfrm>
          <a:prstGeom prst="rect">
            <a:avLst/>
          </a:prstGeom>
          <a:solidFill>
            <a:srgbClr val="F0F0F0"/>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36" name="Text 33"/>
          <p:cNvSpPr/>
          <p:nvPr/>
        </p:nvSpPr>
        <p:spPr>
          <a:xfrm>
            <a:off x="7296912" y="3090672"/>
            <a:ext cx="1645920" cy="274320"/>
          </a:xfrm>
          <a:prstGeom prst="rect">
            <a:avLst/>
          </a:prstGeom>
          <a:noFill/>
          <a:ln/>
        </p:spPr>
        <p:txBody>
          <a:bodyPr wrap="square" rtlCol="0" anchor="ctr"/>
          <a:lstStyle/>
          <a:p>
            <a:pPr algn="ctr" indent="0" marL="0">
              <a:buNone/>
            </a:pPr>
            <a:r>
              <a:rPr lang="en-US" sz="1000" dirty="0">
                <a:solidFill>
                  <a:srgbClr val="AAAAAA"/>
                </a:solidFill>
                <a:latin typeface="Calibri" pitchFamily="34" charset="0"/>
                <a:ea typeface="Calibri" pitchFamily="34" charset="-122"/>
                <a:cs typeface="Calibri" pitchFamily="34" charset="-120"/>
              </a:rPr>
              <a:t>05</a:t>
            </a:r>
            <a:endParaRPr lang="en-US" sz="1000" dirty="0"/>
          </a:p>
        </p:txBody>
      </p:sp>
      <p:sp>
        <p:nvSpPr>
          <p:cNvPr id="37" name="Text 34"/>
          <p:cNvSpPr/>
          <p:nvPr/>
        </p:nvSpPr>
        <p:spPr>
          <a:xfrm>
            <a:off x="7296912" y="3364992"/>
            <a:ext cx="1645920" cy="347472"/>
          </a:xfrm>
          <a:prstGeom prst="rect">
            <a:avLst/>
          </a:prstGeom>
          <a:noFill/>
          <a:ln/>
        </p:spPr>
        <p:txBody>
          <a:bodyPr wrap="square" rtlCol="0" anchor="ctr"/>
          <a:lstStyle/>
          <a:p>
            <a:pPr algn="ctr" indent="0" marL="0">
              <a:buNone/>
            </a:pPr>
            <a:r>
              <a:rPr lang="en-US" sz="1100" b="1" dirty="0">
                <a:solidFill>
                  <a:srgbClr val="0D0D0D"/>
                </a:solidFill>
                <a:latin typeface="Georgia" pitchFamily="34" charset="0"/>
                <a:ea typeface="Georgia" pitchFamily="34" charset="-122"/>
                <a:cs typeface="Georgia" pitchFamily="34" charset="-120"/>
              </a:rPr>
              <a:t>PDF Report</a:t>
            </a:r>
            <a:endParaRPr lang="en-US" sz="1100" dirty="0"/>
          </a:p>
        </p:txBody>
      </p:sp>
      <p:sp>
        <p:nvSpPr>
          <p:cNvPr id="38" name="Shape 35"/>
          <p:cNvSpPr/>
          <p:nvPr/>
        </p:nvSpPr>
        <p:spPr>
          <a:xfrm>
            <a:off x="7479792" y="3749040"/>
            <a:ext cx="1298448" cy="27432"/>
          </a:xfrm>
          <a:prstGeom prst="rect">
            <a:avLst/>
          </a:prstGeom>
          <a:solidFill>
            <a:srgbClr val="CCCCCC"/>
          </a:solidFill>
          <a:ln w="12700">
            <a:solidFill>
              <a:srgbClr val="CCCCCC"/>
            </a:solidFill>
            <a:prstDash val="solid"/>
          </a:ln>
        </p:spPr>
      </p:sp>
      <p:sp>
        <p:nvSpPr>
          <p:cNvPr id="39" name="Text 36"/>
          <p:cNvSpPr/>
          <p:nvPr/>
        </p:nvSpPr>
        <p:spPr>
          <a:xfrm>
            <a:off x="7351776" y="3803904"/>
            <a:ext cx="1554480" cy="1005840"/>
          </a:xfrm>
          <a:prstGeom prst="rect">
            <a:avLst/>
          </a:prstGeom>
          <a:noFill/>
          <a:ln/>
        </p:spPr>
        <p:txBody>
          <a:bodyPr wrap="square" rtlCol="0" anchor="t"/>
          <a:lstStyle/>
          <a:p>
            <a:pPr algn="ctr" indent="0" marL="0">
              <a:buNone/>
            </a:pPr>
            <a:r>
              <a:rPr lang="en-US" sz="850" dirty="0">
                <a:solidFill>
                  <a:srgbClr val="555555"/>
                </a:solidFill>
                <a:latin typeface="Calibri" pitchFamily="34" charset="0"/>
                <a:ea typeface="Calibri" pitchFamily="34" charset="-122"/>
                <a:cs typeface="Calibri" pitchFamily="34" charset="-120"/>
              </a:rPr>
              <a:t>ReportLab generates formatted audit PDF — executive summary, severity-sorted findings table, per-finding explanations with code fixes, and overall risk rating.</a:t>
            </a:r>
            <a:endParaRPr lang="en-US" sz="850" dirty="0"/>
          </a:p>
        </p:txBody>
      </p:sp>
      <p:sp>
        <p:nvSpPr>
          <p:cNvPr id="40" name="Shape 37"/>
          <p:cNvSpPr/>
          <p:nvPr/>
        </p:nvSpPr>
        <p:spPr>
          <a:xfrm>
            <a:off x="7434072" y="4892040"/>
            <a:ext cx="1389888" cy="347472"/>
          </a:xfrm>
          <a:prstGeom prst="rect">
            <a:avLst/>
          </a:prstGeom>
          <a:solidFill>
            <a:srgbClr val="E0E0E0"/>
          </a:solidFill>
          <a:ln w="12700">
            <a:solidFill>
              <a:srgbClr val="CCCCCC"/>
            </a:solidFill>
            <a:prstDash val="solid"/>
          </a:ln>
        </p:spPr>
      </p:sp>
      <p:sp>
        <p:nvSpPr>
          <p:cNvPr id="41" name="Text 38"/>
          <p:cNvSpPr/>
          <p:nvPr/>
        </p:nvSpPr>
        <p:spPr>
          <a:xfrm>
            <a:off x="7434072" y="4892040"/>
            <a:ext cx="1389888" cy="347472"/>
          </a:xfrm>
          <a:prstGeom prst="rect">
            <a:avLst/>
          </a:prstGeom>
          <a:noFill/>
          <a:ln/>
        </p:spPr>
        <p:txBody>
          <a:bodyPr wrap="square" rtlCol="0" anchor="ctr"/>
          <a:lstStyle/>
          <a:p>
            <a:pPr algn="ctr" indent="0" marL="0">
              <a:buNone/>
            </a:pPr>
            <a:r>
              <a:rPr lang="en-US" sz="850" dirty="0">
                <a:solidFill>
                  <a:srgbClr val="666666"/>
                </a:solidFill>
                <a:latin typeface="Calibri" pitchFamily="34" charset="0"/>
                <a:ea typeface="Calibri" pitchFamily="34" charset="-122"/>
                <a:cs typeface="Calibri" pitchFamily="34" charset="-120"/>
              </a:rPr>
              <a:t>ReportLab</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THE AI ENGINE — CLAUDE claude-sonnet-4-5</a:t>
            </a:r>
            <a:endParaRPr lang="en-US" sz="1500" dirty="0"/>
          </a:p>
        </p:txBody>
      </p:sp>
      <p:sp>
        <p:nvSpPr>
          <p:cNvPr id="4" name="Shape 2"/>
          <p:cNvSpPr/>
          <p:nvPr/>
        </p:nvSpPr>
        <p:spPr>
          <a:xfrm>
            <a:off x="274320" y="777240"/>
            <a:ext cx="8595360" cy="402336"/>
          </a:xfrm>
          <a:prstGeom prst="rect">
            <a:avLst/>
          </a:prstGeom>
          <a:solidFill>
            <a:srgbClr val="1A1A1A"/>
          </a:solidFill>
          <a:ln w="12700">
            <a:solidFill>
              <a:srgbClr val="444444"/>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AAAAAA"/>
                </a:solidFill>
                <a:latin typeface="Calibri" pitchFamily="34" charset="0"/>
                <a:ea typeface="Calibri" pitchFamily="34" charset="-122"/>
                <a:cs typeface="Calibri" pitchFamily="34" charset="-120"/>
              </a:rPr>
              <a:t>Model: claude-sonnet-4-5  |  Provider: Anthropic  |  Temperature: 0.2  |  Max Tokens: 4,096  |  Prompting: Chain-of-Thought</a:t>
            </a:r>
            <a:endParaRPr lang="en-US" sz="1000" dirty="0"/>
          </a:p>
        </p:txBody>
      </p:sp>
      <p:pic>
        <p:nvPicPr>
          <p:cNvPr id="6" name="Image 0" descr="/home/claude/fyp/claude_engine.png">    </p:cNvPr>
          <p:cNvPicPr>
            <a:picLocks noChangeAspect="1"/>
          </p:cNvPicPr>
          <p:nvPr/>
        </p:nvPicPr>
        <p:blipFill>
          <a:blip r:embed="rId1"/>
          <a:stretch>
            <a:fillRect/>
          </a:stretch>
        </p:blipFill>
        <p:spPr>
          <a:xfrm>
            <a:off x="274320" y="1261872"/>
            <a:ext cx="8595360" cy="1572768"/>
          </a:xfrm>
          <a:prstGeom prst="rect">
            <a:avLst/>
          </a:prstGeom>
          <a:effectLst>
            <a:outerShdw sx="100000" sy="100000" kx="0" ky="0" algn="bl" rotWithShape="0" blurRad="101600" dist="38100" dir="8100000">
              <a:srgbClr val="000000">
                <a:alpha val="15000"/>
              </a:srgbClr>
            </a:outerShdw>
          </a:effectLst>
        </p:spPr>
      </p:pic>
      <p:sp>
        <p:nvSpPr>
          <p:cNvPr id="7" name="Shape 4"/>
          <p:cNvSpPr/>
          <p:nvPr/>
        </p:nvSpPr>
        <p:spPr>
          <a:xfrm>
            <a:off x="274320" y="2944368"/>
            <a:ext cx="4251960" cy="1005840"/>
          </a:xfrm>
          <a:prstGeom prst="rect">
            <a:avLst/>
          </a:prstGeom>
          <a:solidFill>
            <a:srgbClr val="111111"/>
          </a:solidFill>
          <a:ln w="19050">
            <a:solidFill>
              <a:srgbClr val="333333"/>
            </a:solidFill>
            <a:prstDash val="solid"/>
          </a:ln>
        </p:spPr>
      </p:sp>
      <p:sp>
        <p:nvSpPr>
          <p:cNvPr id="8" name="Shape 5"/>
          <p:cNvSpPr/>
          <p:nvPr/>
        </p:nvSpPr>
        <p:spPr>
          <a:xfrm>
            <a:off x="274320" y="2944368"/>
            <a:ext cx="4251960" cy="365760"/>
          </a:xfrm>
          <a:prstGeom prst="rect">
            <a:avLst/>
          </a:prstGeom>
          <a:solidFill>
            <a:srgbClr val="1E1E1E"/>
          </a:solidFill>
          <a:ln w="12700">
            <a:solidFill>
              <a:srgbClr val="1E1E1E"/>
            </a:solidFill>
            <a:prstDash val="solid"/>
          </a:ln>
        </p:spPr>
      </p:sp>
      <p:sp>
        <p:nvSpPr>
          <p:cNvPr id="9" name="Text 6"/>
          <p:cNvSpPr/>
          <p:nvPr/>
        </p:nvSpPr>
        <p:spPr>
          <a:xfrm>
            <a:off x="274320" y="2944368"/>
            <a:ext cx="42519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Why claude-sonnet-4-5?</a:t>
            </a:r>
            <a:endParaRPr lang="en-US" sz="1100" dirty="0"/>
          </a:p>
        </p:txBody>
      </p:sp>
      <p:sp>
        <p:nvSpPr>
          <p:cNvPr id="10" name="Text 7"/>
          <p:cNvSpPr/>
          <p:nvPr/>
        </p:nvSpPr>
        <p:spPr>
          <a:xfrm>
            <a:off x="365760" y="3346704"/>
            <a:ext cx="4069080" cy="566928"/>
          </a:xfrm>
          <a:prstGeom prst="rect">
            <a:avLst/>
          </a:prstGeom>
          <a:noFill/>
          <a:ln/>
        </p:spPr>
        <p:txBody>
          <a:bodyPr wrap="square" rtlCol="0" anchor="t"/>
          <a:lstStyle/>
          <a:p>
            <a:pPr algn="l" indent="0" marL="0">
              <a:buNone/>
            </a:pPr>
            <a:r>
              <a:rPr lang="en-US" sz="900" dirty="0">
                <a:solidFill>
                  <a:srgbClr val="CCCCCC"/>
                </a:solidFill>
                <a:latin typeface="Calibri" pitchFamily="34" charset="0"/>
                <a:ea typeface="Calibri" pitchFamily="34" charset="-122"/>
                <a:cs typeface="Calibri" pitchFamily="34" charset="-120"/>
              </a:rPr>
              <a:t>Strong code understanding capability, native support for structured JSON output, large context window to accommodate full contract source alongside findings, and the Anthropic API's consistent rate limiting and availability for a student project budget.</a:t>
            </a:r>
            <a:endParaRPr lang="en-US" sz="900" dirty="0"/>
          </a:p>
        </p:txBody>
      </p:sp>
      <p:sp>
        <p:nvSpPr>
          <p:cNvPr id="11" name="Shape 8"/>
          <p:cNvSpPr/>
          <p:nvPr/>
        </p:nvSpPr>
        <p:spPr>
          <a:xfrm>
            <a:off x="4709160" y="2944368"/>
            <a:ext cx="4251960" cy="1005840"/>
          </a:xfrm>
          <a:prstGeom prst="rect">
            <a:avLst/>
          </a:prstGeom>
          <a:solidFill>
            <a:srgbClr val="111111"/>
          </a:solidFill>
          <a:ln w="19050">
            <a:solidFill>
              <a:srgbClr val="333333"/>
            </a:solidFill>
            <a:prstDash val="solid"/>
          </a:ln>
        </p:spPr>
      </p:sp>
      <p:sp>
        <p:nvSpPr>
          <p:cNvPr id="12" name="Shape 9"/>
          <p:cNvSpPr/>
          <p:nvPr/>
        </p:nvSpPr>
        <p:spPr>
          <a:xfrm>
            <a:off x="4709160" y="2944368"/>
            <a:ext cx="4251960" cy="365760"/>
          </a:xfrm>
          <a:prstGeom prst="rect">
            <a:avLst/>
          </a:prstGeom>
          <a:solidFill>
            <a:srgbClr val="1E1E1E"/>
          </a:solidFill>
          <a:ln w="12700">
            <a:solidFill>
              <a:srgbClr val="1E1E1E"/>
            </a:solidFill>
            <a:prstDash val="solid"/>
          </a:ln>
        </p:spPr>
      </p:sp>
      <p:sp>
        <p:nvSpPr>
          <p:cNvPr id="13" name="Text 10"/>
          <p:cNvSpPr/>
          <p:nvPr/>
        </p:nvSpPr>
        <p:spPr>
          <a:xfrm>
            <a:off x="4709160" y="2944368"/>
            <a:ext cx="42519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Why Temperature 0.2?</a:t>
            </a:r>
            <a:endParaRPr lang="en-US" sz="1100" dirty="0"/>
          </a:p>
        </p:txBody>
      </p:sp>
      <p:sp>
        <p:nvSpPr>
          <p:cNvPr id="14" name="Text 11"/>
          <p:cNvSpPr/>
          <p:nvPr/>
        </p:nvSpPr>
        <p:spPr>
          <a:xfrm>
            <a:off x="4800600" y="3346704"/>
            <a:ext cx="4069080" cy="566928"/>
          </a:xfrm>
          <a:prstGeom prst="rect">
            <a:avLst/>
          </a:prstGeom>
          <a:noFill/>
          <a:ln/>
        </p:spPr>
        <p:txBody>
          <a:bodyPr wrap="square" rtlCol="0" anchor="t"/>
          <a:lstStyle/>
          <a:p>
            <a:pPr algn="l" indent="0" marL="0">
              <a:buNone/>
            </a:pPr>
            <a:r>
              <a:rPr lang="en-US" sz="900" dirty="0">
                <a:solidFill>
                  <a:srgbClr val="CCCCCC"/>
                </a:solidFill>
                <a:latin typeface="Calibri" pitchFamily="34" charset="0"/>
                <a:ea typeface="Calibri" pitchFamily="34" charset="-122"/>
                <a:cs typeface="Calibri" pitchFamily="34" charset="-120"/>
              </a:rPr>
              <a:t>Near-zero temperature produces deterministic, factual output. Every audit of the same contract produces the same findings. We want consistent, reproducible results — not creative variation. This is critical for an evaluation study.</a:t>
            </a:r>
            <a:endParaRPr lang="en-US" sz="900" dirty="0"/>
          </a:p>
        </p:txBody>
      </p:sp>
      <p:sp>
        <p:nvSpPr>
          <p:cNvPr id="15" name="Shape 12"/>
          <p:cNvSpPr/>
          <p:nvPr/>
        </p:nvSpPr>
        <p:spPr>
          <a:xfrm>
            <a:off x="274320" y="4041648"/>
            <a:ext cx="4251960" cy="1005840"/>
          </a:xfrm>
          <a:prstGeom prst="rect">
            <a:avLst/>
          </a:prstGeom>
          <a:solidFill>
            <a:srgbClr val="111111"/>
          </a:solidFill>
          <a:ln w="19050">
            <a:solidFill>
              <a:srgbClr val="333333"/>
            </a:solidFill>
            <a:prstDash val="solid"/>
          </a:ln>
        </p:spPr>
      </p:sp>
      <p:sp>
        <p:nvSpPr>
          <p:cNvPr id="16" name="Shape 13"/>
          <p:cNvSpPr/>
          <p:nvPr/>
        </p:nvSpPr>
        <p:spPr>
          <a:xfrm>
            <a:off x="274320" y="4041648"/>
            <a:ext cx="4251960" cy="365760"/>
          </a:xfrm>
          <a:prstGeom prst="rect">
            <a:avLst/>
          </a:prstGeom>
          <a:solidFill>
            <a:srgbClr val="1E1E1E"/>
          </a:solidFill>
          <a:ln w="12700">
            <a:solidFill>
              <a:srgbClr val="1E1E1E"/>
            </a:solidFill>
            <a:prstDash val="solid"/>
          </a:ln>
        </p:spPr>
      </p:sp>
      <p:sp>
        <p:nvSpPr>
          <p:cNvPr id="17" name="Text 14"/>
          <p:cNvSpPr/>
          <p:nvPr/>
        </p:nvSpPr>
        <p:spPr>
          <a:xfrm>
            <a:off x="274320" y="4041648"/>
            <a:ext cx="42519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The Prompt Strategy</a:t>
            </a:r>
            <a:endParaRPr lang="en-US" sz="1100" dirty="0"/>
          </a:p>
        </p:txBody>
      </p:sp>
      <p:sp>
        <p:nvSpPr>
          <p:cNvPr id="18" name="Text 15"/>
          <p:cNvSpPr/>
          <p:nvPr/>
        </p:nvSpPr>
        <p:spPr>
          <a:xfrm>
            <a:off x="365760" y="4443984"/>
            <a:ext cx="4069080" cy="566928"/>
          </a:xfrm>
          <a:prstGeom prst="rect">
            <a:avLst/>
          </a:prstGeom>
          <a:noFill/>
          <a:ln/>
        </p:spPr>
        <p:txBody>
          <a:bodyPr wrap="square" rtlCol="0" anchor="t"/>
          <a:lstStyle/>
          <a:p>
            <a:pPr algn="l" indent="0" marL="0">
              <a:buNone/>
            </a:pPr>
            <a:r>
              <a:rPr lang="en-US" sz="900" dirty="0">
                <a:solidFill>
                  <a:srgbClr val="CCCCCC"/>
                </a:solidFill>
                <a:latin typeface="Calibri" pitchFamily="34" charset="0"/>
                <a:ea typeface="Calibri" pitchFamily="34" charset="-122"/>
                <a:cs typeface="Calibri" pitchFamily="34" charset="-120"/>
              </a:rPr>
              <a:t>System prompt: professional smart contract security auditor role. User prompt: contract source + Slither JSON + explicit output instructions. Chain-of-thought instruction: 'Reason step by step before classifying severity.' Output format: structured, parseable by the PDF generator.</a:t>
            </a:r>
            <a:endParaRPr lang="en-US" sz="900" dirty="0"/>
          </a:p>
        </p:txBody>
      </p:sp>
      <p:sp>
        <p:nvSpPr>
          <p:cNvPr id="19" name="Shape 16"/>
          <p:cNvSpPr/>
          <p:nvPr/>
        </p:nvSpPr>
        <p:spPr>
          <a:xfrm>
            <a:off x="4709160" y="4041648"/>
            <a:ext cx="4251960" cy="1005840"/>
          </a:xfrm>
          <a:prstGeom prst="rect">
            <a:avLst/>
          </a:prstGeom>
          <a:solidFill>
            <a:srgbClr val="111111"/>
          </a:solidFill>
          <a:ln w="19050">
            <a:solidFill>
              <a:srgbClr val="333333"/>
            </a:solidFill>
            <a:prstDash val="solid"/>
          </a:ln>
        </p:spPr>
      </p:sp>
      <p:sp>
        <p:nvSpPr>
          <p:cNvPr id="20" name="Shape 17"/>
          <p:cNvSpPr/>
          <p:nvPr/>
        </p:nvSpPr>
        <p:spPr>
          <a:xfrm>
            <a:off x="4709160" y="4041648"/>
            <a:ext cx="4251960" cy="365760"/>
          </a:xfrm>
          <a:prstGeom prst="rect">
            <a:avLst/>
          </a:prstGeom>
          <a:solidFill>
            <a:srgbClr val="1E1E1E"/>
          </a:solidFill>
          <a:ln w="12700">
            <a:solidFill>
              <a:srgbClr val="1E1E1E"/>
            </a:solidFill>
            <a:prstDash val="solid"/>
          </a:ln>
        </p:spPr>
      </p:sp>
      <p:sp>
        <p:nvSpPr>
          <p:cNvPr id="21" name="Text 18"/>
          <p:cNvSpPr/>
          <p:nvPr/>
        </p:nvSpPr>
        <p:spPr>
          <a:xfrm>
            <a:off x="4709160" y="4041648"/>
            <a:ext cx="4251960" cy="36576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What Claude Outputs</a:t>
            </a:r>
            <a:endParaRPr lang="en-US" sz="1100" dirty="0"/>
          </a:p>
        </p:txBody>
      </p:sp>
      <p:sp>
        <p:nvSpPr>
          <p:cNvPr id="22" name="Text 19"/>
          <p:cNvSpPr/>
          <p:nvPr/>
        </p:nvSpPr>
        <p:spPr>
          <a:xfrm>
            <a:off x="4800600" y="4443984"/>
            <a:ext cx="4069080" cy="566928"/>
          </a:xfrm>
          <a:prstGeom prst="rect">
            <a:avLst/>
          </a:prstGeom>
          <a:noFill/>
          <a:ln/>
        </p:spPr>
        <p:txBody>
          <a:bodyPr wrap="square" rtlCol="0" anchor="t"/>
          <a:lstStyle/>
          <a:p>
            <a:pPr algn="l" indent="0" marL="0">
              <a:buNone/>
            </a:pPr>
            <a:r>
              <a:rPr lang="en-US" sz="900" dirty="0">
                <a:solidFill>
                  <a:srgbClr val="CCCCCC"/>
                </a:solidFill>
                <a:latin typeface="Calibri" pitchFamily="34" charset="0"/>
                <a:ea typeface="Calibri" pitchFamily="34" charset="-122"/>
                <a:cs typeface="Calibri" pitchFamily="34" charset="-120"/>
              </a:rPr>
              <a:t>For each finding: (1) plain-English explanation of the vulnerability, (2) explanation of why it is dangerous in this specific contract context, (3) corrected code example demonstrating the fix, (4) severity rating — Critical / High / Medium / Low.</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TOOLS AND TECHNOLOGIES</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Full implementation stack — every tool selected for a specific, justified reason.</a:t>
            </a:r>
            <a:endParaRPr lang="en-US" sz="1000" dirty="0"/>
          </a:p>
        </p:txBody>
      </p:sp>
      <p:sp>
        <p:nvSpPr>
          <p:cNvPr id="6" name="Shape 4"/>
          <p:cNvSpPr/>
          <p:nvPr/>
        </p:nvSpPr>
        <p:spPr>
          <a:xfrm>
            <a:off x="274320" y="1261872"/>
            <a:ext cx="2834640" cy="1170432"/>
          </a:xfrm>
          <a:prstGeom prst="rect">
            <a:avLst/>
          </a:prstGeom>
          <a:solidFill>
            <a:srgbClr val="FFFFFF"/>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7" name="Shape 5"/>
          <p:cNvSpPr/>
          <p:nvPr/>
        </p:nvSpPr>
        <p:spPr>
          <a:xfrm>
            <a:off x="274320" y="1261872"/>
            <a:ext cx="2834640" cy="411480"/>
          </a:xfrm>
          <a:prstGeom prst="rect">
            <a:avLst/>
          </a:prstGeom>
          <a:solidFill>
            <a:srgbClr val="0D0D0D"/>
          </a:solidFill>
          <a:ln w="12700">
            <a:solidFill>
              <a:srgbClr val="0D0D0D"/>
            </a:solidFill>
            <a:prstDash val="solid"/>
          </a:ln>
        </p:spPr>
      </p:sp>
      <p:sp>
        <p:nvSpPr>
          <p:cNvPr id="8" name="Text 6"/>
          <p:cNvSpPr/>
          <p:nvPr/>
        </p:nvSpPr>
        <p:spPr>
          <a:xfrm>
            <a:off x="347472" y="1261872"/>
            <a:ext cx="2103120" cy="411480"/>
          </a:xfrm>
          <a:prstGeom prst="rect">
            <a:avLst/>
          </a:prstGeom>
          <a:noFill/>
          <a:ln/>
        </p:spPr>
        <p:txBody>
          <a:bodyPr wrap="square" lIns="76200" tIns="76200" rIns="76200" bIns="76200"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Python 3.11</a:t>
            </a:r>
            <a:endParaRPr lang="en-US" sz="1200" dirty="0"/>
          </a:p>
        </p:txBody>
      </p:sp>
      <p:sp>
        <p:nvSpPr>
          <p:cNvPr id="9" name="Text 7"/>
          <p:cNvSpPr/>
          <p:nvPr/>
        </p:nvSpPr>
        <p:spPr>
          <a:xfrm>
            <a:off x="2423160" y="1261872"/>
            <a:ext cx="658368" cy="411480"/>
          </a:xfrm>
          <a:prstGeom prst="rect">
            <a:avLst/>
          </a:prstGeom>
          <a:noFill/>
          <a:ln/>
        </p:spPr>
        <p:txBody>
          <a:bodyPr wrap="square" lIns="50800" tIns="50800" rIns="50800" bIns="5080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Backend Language</a:t>
            </a:r>
            <a:endParaRPr lang="en-US" sz="800" dirty="0"/>
          </a:p>
        </p:txBody>
      </p:sp>
      <p:sp>
        <p:nvSpPr>
          <p:cNvPr id="10" name="Text 8"/>
          <p:cNvSpPr/>
          <p:nvPr/>
        </p:nvSpPr>
        <p:spPr>
          <a:xfrm>
            <a:off x="365760" y="1719072"/>
            <a:ext cx="2670048" cy="658368"/>
          </a:xfrm>
          <a:prstGeom prst="rect">
            <a:avLst/>
          </a:prstGeom>
          <a:noFill/>
          <a:ln/>
        </p:spPr>
        <p:txBody>
          <a:bodyPr wrap="square" rtlCol="0" anchor="t"/>
          <a:lstStyle/>
          <a:p>
            <a:pPr algn="l" indent="0" marL="0">
              <a:buNone/>
            </a:pPr>
            <a:r>
              <a:rPr lang="en-US" sz="900" dirty="0">
                <a:solidFill>
                  <a:srgbClr val="444444"/>
                </a:solidFill>
                <a:latin typeface="Calibri" pitchFamily="34" charset="0"/>
                <a:ea typeface="Calibri" pitchFamily="34" charset="-122"/>
                <a:cs typeface="Calibri" pitchFamily="34" charset="-120"/>
              </a:rPr>
              <a:t>All server logic, Slither subprocess integration, Claude API calls, PDF generation. Selected for native Slither compatibility and mature ML library ecosystem.</a:t>
            </a:r>
            <a:endParaRPr lang="en-US" sz="900" dirty="0"/>
          </a:p>
        </p:txBody>
      </p:sp>
      <p:sp>
        <p:nvSpPr>
          <p:cNvPr id="11" name="Shape 9"/>
          <p:cNvSpPr/>
          <p:nvPr/>
        </p:nvSpPr>
        <p:spPr>
          <a:xfrm>
            <a:off x="3246120" y="1261872"/>
            <a:ext cx="2834640" cy="1170432"/>
          </a:xfrm>
          <a:prstGeom prst="rect">
            <a:avLst/>
          </a:prstGeom>
          <a:solidFill>
            <a:srgbClr val="FFFFFF"/>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12" name="Shape 10"/>
          <p:cNvSpPr/>
          <p:nvPr/>
        </p:nvSpPr>
        <p:spPr>
          <a:xfrm>
            <a:off x="3246120" y="1261872"/>
            <a:ext cx="2834640" cy="411480"/>
          </a:xfrm>
          <a:prstGeom prst="rect">
            <a:avLst/>
          </a:prstGeom>
          <a:solidFill>
            <a:srgbClr val="0D0D0D"/>
          </a:solidFill>
          <a:ln w="12700">
            <a:solidFill>
              <a:srgbClr val="0D0D0D"/>
            </a:solidFill>
            <a:prstDash val="solid"/>
          </a:ln>
        </p:spPr>
      </p:sp>
      <p:sp>
        <p:nvSpPr>
          <p:cNvPr id="13" name="Text 11"/>
          <p:cNvSpPr/>
          <p:nvPr/>
        </p:nvSpPr>
        <p:spPr>
          <a:xfrm>
            <a:off x="3319272" y="1261872"/>
            <a:ext cx="2103120" cy="411480"/>
          </a:xfrm>
          <a:prstGeom prst="rect">
            <a:avLst/>
          </a:prstGeom>
          <a:noFill/>
          <a:ln/>
        </p:spPr>
        <p:txBody>
          <a:bodyPr wrap="square" lIns="76200" tIns="76200" rIns="76200" bIns="76200"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FastAPI</a:t>
            </a:r>
            <a:endParaRPr lang="en-US" sz="1200" dirty="0"/>
          </a:p>
        </p:txBody>
      </p:sp>
      <p:sp>
        <p:nvSpPr>
          <p:cNvPr id="14" name="Text 12"/>
          <p:cNvSpPr/>
          <p:nvPr/>
        </p:nvSpPr>
        <p:spPr>
          <a:xfrm>
            <a:off x="5394960" y="1261872"/>
            <a:ext cx="658368" cy="411480"/>
          </a:xfrm>
          <a:prstGeom prst="rect">
            <a:avLst/>
          </a:prstGeom>
          <a:noFill/>
          <a:ln/>
        </p:spPr>
        <p:txBody>
          <a:bodyPr wrap="square" lIns="50800" tIns="50800" rIns="50800" bIns="5080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API Framework</a:t>
            </a:r>
            <a:endParaRPr lang="en-US" sz="800" dirty="0"/>
          </a:p>
        </p:txBody>
      </p:sp>
      <p:sp>
        <p:nvSpPr>
          <p:cNvPr id="15" name="Text 13"/>
          <p:cNvSpPr/>
          <p:nvPr/>
        </p:nvSpPr>
        <p:spPr>
          <a:xfrm>
            <a:off x="3337560" y="1719072"/>
            <a:ext cx="2670048" cy="658368"/>
          </a:xfrm>
          <a:prstGeom prst="rect">
            <a:avLst/>
          </a:prstGeom>
          <a:noFill/>
          <a:ln/>
        </p:spPr>
        <p:txBody>
          <a:bodyPr wrap="square" rtlCol="0" anchor="t"/>
          <a:lstStyle/>
          <a:p>
            <a:pPr algn="l" indent="0" marL="0">
              <a:buNone/>
            </a:pPr>
            <a:r>
              <a:rPr lang="en-US" sz="900" dirty="0">
                <a:solidFill>
                  <a:srgbClr val="444444"/>
                </a:solidFill>
                <a:latin typeface="Calibri" pitchFamily="34" charset="0"/>
                <a:ea typeface="Calibri" pitchFamily="34" charset="-122"/>
                <a:cs typeface="Calibri" pitchFamily="34" charset="-120"/>
              </a:rPr>
              <a:t>Async Python web framework. Handles .sol file uploads, request routing, pipeline orchestration. Auto-generates API documentation.</a:t>
            </a:r>
            <a:endParaRPr lang="en-US" sz="900" dirty="0"/>
          </a:p>
        </p:txBody>
      </p:sp>
      <p:sp>
        <p:nvSpPr>
          <p:cNvPr id="16" name="Shape 14"/>
          <p:cNvSpPr/>
          <p:nvPr/>
        </p:nvSpPr>
        <p:spPr>
          <a:xfrm>
            <a:off x="6217920" y="1261872"/>
            <a:ext cx="2834640" cy="1170432"/>
          </a:xfrm>
          <a:prstGeom prst="rect">
            <a:avLst/>
          </a:prstGeom>
          <a:solidFill>
            <a:srgbClr val="0D0D0D"/>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17" name="Shape 15"/>
          <p:cNvSpPr/>
          <p:nvPr/>
        </p:nvSpPr>
        <p:spPr>
          <a:xfrm>
            <a:off x="6217920" y="1261872"/>
            <a:ext cx="2834640" cy="411480"/>
          </a:xfrm>
          <a:prstGeom prst="rect">
            <a:avLst/>
          </a:prstGeom>
          <a:solidFill>
            <a:srgbClr val="0D0D0D"/>
          </a:solidFill>
          <a:ln w="12700">
            <a:solidFill>
              <a:srgbClr val="0D0D0D"/>
            </a:solidFill>
            <a:prstDash val="solid"/>
          </a:ln>
        </p:spPr>
      </p:sp>
      <p:sp>
        <p:nvSpPr>
          <p:cNvPr id="18" name="Text 16"/>
          <p:cNvSpPr/>
          <p:nvPr/>
        </p:nvSpPr>
        <p:spPr>
          <a:xfrm>
            <a:off x="6291072" y="1261872"/>
            <a:ext cx="2103120" cy="411480"/>
          </a:xfrm>
          <a:prstGeom prst="rect">
            <a:avLst/>
          </a:prstGeom>
          <a:noFill/>
          <a:ln/>
        </p:spPr>
        <p:txBody>
          <a:bodyPr wrap="square" lIns="76200" tIns="76200" rIns="76200" bIns="76200"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Slither</a:t>
            </a:r>
            <a:endParaRPr lang="en-US" sz="1200" dirty="0"/>
          </a:p>
        </p:txBody>
      </p:sp>
      <p:sp>
        <p:nvSpPr>
          <p:cNvPr id="19" name="Text 17"/>
          <p:cNvSpPr/>
          <p:nvPr/>
        </p:nvSpPr>
        <p:spPr>
          <a:xfrm>
            <a:off x="8366760" y="1261872"/>
            <a:ext cx="658368" cy="411480"/>
          </a:xfrm>
          <a:prstGeom prst="rect">
            <a:avLst/>
          </a:prstGeom>
          <a:noFill/>
          <a:ln/>
        </p:spPr>
        <p:txBody>
          <a:bodyPr wrap="square" lIns="50800" tIns="50800" rIns="50800" bIns="5080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Static Analysis</a:t>
            </a:r>
            <a:endParaRPr lang="en-US" sz="800" dirty="0"/>
          </a:p>
        </p:txBody>
      </p:sp>
      <p:sp>
        <p:nvSpPr>
          <p:cNvPr id="20" name="Text 18"/>
          <p:cNvSpPr/>
          <p:nvPr/>
        </p:nvSpPr>
        <p:spPr>
          <a:xfrm>
            <a:off x="6309360" y="1719072"/>
            <a:ext cx="2670048" cy="658368"/>
          </a:xfrm>
          <a:prstGeom prst="rect">
            <a:avLst/>
          </a:prstGeom>
          <a:noFill/>
          <a:ln/>
        </p:spPr>
        <p:txBody>
          <a:bodyPr wrap="square" rtlCol="0" anchor="t"/>
          <a:lstStyle/>
          <a:p>
            <a:pPr algn="l" indent="0" marL="0">
              <a:buNone/>
            </a:pPr>
            <a:r>
              <a:rPr lang="en-US" sz="900" dirty="0">
                <a:solidFill>
                  <a:srgbClr val="CCCCCC"/>
                </a:solidFill>
                <a:latin typeface="Calibri" pitchFamily="34" charset="0"/>
                <a:ea typeface="Calibri" pitchFamily="34" charset="-122"/>
                <a:cs typeface="Calibri" pitchFamily="34" charset="-120"/>
              </a:rPr>
              <a:t>Trail of Bits open-source Solidity analyser. Converts code to SlithIR, runs 90+ detectors, outputs structured JSON. Industry standard.</a:t>
            </a:r>
            <a:endParaRPr lang="en-US" sz="900" dirty="0"/>
          </a:p>
        </p:txBody>
      </p:sp>
      <p:sp>
        <p:nvSpPr>
          <p:cNvPr id="21" name="Shape 19"/>
          <p:cNvSpPr/>
          <p:nvPr/>
        </p:nvSpPr>
        <p:spPr>
          <a:xfrm>
            <a:off x="274320" y="2523744"/>
            <a:ext cx="2834640" cy="1170432"/>
          </a:xfrm>
          <a:prstGeom prst="rect">
            <a:avLst/>
          </a:prstGeom>
          <a:solidFill>
            <a:srgbClr val="0D0D0D"/>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22" name="Shape 20"/>
          <p:cNvSpPr/>
          <p:nvPr/>
        </p:nvSpPr>
        <p:spPr>
          <a:xfrm>
            <a:off x="274320" y="2523744"/>
            <a:ext cx="2834640" cy="411480"/>
          </a:xfrm>
          <a:prstGeom prst="rect">
            <a:avLst/>
          </a:prstGeom>
          <a:solidFill>
            <a:srgbClr val="0D0D0D"/>
          </a:solidFill>
          <a:ln w="12700">
            <a:solidFill>
              <a:srgbClr val="0D0D0D"/>
            </a:solidFill>
            <a:prstDash val="solid"/>
          </a:ln>
        </p:spPr>
      </p:sp>
      <p:sp>
        <p:nvSpPr>
          <p:cNvPr id="23" name="Text 21"/>
          <p:cNvSpPr/>
          <p:nvPr/>
        </p:nvSpPr>
        <p:spPr>
          <a:xfrm>
            <a:off x="347472" y="2523744"/>
            <a:ext cx="2103120" cy="411480"/>
          </a:xfrm>
          <a:prstGeom prst="rect">
            <a:avLst/>
          </a:prstGeom>
          <a:noFill/>
          <a:ln/>
        </p:spPr>
        <p:txBody>
          <a:bodyPr wrap="square" lIns="76200" tIns="76200" rIns="76200" bIns="76200"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Claude API</a:t>
            </a:r>
            <a:endParaRPr lang="en-US" sz="1200" dirty="0"/>
          </a:p>
        </p:txBody>
      </p:sp>
      <p:sp>
        <p:nvSpPr>
          <p:cNvPr id="24" name="Text 22"/>
          <p:cNvSpPr/>
          <p:nvPr/>
        </p:nvSpPr>
        <p:spPr>
          <a:xfrm>
            <a:off x="2423160" y="2523744"/>
            <a:ext cx="658368" cy="411480"/>
          </a:xfrm>
          <a:prstGeom prst="rect">
            <a:avLst/>
          </a:prstGeom>
          <a:noFill/>
          <a:ln/>
        </p:spPr>
        <p:txBody>
          <a:bodyPr wrap="square" lIns="50800" tIns="50800" rIns="50800" bIns="5080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AI Reasoning</a:t>
            </a:r>
            <a:endParaRPr lang="en-US" sz="800" dirty="0"/>
          </a:p>
        </p:txBody>
      </p:sp>
      <p:sp>
        <p:nvSpPr>
          <p:cNvPr id="25" name="Text 23"/>
          <p:cNvSpPr/>
          <p:nvPr/>
        </p:nvSpPr>
        <p:spPr>
          <a:xfrm>
            <a:off x="365760" y="2980944"/>
            <a:ext cx="2670048" cy="658368"/>
          </a:xfrm>
          <a:prstGeom prst="rect">
            <a:avLst/>
          </a:prstGeom>
          <a:noFill/>
          <a:ln/>
        </p:spPr>
        <p:txBody>
          <a:bodyPr wrap="square" rtlCol="0" anchor="t"/>
          <a:lstStyle/>
          <a:p>
            <a:pPr algn="l" indent="0" marL="0">
              <a:buNone/>
            </a:pPr>
            <a:r>
              <a:rPr lang="en-US" sz="900" dirty="0">
                <a:solidFill>
                  <a:srgbClr val="CCCCCC"/>
                </a:solidFill>
                <a:latin typeface="Calibri" pitchFamily="34" charset="0"/>
                <a:ea typeface="Calibri" pitchFamily="34" charset="-122"/>
                <a:cs typeface="Calibri" pitchFamily="34" charset="-120"/>
              </a:rPr>
              <a:t>Anthropic claude-sonnet-4-5. Receives Slither findings + contract source, outputs plain-English explanations and corrected code per vulnerability.</a:t>
            </a:r>
            <a:endParaRPr lang="en-US" sz="900" dirty="0"/>
          </a:p>
        </p:txBody>
      </p:sp>
      <p:sp>
        <p:nvSpPr>
          <p:cNvPr id="26" name="Shape 24"/>
          <p:cNvSpPr/>
          <p:nvPr/>
        </p:nvSpPr>
        <p:spPr>
          <a:xfrm>
            <a:off x="3246120" y="2523744"/>
            <a:ext cx="2834640" cy="1170432"/>
          </a:xfrm>
          <a:prstGeom prst="rect">
            <a:avLst/>
          </a:prstGeom>
          <a:solidFill>
            <a:srgbClr val="FFFFFF"/>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27" name="Shape 25"/>
          <p:cNvSpPr/>
          <p:nvPr/>
        </p:nvSpPr>
        <p:spPr>
          <a:xfrm>
            <a:off x="3246120" y="2523744"/>
            <a:ext cx="2834640" cy="411480"/>
          </a:xfrm>
          <a:prstGeom prst="rect">
            <a:avLst/>
          </a:prstGeom>
          <a:solidFill>
            <a:srgbClr val="0D0D0D"/>
          </a:solidFill>
          <a:ln w="12700">
            <a:solidFill>
              <a:srgbClr val="0D0D0D"/>
            </a:solidFill>
            <a:prstDash val="solid"/>
          </a:ln>
        </p:spPr>
      </p:sp>
      <p:sp>
        <p:nvSpPr>
          <p:cNvPr id="28" name="Text 26"/>
          <p:cNvSpPr/>
          <p:nvPr/>
        </p:nvSpPr>
        <p:spPr>
          <a:xfrm>
            <a:off x="3319272" y="2523744"/>
            <a:ext cx="2103120" cy="411480"/>
          </a:xfrm>
          <a:prstGeom prst="rect">
            <a:avLst/>
          </a:prstGeom>
          <a:noFill/>
          <a:ln/>
        </p:spPr>
        <p:txBody>
          <a:bodyPr wrap="square" lIns="76200" tIns="76200" rIns="76200" bIns="76200"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Next.js 14</a:t>
            </a:r>
            <a:endParaRPr lang="en-US" sz="1200" dirty="0"/>
          </a:p>
        </p:txBody>
      </p:sp>
      <p:sp>
        <p:nvSpPr>
          <p:cNvPr id="29" name="Text 27"/>
          <p:cNvSpPr/>
          <p:nvPr/>
        </p:nvSpPr>
        <p:spPr>
          <a:xfrm>
            <a:off x="5394960" y="2523744"/>
            <a:ext cx="658368" cy="411480"/>
          </a:xfrm>
          <a:prstGeom prst="rect">
            <a:avLst/>
          </a:prstGeom>
          <a:noFill/>
          <a:ln/>
        </p:spPr>
        <p:txBody>
          <a:bodyPr wrap="square" lIns="50800" tIns="50800" rIns="50800" bIns="5080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Frontend</a:t>
            </a:r>
            <a:endParaRPr lang="en-US" sz="800" dirty="0"/>
          </a:p>
        </p:txBody>
      </p:sp>
      <p:sp>
        <p:nvSpPr>
          <p:cNvPr id="30" name="Text 28"/>
          <p:cNvSpPr/>
          <p:nvPr/>
        </p:nvSpPr>
        <p:spPr>
          <a:xfrm>
            <a:off x="3337560" y="2980944"/>
            <a:ext cx="2670048" cy="658368"/>
          </a:xfrm>
          <a:prstGeom prst="rect">
            <a:avLst/>
          </a:prstGeom>
          <a:noFill/>
          <a:ln/>
        </p:spPr>
        <p:txBody>
          <a:bodyPr wrap="square" rtlCol="0" anchor="t"/>
          <a:lstStyle/>
          <a:p>
            <a:pPr algn="l" indent="0" marL="0">
              <a:buNone/>
            </a:pPr>
            <a:r>
              <a:rPr lang="en-US" sz="900" dirty="0">
                <a:solidFill>
                  <a:srgbClr val="444444"/>
                </a:solidFill>
                <a:latin typeface="Calibri" pitchFamily="34" charset="0"/>
                <a:ea typeface="Calibri" pitchFamily="34" charset="-122"/>
                <a:cs typeface="Calibri" pitchFamily="34" charset="-120"/>
              </a:rPr>
              <a:t>React framework for the upload interface and report display. Sends .sol files as multipart form data to the FastAPI backend.</a:t>
            </a:r>
            <a:endParaRPr lang="en-US" sz="900" dirty="0"/>
          </a:p>
        </p:txBody>
      </p:sp>
      <p:sp>
        <p:nvSpPr>
          <p:cNvPr id="31" name="Shape 29"/>
          <p:cNvSpPr/>
          <p:nvPr/>
        </p:nvSpPr>
        <p:spPr>
          <a:xfrm>
            <a:off x="6217920" y="2523744"/>
            <a:ext cx="2834640" cy="1170432"/>
          </a:xfrm>
          <a:prstGeom prst="rect">
            <a:avLst/>
          </a:prstGeom>
          <a:solidFill>
            <a:srgbClr val="FFFFFF"/>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32" name="Shape 30"/>
          <p:cNvSpPr/>
          <p:nvPr/>
        </p:nvSpPr>
        <p:spPr>
          <a:xfrm>
            <a:off x="6217920" y="2523744"/>
            <a:ext cx="2834640" cy="411480"/>
          </a:xfrm>
          <a:prstGeom prst="rect">
            <a:avLst/>
          </a:prstGeom>
          <a:solidFill>
            <a:srgbClr val="0D0D0D"/>
          </a:solidFill>
          <a:ln w="12700">
            <a:solidFill>
              <a:srgbClr val="0D0D0D"/>
            </a:solidFill>
            <a:prstDash val="solid"/>
          </a:ln>
        </p:spPr>
      </p:sp>
      <p:sp>
        <p:nvSpPr>
          <p:cNvPr id="33" name="Text 31"/>
          <p:cNvSpPr/>
          <p:nvPr/>
        </p:nvSpPr>
        <p:spPr>
          <a:xfrm>
            <a:off x="6291072" y="2523744"/>
            <a:ext cx="2103120" cy="411480"/>
          </a:xfrm>
          <a:prstGeom prst="rect">
            <a:avLst/>
          </a:prstGeom>
          <a:noFill/>
          <a:ln/>
        </p:spPr>
        <p:txBody>
          <a:bodyPr wrap="square" lIns="76200" tIns="76200" rIns="76200" bIns="76200"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ReportLab</a:t>
            </a:r>
            <a:endParaRPr lang="en-US" sz="1200" dirty="0"/>
          </a:p>
        </p:txBody>
      </p:sp>
      <p:sp>
        <p:nvSpPr>
          <p:cNvPr id="34" name="Text 32"/>
          <p:cNvSpPr/>
          <p:nvPr/>
        </p:nvSpPr>
        <p:spPr>
          <a:xfrm>
            <a:off x="8366760" y="2523744"/>
            <a:ext cx="658368" cy="411480"/>
          </a:xfrm>
          <a:prstGeom prst="rect">
            <a:avLst/>
          </a:prstGeom>
          <a:noFill/>
          <a:ln/>
        </p:spPr>
        <p:txBody>
          <a:bodyPr wrap="square" lIns="50800" tIns="50800" rIns="50800" bIns="5080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PDF Output</a:t>
            </a:r>
            <a:endParaRPr lang="en-US" sz="800" dirty="0"/>
          </a:p>
        </p:txBody>
      </p:sp>
      <p:sp>
        <p:nvSpPr>
          <p:cNvPr id="35" name="Text 33"/>
          <p:cNvSpPr/>
          <p:nvPr/>
        </p:nvSpPr>
        <p:spPr>
          <a:xfrm>
            <a:off x="6309360" y="2980944"/>
            <a:ext cx="2670048" cy="658368"/>
          </a:xfrm>
          <a:prstGeom prst="rect">
            <a:avLst/>
          </a:prstGeom>
          <a:noFill/>
          <a:ln/>
        </p:spPr>
        <p:txBody>
          <a:bodyPr wrap="square" rtlCol="0" anchor="t"/>
          <a:lstStyle/>
          <a:p>
            <a:pPr algn="l" indent="0" marL="0">
              <a:buNone/>
            </a:pPr>
            <a:r>
              <a:rPr lang="en-US" sz="900" dirty="0">
                <a:solidFill>
                  <a:srgbClr val="444444"/>
                </a:solidFill>
                <a:latin typeface="Calibri" pitchFamily="34" charset="0"/>
                <a:ea typeface="Calibri" pitchFamily="34" charset="-122"/>
                <a:cs typeface="Calibri" pitchFamily="34" charset="-120"/>
              </a:rPr>
              <a:t>Generates formatted audit PDF report — executive summary, severity table, per-finding explanations, remediation checklist.</a:t>
            </a:r>
            <a:endParaRPr lang="en-US" sz="900" dirty="0"/>
          </a:p>
        </p:txBody>
      </p:sp>
      <p:sp>
        <p:nvSpPr>
          <p:cNvPr id="36" name="Shape 34"/>
          <p:cNvSpPr/>
          <p:nvPr/>
        </p:nvSpPr>
        <p:spPr>
          <a:xfrm>
            <a:off x="274320" y="3785616"/>
            <a:ext cx="2834640" cy="1170432"/>
          </a:xfrm>
          <a:prstGeom prst="rect">
            <a:avLst/>
          </a:prstGeom>
          <a:solidFill>
            <a:srgbClr val="FFFFFF"/>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37" name="Shape 35"/>
          <p:cNvSpPr/>
          <p:nvPr/>
        </p:nvSpPr>
        <p:spPr>
          <a:xfrm>
            <a:off x="274320" y="3785616"/>
            <a:ext cx="2834640" cy="411480"/>
          </a:xfrm>
          <a:prstGeom prst="rect">
            <a:avLst/>
          </a:prstGeom>
          <a:solidFill>
            <a:srgbClr val="0D0D0D"/>
          </a:solidFill>
          <a:ln w="12700">
            <a:solidFill>
              <a:srgbClr val="0D0D0D"/>
            </a:solidFill>
            <a:prstDash val="solid"/>
          </a:ln>
        </p:spPr>
      </p:sp>
      <p:sp>
        <p:nvSpPr>
          <p:cNvPr id="38" name="Text 36"/>
          <p:cNvSpPr/>
          <p:nvPr/>
        </p:nvSpPr>
        <p:spPr>
          <a:xfrm>
            <a:off x="347472" y="3785616"/>
            <a:ext cx="2103120" cy="411480"/>
          </a:xfrm>
          <a:prstGeom prst="rect">
            <a:avLst/>
          </a:prstGeom>
          <a:noFill/>
          <a:ln/>
        </p:spPr>
        <p:txBody>
          <a:bodyPr wrap="square" lIns="76200" tIns="76200" rIns="76200" bIns="76200"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Hardhat</a:t>
            </a:r>
            <a:endParaRPr lang="en-US" sz="1200" dirty="0"/>
          </a:p>
        </p:txBody>
      </p:sp>
      <p:sp>
        <p:nvSpPr>
          <p:cNvPr id="39" name="Text 37"/>
          <p:cNvSpPr/>
          <p:nvPr/>
        </p:nvSpPr>
        <p:spPr>
          <a:xfrm>
            <a:off x="2423160" y="3785616"/>
            <a:ext cx="658368" cy="411480"/>
          </a:xfrm>
          <a:prstGeom prst="rect">
            <a:avLst/>
          </a:prstGeom>
          <a:noFill/>
          <a:ln/>
        </p:spPr>
        <p:txBody>
          <a:bodyPr wrap="square" lIns="50800" tIns="50800" rIns="50800" bIns="5080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Testing</a:t>
            </a:r>
            <a:endParaRPr lang="en-US" sz="800" dirty="0"/>
          </a:p>
        </p:txBody>
      </p:sp>
      <p:sp>
        <p:nvSpPr>
          <p:cNvPr id="40" name="Text 38"/>
          <p:cNvSpPr/>
          <p:nvPr/>
        </p:nvSpPr>
        <p:spPr>
          <a:xfrm>
            <a:off x="365760" y="4242816"/>
            <a:ext cx="2670048" cy="658368"/>
          </a:xfrm>
          <a:prstGeom prst="rect">
            <a:avLst/>
          </a:prstGeom>
          <a:noFill/>
          <a:ln/>
        </p:spPr>
        <p:txBody>
          <a:bodyPr wrap="square" rtlCol="0" anchor="t"/>
          <a:lstStyle/>
          <a:p>
            <a:pPr algn="l" indent="0" marL="0">
              <a:buNone/>
            </a:pPr>
            <a:r>
              <a:rPr lang="en-US" sz="900" dirty="0">
                <a:solidFill>
                  <a:srgbClr val="444444"/>
                </a:solidFill>
                <a:latin typeface="Calibri" pitchFamily="34" charset="0"/>
                <a:ea typeface="Calibri" pitchFamily="34" charset="-122"/>
                <a:cs typeface="Calibri" pitchFamily="34" charset="-120"/>
              </a:rPr>
              <a:t>Compiles and deploys test contracts to local and Polygon testnet for end-to-end integration testing of the full pipeline.</a:t>
            </a:r>
            <a:endParaRPr lang="en-US" sz="900" dirty="0"/>
          </a:p>
        </p:txBody>
      </p:sp>
      <p:sp>
        <p:nvSpPr>
          <p:cNvPr id="41" name="Shape 39"/>
          <p:cNvSpPr/>
          <p:nvPr/>
        </p:nvSpPr>
        <p:spPr>
          <a:xfrm>
            <a:off x="3246120" y="3785616"/>
            <a:ext cx="2834640" cy="1170432"/>
          </a:xfrm>
          <a:prstGeom prst="rect">
            <a:avLst/>
          </a:prstGeom>
          <a:solidFill>
            <a:srgbClr val="0D0D0D"/>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42" name="Shape 40"/>
          <p:cNvSpPr/>
          <p:nvPr/>
        </p:nvSpPr>
        <p:spPr>
          <a:xfrm>
            <a:off x="3246120" y="3785616"/>
            <a:ext cx="2834640" cy="411480"/>
          </a:xfrm>
          <a:prstGeom prst="rect">
            <a:avLst/>
          </a:prstGeom>
          <a:solidFill>
            <a:srgbClr val="0D0D0D"/>
          </a:solidFill>
          <a:ln w="12700">
            <a:solidFill>
              <a:srgbClr val="0D0D0D"/>
            </a:solidFill>
            <a:prstDash val="solid"/>
          </a:ln>
        </p:spPr>
      </p:sp>
      <p:sp>
        <p:nvSpPr>
          <p:cNvPr id="43" name="Text 41"/>
          <p:cNvSpPr/>
          <p:nvPr/>
        </p:nvSpPr>
        <p:spPr>
          <a:xfrm>
            <a:off x="3319272" y="3785616"/>
            <a:ext cx="2103120" cy="411480"/>
          </a:xfrm>
          <a:prstGeom prst="rect">
            <a:avLst/>
          </a:prstGeom>
          <a:noFill/>
          <a:ln/>
        </p:spPr>
        <p:txBody>
          <a:bodyPr wrap="square" lIns="76200" tIns="76200" rIns="76200" bIns="76200"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SmartBugs</a:t>
            </a:r>
            <a:endParaRPr lang="en-US" sz="1200" dirty="0"/>
          </a:p>
        </p:txBody>
      </p:sp>
      <p:sp>
        <p:nvSpPr>
          <p:cNvPr id="44" name="Text 42"/>
          <p:cNvSpPr/>
          <p:nvPr/>
        </p:nvSpPr>
        <p:spPr>
          <a:xfrm>
            <a:off x="5394960" y="3785616"/>
            <a:ext cx="658368" cy="411480"/>
          </a:xfrm>
          <a:prstGeom prst="rect">
            <a:avLst/>
          </a:prstGeom>
          <a:noFill/>
          <a:ln/>
        </p:spPr>
        <p:txBody>
          <a:bodyPr wrap="square" lIns="50800" tIns="50800" rIns="50800" bIns="5080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Evaluation Dataset</a:t>
            </a:r>
            <a:endParaRPr lang="en-US" sz="800" dirty="0"/>
          </a:p>
        </p:txBody>
      </p:sp>
      <p:sp>
        <p:nvSpPr>
          <p:cNvPr id="45" name="Text 43"/>
          <p:cNvSpPr/>
          <p:nvPr/>
        </p:nvSpPr>
        <p:spPr>
          <a:xfrm>
            <a:off x="3337560" y="4242816"/>
            <a:ext cx="2670048" cy="658368"/>
          </a:xfrm>
          <a:prstGeom prst="rect">
            <a:avLst/>
          </a:prstGeom>
          <a:noFill/>
          <a:ln/>
        </p:spPr>
        <p:txBody>
          <a:bodyPr wrap="square" rtlCol="0" anchor="t"/>
          <a:lstStyle/>
          <a:p>
            <a:pPr algn="l" indent="0" marL="0">
              <a:buNone/>
            </a:pPr>
            <a:r>
              <a:rPr lang="en-US" sz="900" dirty="0">
                <a:solidFill>
                  <a:srgbClr val="CCCCCC"/>
                </a:solidFill>
                <a:latin typeface="Calibri" pitchFamily="34" charset="0"/>
                <a:ea typeface="Calibri" pitchFamily="34" charset="-122"/>
                <a:cs typeface="Calibri" pitchFamily="34" charset="-120"/>
              </a:rPr>
              <a:t>47 annotated vulnerable Solidity contracts with ground truth labels. Standard benchmark for smart contract analysis tool evaluation.</a:t>
            </a:r>
            <a:endParaRPr lang="en-US" sz="900" dirty="0"/>
          </a:p>
        </p:txBody>
      </p:sp>
      <p:sp>
        <p:nvSpPr>
          <p:cNvPr id="46" name="Shape 44"/>
          <p:cNvSpPr/>
          <p:nvPr/>
        </p:nvSpPr>
        <p:spPr>
          <a:xfrm>
            <a:off x="6217920" y="3785616"/>
            <a:ext cx="2834640" cy="1170432"/>
          </a:xfrm>
          <a:prstGeom prst="rect">
            <a:avLst/>
          </a:prstGeom>
          <a:solidFill>
            <a:srgbClr val="FFFFFF"/>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47" name="Shape 45"/>
          <p:cNvSpPr/>
          <p:nvPr/>
        </p:nvSpPr>
        <p:spPr>
          <a:xfrm>
            <a:off x="6217920" y="3785616"/>
            <a:ext cx="2834640" cy="411480"/>
          </a:xfrm>
          <a:prstGeom prst="rect">
            <a:avLst/>
          </a:prstGeom>
          <a:solidFill>
            <a:srgbClr val="0D0D0D"/>
          </a:solidFill>
          <a:ln w="12700">
            <a:solidFill>
              <a:srgbClr val="0D0D0D"/>
            </a:solidFill>
            <a:prstDash val="solid"/>
          </a:ln>
        </p:spPr>
      </p:sp>
      <p:sp>
        <p:nvSpPr>
          <p:cNvPr id="48" name="Text 46"/>
          <p:cNvSpPr/>
          <p:nvPr/>
        </p:nvSpPr>
        <p:spPr>
          <a:xfrm>
            <a:off x="6291072" y="3785616"/>
            <a:ext cx="2103120" cy="411480"/>
          </a:xfrm>
          <a:prstGeom prst="rect">
            <a:avLst/>
          </a:prstGeom>
          <a:noFill/>
          <a:ln/>
        </p:spPr>
        <p:txBody>
          <a:bodyPr wrap="square" lIns="76200" tIns="76200" rIns="76200" bIns="76200"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Git / GitHub</a:t>
            </a:r>
            <a:endParaRPr lang="en-US" sz="1200" dirty="0"/>
          </a:p>
        </p:txBody>
      </p:sp>
      <p:sp>
        <p:nvSpPr>
          <p:cNvPr id="49" name="Text 47"/>
          <p:cNvSpPr/>
          <p:nvPr/>
        </p:nvSpPr>
        <p:spPr>
          <a:xfrm>
            <a:off x="8366760" y="3785616"/>
            <a:ext cx="658368" cy="411480"/>
          </a:xfrm>
          <a:prstGeom prst="rect">
            <a:avLst/>
          </a:prstGeom>
          <a:noFill/>
          <a:ln/>
        </p:spPr>
        <p:txBody>
          <a:bodyPr wrap="square" lIns="50800" tIns="50800" rIns="50800" bIns="50800" rtlCol="0" anchor="ctr"/>
          <a:lstStyle/>
          <a:p>
            <a:pPr algn="r" indent="0" marL="0">
              <a:buNone/>
            </a:pPr>
            <a:r>
              <a:rPr lang="en-US" sz="800" dirty="0">
                <a:solidFill>
                  <a:srgbClr val="AAAAAA"/>
                </a:solidFill>
                <a:latin typeface="Calibri" pitchFamily="34" charset="0"/>
                <a:ea typeface="Calibri" pitchFamily="34" charset="-122"/>
                <a:cs typeface="Calibri" pitchFamily="34" charset="-120"/>
              </a:rPr>
              <a:t>Version Control</a:t>
            </a:r>
            <a:endParaRPr lang="en-US" sz="800" dirty="0"/>
          </a:p>
        </p:txBody>
      </p:sp>
      <p:sp>
        <p:nvSpPr>
          <p:cNvPr id="50" name="Text 48"/>
          <p:cNvSpPr/>
          <p:nvPr/>
        </p:nvSpPr>
        <p:spPr>
          <a:xfrm>
            <a:off x="6309360" y="4242816"/>
            <a:ext cx="2670048" cy="658368"/>
          </a:xfrm>
          <a:prstGeom prst="rect">
            <a:avLst/>
          </a:prstGeom>
          <a:noFill/>
          <a:ln/>
        </p:spPr>
        <p:txBody>
          <a:bodyPr wrap="square" rtlCol="0" anchor="t"/>
          <a:lstStyle/>
          <a:p>
            <a:pPr algn="l" indent="0" marL="0">
              <a:buNone/>
            </a:pPr>
            <a:r>
              <a:rPr lang="en-US" sz="900" dirty="0">
                <a:solidFill>
                  <a:srgbClr val="444444"/>
                </a:solidFill>
                <a:latin typeface="Calibri" pitchFamily="34" charset="0"/>
                <a:ea typeface="Calibri" pitchFamily="34" charset="-122"/>
                <a:cs typeface="Calibri" pitchFamily="34" charset="-120"/>
              </a:rPr>
              <a:t>Feature branching, pull requests, and collaborative development. Repository published openly for reproducibility.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PROJECT SCOPE</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Clearly defined boundaries — what this research covers and what it explicitly does not cover.</a:t>
            </a:r>
            <a:endParaRPr lang="en-US" sz="1000" dirty="0"/>
          </a:p>
        </p:txBody>
      </p:sp>
      <p:pic>
        <p:nvPicPr>
          <p:cNvPr id="6" name="Image 0" descr="/home/claude/fyp/scope.png">    </p:cNvPr>
          <p:cNvPicPr>
            <a:picLocks noChangeAspect="1"/>
          </p:cNvPicPr>
          <p:nvPr/>
        </p:nvPicPr>
        <p:blipFill>
          <a:blip r:embed="rId1"/>
          <a:stretch>
            <a:fillRect/>
          </a:stretch>
        </p:blipFill>
        <p:spPr>
          <a:xfrm>
            <a:off x="274320" y="1261872"/>
            <a:ext cx="8595360" cy="3767328"/>
          </a:xfrm>
          <a:prstGeom prst="rect">
            <a:avLst/>
          </a:prstGeom>
          <a:effectLst>
            <a:outerShdw sx="100000" sy="100000" kx="0" ky="0" algn="bl" rotWithShape="0" blurRad="101600" dist="38100" dir="8100000">
              <a:srgbClr val="000000">
                <a:alpha val="15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EXPECTED RESULTS</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Quantitative detection performance and qualitative report quality — two evaluation dimensions, one benchmark dataset.</a:t>
            </a:r>
            <a:endParaRPr lang="en-US" sz="1000" dirty="0"/>
          </a:p>
        </p:txBody>
      </p:sp>
      <p:pic>
        <p:nvPicPr>
          <p:cNvPr id="6" name="Image 0" descr="/home/claude/fyp/results.png">    </p:cNvPr>
          <p:cNvPicPr>
            <a:picLocks noChangeAspect="1"/>
          </p:cNvPicPr>
          <p:nvPr/>
        </p:nvPicPr>
        <p:blipFill>
          <a:blip r:embed="rId1"/>
          <a:stretch>
            <a:fillRect/>
          </a:stretch>
        </p:blipFill>
        <p:spPr>
          <a:xfrm>
            <a:off x="274320" y="1261872"/>
            <a:ext cx="5029200" cy="2816352"/>
          </a:xfrm>
          <a:prstGeom prst="rect">
            <a:avLst/>
          </a:prstGeom>
          <a:effectLst>
            <a:outerShdw sx="100000" sy="100000" kx="0" ky="0" algn="bl" rotWithShape="0" blurRad="101600" dist="38100" dir="8100000">
              <a:srgbClr val="000000">
                <a:alpha val="15000"/>
              </a:srgbClr>
            </a:outerShdw>
          </a:effectLst>
        </p:spPr>
      </p:pic>
      <p:sp>
        <p:nvSpPr>
          <p:cNvPr id="7" name="Shape 4"/>
          <p:cNvSpPr/>
          <p:nvPr/>
        </p:nvSpPr>
        <p:spPr>
          <a:xfrm>
            <a:off x="5486400" y="1261872"/>
            <a:ext cx="3383280" cy="822960"/>
          </a:xfrm>
          <a:prstGeom prst="rect">
            <a:avLst/>
          </a:prstGeom>
          <a:solidFill>
            <a:srgbClr val="0D0D0D"/>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8" name="Text 5"/>
          <p:cNvSpPr/>
          <p:nvPr/>
        </p:nvSpPr>
        <p:spPr>
          <a:xfrm>
            <a:off x="5486400" y="1261872"/>
            <a:ext cx="1188720" cy="82296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&gt; 0.77</a:t>
            </a:r>
            <a:endParaRPr lang="en-US" sz="2200" dirty="0"/>
          </a:p>
        </p:txBody>
      </p:sp>
      <p:sp>
        <p:nvSpPr>
          <p:cNvPr id="9" name="Shape 6"/>
          <p:cNvSpPr/>
          <p:nvPr/>
        </p:nvSpPr>
        <p:spPr>
          <a:xfrm>
            <a:off x="6675120" y="1408176"/>
            <a:ext cx="36576" cy="548640"/>
          </a:xfrm>
          <a:prstGeom prst="rect">
            <a:avLst/>
          </a:prstGeom>
          <a:solidFill>
            <a:srgbClr val="444444"/>
          </a:solidFill>
          <a:ln w="12700">
            <a:solidFill>
              <a:srgbClr val="444444"/>
            </a:solidFill>
            <a:prstDash val="solid"/>
          </a:ln>
        </p:spPr>
      </p:sp>
      <p:sp>
        <p:nvSpPr>
          <p:cNvPr id="10" name="Text 7"/>
          <p:cNvSpPr/>
          <p:nvPr/>
        </p:nvSpPr>
        <p:spPr>
          <a:xfrm>
            <a:off x="6748272" y="1335024"/>
            <a:ext cx="2057400" cy="301752"/>
          </a:xfrm>
          <a:prstGeom prst="rect">
            <a:avLst/>
          </a:prstGeom>
          <a:noFill/>
          <a:ln/>
        </p:spPr>
        <p:txBody>
          <a:bodyPr wrap="square" rtlCol="0" anchor="ctr"/>
          <a:lstStyle/>
          <a:p>
            <a:pPr algn="l" indent="0" marL="0">
              <a:buNone/>
            </a:pPr>
            <a:r>
              <a:rPr lang="en-US" sz="1150" b="1" dirty="0">
                <a:solidFill>
                  <a:srgbClr val="FFFFFF"/>
                </a:solidFill>
                <a:latin typeface="Georgia" pitchFamily="34" charset="0"/>
                <a:ea typeface="Georgia" pitchFamily="34" charset="-122"/>
                <a:cs typeface="Georgia" pitchFamily="34" charset="-120"/>
              </a:rPr>
              <a:t>Overall F1-Score</a:t>
            </a:r>
            <a:endParaRPr lang="en-US" sz="1150" dirty="0"/>
          </a:p>
        </p:txBody>
      </p:sp>
      <p:sp>
        <p:nvSpPr>
          <p:cNvPr id="11" name="Text 8"/>
          <p:cNvSpPr/>
          <p:nvPr/>
        </p:nvSpPr>
        <p:spPr>
          <a:xfrm>
            <a:off x="6748272" y="1682496"/>
            <a:ext cx="2057400" cy="329184"/>
          </a:xfrm>
          <a:prstGeom prst="rect">
            <a:avLst/>
          </a:prstGeom>
          <a:noFill/>
          <a:ln/>
        </p:spPr>
        <p:txBody>
          <a:bodyPr wrap="square" rtlCol="0" anchor="ctr"/>
          <a:lstStyle/>
          <a:p>
            <a:pPr algn="l" indent="0" marL="0">
              <a:buNone/>
            </a:pPr>
            <a:r>
              <a:rPr lang="en-US" sz="950" dirty="0">
                <a:solidFill>
                  <a:srgbClr val="AAAAAA"/>
                </a:solidFill>
                <a:latin typeface="Calibri" pitchFamily="34" charset="0"/>
                <a:ea typeface="Calibri" pitchFamily="34" charset="-122"/>
                <a:cs typeface="Calibri" pitchFamily="34" charset="-120"/>
              </a:rPr>
              <a:t>Across 5 SWC vulnerability classes</a:t>
            </a:r>
            <a:endParaRPr lang="en-US" sz="950" dirty="0"/>
          </a:p>
        </p:txBody>
      </p:sp>
      <p:sp>
        <p:nvSpPr>
          <p:cNvPr id="12" name="Shape 9"/>
          <p:cNvSpPr/>
          <p:nvPr/>
        </p:nvSpPr>
        <p:spPr>
          <a:xfrm>
            <a:off x="5486400" y="2176272"/>
            <a:ext cx="3383280" cy="822960"/>
          </a:xfrm>
          <a:prstGeom prst="rect">
            <a:avLst/>
          </a:prstGeom>
          <a:solidFill>
            <a:srgbClr val="F0F0F0"/>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13" name="Text 10"/>
          <p:cNvSpPr/>
          <p:nvPr/>
        </p:nvSpPr>
        <p:spPr>
          <a:xfrm>
            <a:off x="5486400" y="2176272"/>
            <a:ext cx="1188720" cy="822960"/>
          </a:xfrm>
          <a:prstGeom prst="rect">
            <a:avLst/>
          </a:prstGeom>
          <a:noFill/>
          <a:ln/>
        </p:spPr>
        <p:txBody>
          <a:bodyPr wrap="square" rtlCol="0" anchor="ctr"/>
          <a:lstStyle/>
          <a:p>
            <a:pPr algn="ctr" indent="0" marL="0">
              <a:buNone/>
            </a:pPr>
            <a:r>
              <a:rPr lang="en-US" sz="2200" b="1" dirty="0">
                <a:solidFill>
                  <a:srgbClr val="0D0D0D"/>
                </a:solidFill>
                <a:latin typeface="Georgia" pitchFamily="34" charset="0"/>
                <a:ea typeface="Georgia" pitchFamily="34" charset="-122"/>
                <a:cs typeface="Georgia" pitchFamily="34" charset="-120"/>
              </a:rPr>
              <a:t>4.1/5.0</a:t>
            </a:r>
            <a:endParaRPr lang="en-US" sz="2200" dirty="0"/>
          </a:p>
        </p:txBody>
      </p:sp>
      <p:sp>
        <p:nvSpPr>
          <p:cNvPr id="14" name="Shape 11"/>
          <p:cNvSpPr/>
          <p:nvPr/>
        </p:nvSpPr>
        <p:spPr>
          <a:xfrm>
            <a:off x="6675120" y="2322576"/>
            <a:ext cx="36576" cy="548640"/>
          </a:xfrm>
          <a:prstGeom prst="rect">
            <a:avLst/>
          </a:prstGeom>
          <a:solidFill>
            <a:srgbClr val="CCCCCC"/>
          </a:solidFill>
          <a:ln w="12700">
            <a:solidFill>
              <a:srgbClr val="CCCCCC"/>
            </a:solidFill>
            <a:prstDash val="solid"/>
          </a:ln>
        </p:spPr>
      </p:sp>
      <p:sp>
        <p:nvSpPr>
          <p:cNvPr id="15" name="Text 12"/>
          <p:cNvSpPr/>
          <p:nvPr/>
        </p:nvSpPr>
        <p:spPr>
          <a:xfrm>
            <a:off x="6748272" y="2249424"/>
            <a:ext cx="2057400" cy="301752"/>
          </a:xfrm>
          <a:prstGeom prst="rect">
            <a:avLst/>
          </a:prstGeom>
          <a:noFill/>
          <a:ln/>
        </p:spPr>
        <p:txBody>
          <a:bodyPr wrap="square" rtlCol="0" anchor="ctr"/>
          <a:lstStyle/>
          <a:p>
            <a:pPr algn="l" indent="0" marL="0">
              <a:buNone/>
            </a:pPr>
            <a:r>
              <a:rPr lang="en-US" sz="1150" b="1" dirty="0">
                <a:solidFill>
                  <a:srgbClr val="0D0D0D"/>
                </a:solidFill>
                <a:latin typeface="Georgia" pitchFamily="34" charset="0"/>
                <a:ea typeface="Georgia" pitchFamily="34" charset="-122"/>
                <a:cs typeface="Georgia" pitchFamily="34" charset="-120"/>
              </a:rPr>
              <a:t>Report Quality</a:t>
            </a:r>
            <a:endParaRPr lang="en-US" sz="1150" dirty="0"/>
          </a:p>
        </p:txBody>
      </p:sp>
      <p:sp>
        <p:nvSpPr>
          <p:cNvPr id="16" name="Text 13"/>
          <p:cNvSpPr/>
          <p:nvPr/>
        </p:nvSpPr>
        <p:spPr>
          <a:xfrm>
            <a:off x="6748272" y="2596896"/>
            <a:ext cx="2057400" cy="329184"/>
          </a:xfrm>
          <a:prstGeom prst="rect">
            <a:avLst/>
          </a:prstGeom>
          <a:noFill/>
          <a:ln/>
        </p:spPr>
        <p:txBody>
          <a:bodyPr wrap="square" rtlCol="0" anchor="ctr"/>
          <a:lstStyle/>
          <a:p>
            <a:pPr algn="l" indent="0" marL="0">
              <a:buNone/>
            </a:pPr>
            <a:r>
              <a:rPr lang="en-US" sz="950" dirty="0">
                <a:solidFill>
                  <a:srgbClr val="666666"/>
                </a:solidFill>
                <a:latin typeface="Calibri" pitchFamily="34" charset="0"/>
                <a:ea typeface="Calibri" pitchFamily="34" charset="-122"/>
                <a:cs typeface="Calibri" pitchFamily="34" charset="-120"/>
              </a:rPr>
              <a:t>vs 2.1/5.0 for raw Slither output</a:t>
            </a:r>
            <a:endParaRPr lang="en-US" sz="950" dirty="0"/>
          </a:p>
        </p:txBody>
      </p:sp>
      <p:sp>
        <p:nvSpPr>
          <p:cNvPr id="17" name="Shape 14"/>
          <p:cNvSpPr/>
          <p:nvPr/>
        </p:nvSpPr>
        <p:spPr>
          <a:xfrm>
            <a:off x="5486400" y="3090672"/>
            <a:ext cx="3383280" cy="822960"/>
          </a:xfrm>
          <a:prstGeom prst="rect">
            <a:avLst/>
          </a:prstGeom>
          <a:solidFill>
            <a:srgbClr val="0D0D0D"/>
          </a:solidFill>
          <a:ln w="12700">
            <a:solidFill>
              <a:srgbClr val="0D0D0D"/>
            </a:solidFill>
            <a:prstDash val="solid"/>
          </a:ln>
          <a:effectLst>
            <a:outerShdw sx="100000" sy="100000" kx="0" ky="0" algn="bl" rotWithShape="0" blurRad="101600" dist="38100" dir="8100000">
              <a:srgbClr val="000000">
                <a:alpha val="15000"/>
              </a:srgbClr>
            </a:outerShdw>
          </a:effectLst>
        </p:spPr>
      </p:sp>
      <p:sp>
        <p:nvSpPr>
          <p:cNvPr id="18" name="Text 15"/>
          <p:cNvSpPr/>
          <p:nvPr/>
        </p:nvSpPr>
        <p:spPr>
          <a:xfrm>
            <a:off x="5486400" y="3090672"/>
            <a:ext cx="1188720" cy="82296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47</a:t>
            </a:r>
            <a:endParaRPr lang="en-US" sz="2200" dirty="0"/>
          </a:p>
        </p:txBody>
      </p:sp>
      <p:sp>
        <p:nvSpPr>
          <p:cNvPr id="19" name="Shape 16"/>
          <p:cNvSpPr/>
          <p:nvPr/>
        </p:nvSpPr>
        <p:spPr>
          <a:xfrm>
            <a:off x="6675120" y="3236976"/>
            <a:ext cx="36576" cy="548640"/>
          </a:xfrm>
          <a:prstGeom prst="rect">
            <a:avLst/>
          </a:prstGeom>
          <a:solidFill>
            <a:srgbClr val="444444"/>
          </a:solidFill>
          <a:ln w="12700">
            <a:solidFill>
              <a:srgbClr val="444444"/>
            </a:solidFill>
            <a:prstDash val="solid"/>
          </a:ln>
        </p:spPr>
      </p:sp>
      <p:sp>
        <p:nvSpPr>
          <p:cNvPr id="20" name="Text 17"/>
          <p:cNvSpPr/>
          <p:nvPr/>
        </p:nvSpPr>
        <p:spPr>
          <a:xfrm>
            <a:off x="6748272" y="3163824"/>
            <a:ext cx="2057400" cy="301752"/>
          </a:xfrm>
          <a:prstGeom prst="rect">
            <a:avLst/>
          </a:prstGeom>
          <a:noFill/>
          <a:ln/>
        </p:spPr>
        <p:txBody>
          <a:bodyPr wrap="square" rtlCol="0" anchor="ctr"/>
          <a:lstStyle/>
          <a:p>
            <a:pPr algn="l" indent="0" marL="0">
              <a:buNone/>
            </a:pPr>
            <a:r>
              <a:rPr lang="en-US" sz="1150" b="1" dirty="0">
                <a:solidFill>
                  <a:srgbClr val="FFFFFF"/>
                </a:solidFill>
                <a:latin typeface="Georgia" pitchFamily="34" charset="0"/>
                <a:ea typeface="Georgia" pitchFamily="34" charset="-122"/>
                <a:cs typeface="Georgia" pitchFamily="34" charset="-120"/>
              </a:rPr>
              <a:t>Contracts Evaluated</a:t>
            </a:r>
            <a:endParaRPr lang="en-US" sz="1150" dirty="0"/>
          </a:p>
        </p:txBody>
      </p:sp>
      <p:sp>
        <p:nvSpPr>
          <p:cNvPr id="21" name="Text 18"/>
          <p:cNvSpPr/>
          <p:nvPr/>
        </p:nvSpPr>
        <p:spPr>
          <a:xfrm>
            <a:off x="6748272" y="3511296"/>
            <a:ext cx="2057400" cy="329184"/>
          </a:xfrm>
          <a:prstGeom prst="rect">
            <a:avLst/>
          </a:prstGeom>
          <a:noFill/>
          <a:ln/>
        </p:spPr>
        <p:txBody>
          <a:bodyPr wrap="square" rtlCol="0" anchor="ctr"/>
          <a:lstStyle/>
          <a:p>
            <a:pPr algn="l" indent="0" marL="0">
              <a:buNone/>
            </a:pPr>
            <a:r>
              <a:rPr lang="en-US" sz="950" dirty="0">
                <a:solidFill>
                  <a:srgbClr val="AAAAAA"/>
                </a:solidFill>
                <a:latin typeface="Calibri" pitchFamily="34" charset="0"/>
                <a:ea typeface="Calibri" pitchFamily="34" charset="-122"/>
                <a:cs typeface="Calibri" pitchFamily="34" charset="-120"/>
              </a:rPr>
              <a:t>SmartBugs annotated benchmark</a:t>
            </a:r>
            <a:endParaRPr lang="en-US" sz="950" dirty="0"/>
          </a:p>
        </p:txBody>
      </p:sp>
      <p:sp>
        <p:nvSpPr>
          <p:cNvPr id="22" name="Shape 19"/>
          <p:cNvSpPr/>
          <p:nvPr/>
        </p:nvSpPr>
        <p:spPr>
          <a:xfrm>
            <a:off x="5486400" y="4005072"/>
            <a:ext cx="3383280" cy="822960"/>
          </a:xfrm>
          <a:prstGeom prst="rect">
            <a:avLst/>
          </a:prstGeom>
          <a:solidFill>
            <a:srgbClr val="F0F0F0"/>
          </a:solidFill>
          <a:ln w="19050">
            <a:solidFill>
              <a:srgbClr val="0D0D0D"/>
            </a:solidFill>
            <a:prstDash val="solid"/>
          </a:ln>
          <a:effectLst>
            <a:outerShdw sx="100000" sy="100000" kx="0" ky="0" algn="bl" rotWithShape="0" blurRad="101600" dist="38100" dir="8100000">
              <a:srgbClr val="000000">
                <a:alpha val="15000"/>
              </a:srgbClr>
            </a:outerShdw>
          </a:effectLst>
        </p:spPr>
      </p:sp>
      <p:sp>
        <p:nvSpPr>
          <p:cNvPr id="23" name="Text 20"/>
          <p:cNvSpPr/>
          <p:nvPr/>
        </p:nvSpPr>
        <p:spPr>
          <a:xfrm>
            <a:off x="5486400" y="4005072"/>
            <a:ext cx="1188720" cy="822960"/>
          </a:xfrm>
          <a:prstGeom prst="rect">
            <a:avLst/>
          </a:prstGeom>
          <a:noFill/>
          <a:ln/>
        </p:spPr>
        <p:txBody>
          <a:bodyPr wrap="square" rtlCol="0" anchor="ctr"/>
          <a:lstStyle/>
          <a:p>
            <a:pPr algn="ctr" indent="0" marL="0">
              <a:buNone/>
            </a:pPr>
            <a:r>
              <a:rPr lang="en-US" sz="2200" b="1" dirty="0">
                <a:solidFill>
                  <a:srgbClr val="0D0D0D"/>
                </a:solidFill>
                <a:latin typeface="Georgia" pitchFamily="34" charset="0"/>
                <a:ea typeface="Georgia" pitchFamily="34" charset="-122"/>
                <a:cs typeface="Georgia" pitchFamily="34" charset="-120"/>
              </a:rPr>
              <a:t>95%</a:t>
            </a:r>
            <a:endParaRPr lang="en-US" sz="2200" dirty="0"/>
          </a:p>
        </p:txBody>
      </p:sp>
      <p:sp>
        <p:nvSpPr>
          <p:cNvPr id="24" name="Shape 21"/>
          <p:cNvSpPr/>
          <p:nvPr/>
        </p:nvSpPr>
        <p:spPr>
          <a:xfrm>
            <a:off x="6675120" y="4151376"/>
            <a:ext cx="36576" cy="548640"/>
          </a:xfrm>
          <a:prstGeom prst="rect">
            <a:avLst/>
          </a:prstGeom>
          <a:solidFill>
            <a:srgbClr val="CCCCCC"/>
          </a:solidFill>
          <a:ln w="12700">
            <a:solidFill>
              <a:srgbClr val="CCCCCC"/>
            </a:solidFill>
            <a:prstDash val="solid"/>
          </a:ln>
        </p:spPr>
      </p:sp>
      <p:sp>
        <p:nvSpPr>
          <p:cNvPr id="25" name="Text 22"/>
          <p:cNvSpPr/>
          <p:nvPr/>
        </p:nvSpPr>
        <p:spPr>
          <a:xfrm>
            <a:off x="6748272" y="4078224"/>
            <a:ext cx="2057400" cy="301752"/>
          </a:xfrm>
          <a:prstGeom prst="rect">
            <a:avLst/>
          </a:prstGeom>
          <a:noFill/>
          <a:ln/>
        </p:spPr>
        <p:txBody>
          <a:bodyPr wrap="square" rtlCol="0" anchor="ctr"/>
          <a:lstStyle/>
          <a:p>
            <a:pPr algn="l" indent="0" marL="0">
              <a:buNone/>
            </a:pPr>
            <a:r>
              <a:rPr lang="en-US" sz="1150" b="1" dirty="0">
                <a:solidFill>
                  <a:srgbClr val="0D0D0D"/>
                </a:solidFill>
                <a:latin typeface="Georgia" pitchFamily="34" charset="0"/>
                <a:ea typeface="Georgia" pitchFamily="34" charset="-122"/>
                <a:cs typeface="Georgia" pitchFamily="34" charset="-120"/>
              </a:rPr>
              <a:t>Usability Improvement</a:t>
            </a:r>
            <a:endParaRPr lang="en-US" sz="1150" dirty="0"/>
          </a:p>
        </p:txBody>
      </p:sp>
      <p:sp>
        <p:nvSpPr>
          <p:cNvPr id="26" name="Text 23"/>
          <p:cNvSpPr/>
          <p:nvPr/>
        </p:nvSpPr>
        <p:spPr>
          <a:xfrm>
            <a:off x="6748272" y="4425696"/>
            <a:ext cx="2057400" cy="329184"/>
          </a:xfrm>
          <a:prstGeom prst="rect">
            <a:avLst/>
          </a:prstGeom>
          <a:noFill/>
          <a:ln/>
        </p:spPr>
        <p:txBody>
          <a:bodyPr wrap="square" rtlCol="0" anchor="ctr"/>
          <a:lstStyle/>
          <a:p>
            <a:pPr algn="l" indent="0" marL="0">
              <a:buNone/>
            </a:pPr>
            <a:r>
              <a:rPr lang="en-US" sz="950" dirty="0">
                <a:solidFill>
                  <a:srgbClr val="666666"/>
                </a:solidFill>
                <a:latin typeface="Calibri" pitchFamily="34" charset="0"/>
                <a:ea typeface="Calibri" pitchFamily="34" charset="-122"/>
                <a:cs typeface="Calibri" pitchFamily="34" charset="-120"/>
              </a:rPr>
              <a:t>In clarity over raw tool output</a:t>
            </a:r>
            <a:endParaRPr lang="en-US" sz="950" dirty="0"/>
          </a:p>
        </p:txBody>
      </p:sp>
      <p:sp>
        <p:nvSpPr>
          <p:cNvPr id="27" name="Shape 24"/>
          <p:cNvSpPr/>
          <p:nvPr/>
        </p:nvSpPr>
        <p:spPr>
          <a:xfrm>
            <a:off x="274320" y="4160520"/>
            <a:ext cx="8595360" cy="868680"/>
          </a:xfrm>
          <a:prstGeom prst="rect">
            <a:avLst/>
          </a:prstGeom>
          <a:solidFill>
            <a:srgbClr val="0D0D0D"/>
          </a:solidFill>
          <a:ln w="12700">
            <a:solidFill>
              <a:srgbClr val="0D0D0D"/>
            </a:solidFill>
            <a:prstDash val="solid"/>
          </a:ln>
        </p:spPr>
      </p:sp>
      <p:sp>
        <p:nvSpPr>
          <p:cNvPr id="28" name="Text 25"/>
          <p:cNvSpPr/>
          <p:nvPr/>
        </p:nvSpPr>
        <p:spPr>
          <a:xfrm>
            <a:off x="457200" y="4206240"/>
            <a:ext cx="8229600" cy="777240"/>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All results will be compared against published baselines from Durieux et al. (2020) and reported per vulnerability class to support reproducibility and future comparison.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PROJECT TIMELINE — 16 WEEKS</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Five sequential phases with defined deliverables at each milestone. No phase begins until the prior deliverable is complete.</a:t>
            </a:r>
            <a:endParaRPr lang="en-US" sz="1000" dirty="0"/>
          </a:p>
        </p:txBody>
      </p:sp>
      <p:pic>
        <p:nvPicPr>
          <p:cNvPr id="6" name="Image 0" descr="/home/claude/fyp/timeline.png">    </p:cNvPr>
          <p:cNvPicPr>
            <a:picLocks noChangeAspect="1"/>
          </p:cNvPicPr>
          <p:nvPr/>
        </p:nvPicPr>
        <p:blipFill>
          <a:blip r:embed="rId1"/>
          <a:stretch>
            <a:fillRect/>
          </a:stretch>
        </p:blipFill>
        <p:spPr>
          <a:xfrm>
            <a:off x="274320" y="1261872"/>
            <a:ext cx="8595360" cy="3218688"/>
          </a:xfrm>
          <a:prstGeom prst="rect">
            <a:avLst/>
          </a:prstGeom>
          <a:effectLst>
            <a:outerShdw sx="100000" sy="100000" kx="0" ky="0" algn="bl" rotWithShape="0" blurRad="101600" dist="38100" dir="8100000">
              <a:srgbClr val="000000">
                <a:alpha val="15000"/>
              </a:srgbClr>
            </a:outerShdw>
          </a:effectLst>
        </p:spPr>
      </p:pic>
      <p:sp>
        <p:nvSpPr>
          <p:cNvPr id="7" name="Shape 4"/>
          <p:cNvSpPr/>
          <p:nvPr/>
        </p:nvSpPr>
        <p:spPr>
          <a:xfrm>
            <a:off x="274320" y="4572000"/>
            <a:ext cx="1627632" cy="475488"/>
          </a:xfrm>
          <a:prstGeom prst="rect">
            <a:avLst/>
          </a:prstGeom>
          <a:solidFill>
            <a:srgbClr val="F0F0F0"/>
          </a:solidFill>
          <a:ln w="12700">
            <a:solidFill>
              <a:srgbClr val="0D0D0D"/>
            </a:solidFill>
            <a:prstDash val="solid"/>
          </a:ln>
        </p:spPr>
      </p:sp>
      <p:sp>
        <p:nvSpPr>
          <p:cNvPr id="8" name="Text 5"/>
          <p:cNvSpPr/>
          <p:nvPr/>
        </p:nvSpPr>
        <p:spPr>
          <a:xfrm>
            <a:off x="274320" y="4590288"/>
            <a:ext cx="1627632" cy="201168"/>
          </a:xfrm>
          <a:prstGeom prst="rect">
            <a:avLst/>
          </a:prstGeom>
          <a:noFill/>
          <a:ln/>
        </p:spPr>
        <p:txBody>
          <a:bodyPr wrap="square" rtlCol="0" anchor="ctr"/>
          <a:lstStyle/>
          <a:p>
            <a:pPr algn="ctr" indent="0" marL="0">
              <a:buNone/>
            </a:pPr>
            <a:r>
              <a:rPr lang="en-US" sz="850" b="1" dirty="0">
                <a:solidFill>
                  <a:srgbClr val="0D0D0D"/>
                </a:solidFill>
                <a:latin typeface="Georgia" pitchFamily="34" charset="0"/>
                <a:ea typeface="Georgia" pitchFamily="34" charset="-122"/>
                <a:cs typeface="Georgia" pitchFamily="34" charset="-120"/>
              </a:rPr>
              <a:t>Phase 1  Wks 1–3</a:t>
            </a:r>
            <a:endParaRPr lang="en-US" sz="850" dirty="0"/>
          </a:p>
        </p:txBody>
      </p:sp>
      <p:sp>
        <p:nvSpPr>
          <p:cNvPr id="9" name="Text 6"/>
          <p:cNvSpPr/>
          <p:nvPr/>
        </p:nvSpPr>
        <p:spPr>
          <a:xfrm>
            <a:off x="274320" y="4791456"/>
            <a:ext cx="1627632" cy="219456"/>
          </a:xfrm>
          <a:prstGeom prst="rect">
            <a:avLst/>
          </a:prstGeom>
          <a:noFill/>
          <a:ln/>
        </p:spPr>
        <p:txBody>
          <a:bodyPr wrap="square" rtlCol="0" anchor="ctr"/>
          <a:lstStyle/>
          <a:p>
            <a:pPr algn="ctr" indent="0" marL="0">
              <a:buNone/>
            </a:pPr>
            <a:r>
              <a:rPr lang="en-US" sz="750" dirty="0">
                <a:solidFill>
                  <a:srgbClr val="666666"/>
                </a:solidFill>
                <a:latin typeface="Calibri" pitchFamily="34" charset="0"/>
                <a:ea typeface="Calibri" pitchFamily="34" charset="-122"/>
                <a:cs typeface="Calibri" pitchFamily="34" charset="-120"/>
              </a:rPr>
              <a:t>Literature synthesis table + design justification document</a:t>
            </a:r>
            <a:endParaRPr lang="en-US" sz="750" dirty="0"/>
          </a:p>
        </p:txBody>
      </p:sp>
      <p:sp>
        <p:nvSpPr>
          <p:cNvPr id="10" name="Shape 7"/>
          <p:cNvSpPr/>
          <p:nvPr/>
        </p:nvSpPr>
        <p:spPr>
          <a:xfrm>
            <a:off x="1993392" y="4572000"/>
            <a:ext cx="1627632" cy="475488"/>
          </a:xfrm>
          <a:prstGeom prst="rect">
            <a:avLst/>
          </a:prstGeom>
          <a:solidFill>
            <a:srgbClr val="F0F0F0"/>
          </a:solidFill>
          <a:ln w="12700">
            <a:solidFill>
              <a:srgbClr val="0D0D0D"/>
            </a:solidFill>
            <a:prstDash val="solid"/>
          </a:ln>
        </p:spPr>
      </p:sp>
      <p:sp>
        <p:nvSpPr>
          <p:cNvPr id="11" name="Text 8"/>
          <p:cNvSpPr/>
          <p:nvPr/>
        </p:nvSpPr>
        <p:spPr>
          <a:xfrm>
            <a:off x="1993392" y="4590288"/>
            <a:ext cx="1627632" cy="201168"/>
          </a:xfrm>
          <a:prstGeom prst="rect">
            <a:avLst/>
          </a:prstGeom>
          <a:noFill/>
          <a:ln/>
        </p:spPr>
        <p:txBody>
          <a:bodyPr wrap="square" rtlCol="0" anchor="ctr"/>
          <a:lstStyle/>
          <a:p>
            <a:pPr algn="ctr" indent="0" marL="0">
              <a:buNone/>
            </a:pPr>
            <a:r>
              <a:rPr lang="en-US" sz="850" b="1" dirty="0">
                <a:solidFill>
                  <a:srgbClr val="0D0D0D"/>
                </a:solidFill>
                <a:latin typeface="Georgia" pitchFamily="34" charset="0"/>
                <a:ea typeface="Georgia" pitchFamily="34" charset="-122"/>
                <a:cs typeface="Georgia" pitchFamily="34" charset="-120"/>
              </a:rPr>
              <a:t>Phase 2  Wks 4–5</a:t>
            </a:r>
            <a:endParaRPr lang="en-US" sz="850" dirty="0"/>
          </a:p>
        </p:txBody>
      </p:sp>
      <p:sp>
        <p:nvSpPr>
          <p:cNvPr id="12" name="Text 9"/>
          <p:cNvSpPr/>
          <p:nvPr/>
        </p:nvSpPr>
        <p:spPr>
          <a:xfrm>
            <a:off x="1993392" y="4791456"/>
            <a:ext cx="1627632" cy="219456"/>
          </a:xfrm>
          <a:prstGeom prst="rect">
            <a:avLst/>
          </a:prstGeom>
          <a:noFill/>
          <a:ln/>
        </p:spPr>
        <p:txBody>
          <a:bodyPr wrap="square" rtlCol="0" anchor="ctr"/>
          <a:lstStyle/>
          <a:p>
            <a:pPr algn="ctr" indent="0" marL="0">
              <a:buNone/>
            </a:pPr>
            <a:r>
              <a:rPr lang="en-US" sz="750" dirty="0">
                <a:solidFill>
                  <a:srgbClr val="666666"/>
                </a:solidFill>
                <a:latin typeface="Calibri" pitchFamily="34" charset="0"/>
                <a:ea typeface="Calibri" pitchFamily="34" charset="-122"/>
                <a:cs typeface="Calibri" pitchFamily="34" charset="-120"/>
              </a:rPr>
              <a:t>System architecture specification + prompt engineering design</a:t>
            </a:r>
            <a:endParaRPr lang="en-US" sz="750" dirty="0"/>
          </a:p>
        </p:txBody>
      </p:sp>
      <p:sp>
        <p:nvSpPr>
          <p:cNvPr id="13" name="Shape 10"/>
          <p:cNvSpPr/>
          <p:nvPr/>
        </p:nvSpPr>
        <p:spPr>
          <a:xfrm>
            <a:off x="3712464" y="4572000"/>
            <a:ext cx="1627632" cy="475488"/>
          </a:xfrm>
          <a:prstGeom prst="rect">
            <a:avLst/>
          </a:prstGeom>
          <a:solidFill>
            <a:srgbClr val="0D0D0D"/>
          </a:solidFill>
          <a:ln w="12700">
            <a:solidFill>
              <a:srgbClr val="0D0D0D"/>
            </a:solidFill>
            <a:prstDash val="solid"/>
          </a:ln>
        </p:spPr>
      </p:sp>
      <p:sp>
        <p:nvSpPr>
          <p:cNvPr id="14" name="Text 11"/>
          <p:cNvSpPr/>
          <p:nvPr/>
        </p:nvSpPr>
        <p:spPr>
          <a:xfrm>
            <a:off x="3712464" y="4590288"/>
            <a:ext cx="1627632" cy="201168"/>
          </a:xfrm>
          <a:prstGeom prst="rect">
            <a:avLst/>
          </a:prstGeom>
          <a:noFill/>
          <a:ln/>
        </p:spPr>
        <p:txBody>
          <a:bodyPr wrap="square" rtlCol="0" anchor="ctr"/>
          <a:lstStyle/>
          <a:p>
            <a:pPr algn="ctr" indent="0" marL="0">
              <a:buNone/>
            </a:pPr>
            <a:r>
              <a:rPr lang="en-US" sz="850" b="1" dirty="0">
                <a:solidFill>
                  <a:srgbClr val="FFFFFF"/>
                </a:solidFill>
                <a:latin typeface="Georgia" pitchFamily="34" charset="0"/>
                <a:ea typeface="Georgia" pitchFamily="34" charset="-122"/>
                <a:cs typeface="Georgia" pitchFamily="34" charset="-120"/>
              </a:rPr>
              <a:t>Phase 3  Wks 6–10</a:t>
            </a:r>
            <a:endParaRPr lang="en-US" sz="850" dirty="0"/>
          </a:p>
        </p:txBody>
      </p:sp>
      <p:sp>
        <p:nvSpPr>
          <p:cNvPr id="15" name="Text 12"/>
          <p:cNvSpPr/>
          <p:nvPr/>
        </p:nvSpPr>
        <p:spPr>
          <a:xfrm>
            <a:off x="3712464" y="4791456"/>
            <a:ext cx="1627632" cy="219456"/>
          </a:xfrm>
          <a:prstGeom prst="rect">
            <a:avLst/>
          </a:prstGeom>
          <a:noFill/>
          <a:ln/>
        </p:spPr>
        <p:txBody>
          <a:bodyPr wrap="square" rtlCol="0" anchor="ctr"/>
          <a:lstStyle/>
          <a:p>
            <a:pPr algn="ctr" indent="0" marL="0">
              <a:buNone/>
            </a:pPr>
            <a:r>
              <a:rPr lang="en-US" sz="750" dirty="0">
                <a:solidFill>
                  <a:srgbClr val="CCCCCC"/>
                </a:solidFill>
                <a:latin typeface="Calibri" pitchFamily="34" charset="0"/>
                <a:ea typeface="Calibri" pitchFamily="34" charset="-122"/>
                <a:cs typeface="Calibri" pitchFamily="34" charset="-120"/>
              </a:rPr>
              <a:t>Functional AuditAI prototype — end-to-end, deployed and tested</a:t>
            </a:r>
            <a:endParaRPr lang="en-US" sz="750" dirty="0"/>
          </a:p>
        </p:txBody>
      </p:sp>
      <p:sp>
        <p:nvSpPr>
          <p:cNvPr id="16" name="Shape 13"/>
          <p:cNvSpPr/>
          <p:nvPr/>
        </p:nvSpPr>
        <p:spPr>
          <a:xfrm>
            <a:off x="5431536" y="4572000"/>
            <a:ext cx="1627632" cy="475488"/>
          </a:xfrm>
          <a:prstGeom prst="rect">
            <a:avLst/>
          </a:prstGeom>
          <a:solidFill>
            <a:srgbClr val="F0F0F0"/>
          </a:solidFill>
          <a:ln w="12700">
            <a:solidFill>
              <a:srgbClr val="0D0D0D"/>
            </a:solidFill>
            <a:prstDash val="solid"/>
          </a:ln>
        </p:spPr>
      </p:sp>
      <p:sp>
        <p:nvSpPr>
          <p:cNvPr id="17" name="Text 14"/>
          <p:cNvSpPr/>
          <p:nvPr/>
        </p:nvSpPr>
        <p:spPr>
          <a:xfrm>
            <a:off x="5431536" y="4590288"/>
            <a:ext cx="1627632" cy="201168"/>
          </a:xfrm>
          <a:prstGeom prst="rect">
            <a:avLst/>
          </a:prstGeom>
          <a:noFill/>
          <a:ln/>
        </p:spPr>
        <p:txBody>
          <a:bodyPr wrap="square" rtlCol="0" anchor="ctr"/>
          <a:lstStyle/>
          <a:p>
            <a:pPr algn="ctr" indent="0" marL="0">
              <a:buNone/>
            </a:pPr>
            <a:r>
              <a:rPr lang="en-US" sz="850" b="1" dirty="0">
                <a:solidFill>
                  <a:srgbClr val="0D0D0D"/>
                </a:solidFill>
                <a:latin typeface="Georgia" pitchFamily="34" charset="0"/>
                <a:ea typeface="Georgia" pitchFamily="34" charset="-122"/>
                <a:cs typeface="Georgia" pitchFamily="34" charset="-120"/>
              </a:rPr>
              <a:t>Phase 4  Wks 11–13</a:t>
            </a:r>
            <a:endParaRPr lang="en-US" sz="850" dirty="0"/>
          </a:p>
        </p:txBody>
      </p:sp>
      <p:sp>
        <p:nvSpPr>
          <p:cNvPr id="18" name="Text 15"/>
          <p:cNvSpPr/>
          <p:nvPr/>
        </p:nvSpPr>
        <p:spPr>
          <a:xfrm>
            <a:off x="5431536" y="4791456"/>
            <a:ext cx="1627632" cy="219456"/>
          </a:xfrm>
          <a:prstGeom prst="rect">
            <a:avLst/>
          </a:prstGeom>
          <a:noFill/>
          <a:ln/>
        </p:spPr>
        <p:txBody>
          <a:bodyPr wrap="square" rtlCol="0" anchor="ctr"/>
          <a:lstStyle/>
          <a:p>
            <a:pPr algn="ctr" indent="0" marL="0">
              <a:buNone/>
            </a:pPr>
            <a:r>
              <a:rPr lang="en-US" sz="750" dirty="0">
                <a:solidFill>
                  <a:srgbClr val="666666"/>
                </a:solidFill>
                <a:latin typeface="Calibri" pitchFamily="34" charset="0"/>
                <a:ea typeface="Calibri" pitchFamily="34" charset="-122"/>
                <a:cs typeface="Calibri" pitchFamily="34" charset="-120"/>
              </a:rPr>
              <a:t>Benchmark evaluation results + report quality study data</a:t>
            </a:r>
            <a:endParaRPr lang="en-US" sz="750" dirty="0"/>
          </a:p>
        </p:txBody>
      </p:sp>
      <p:sp>
        <p:nvSpPr>
          <p:cNvPr id="19" name="Shape 16"/>
          <p:cNvSpPr/>
          <p:nvPr/>
        </p:nvSpPr>
        <p:spPr>
          <a:xfrm>
            <a:off x="7150608" y="4572000"/>
            <a:ext cx="1627632" cy="475488"/>
          </a:xfrm>
          <a:prstGeom prst="rect">
            <a:avLst/>
          </a:prstGeom>
          <a:solidFill>
            <a:srgbClr val="F0F0F0"/>
          </a:solidFill>
          <a:ln w="12700">
            <a:solidFill>
              <a:srgbClr val="0D0D0D"/>
            </a:solidFill>
            <a:prstDash val="solid"/>
          </a:ln>
        </p:spPr>
      </p:sp>
      <p:sp>
        <p:nvSpPr>
          <p:cNvPr id="20" name="Text 17"/>
          <p:cNvSpPr/>
          <p:nvPr/>
        </p:nvSpPr>
        <p:spPr>
          <a:xfrm>
            <a:off x="7150608" y="4590288"/>
            <a:ext cx="1627632" cy="201168"/>
          </a:xfrm>
          <a:prstGeom prst="rect">
            <a:avLst/>
          </a:prstGeom>
          <a:noFill/>
          <a:ln/>
        </p:spPr>
        <p:txBody>
          <a:bodyPr wrap="square" rtlCol="0" anchor="ctr"/>
          <a:lstStyle/>
          <a:p>
            <a:pPr algn="ctr" indent="0" marL="0">
              <a:buNone/>
            </a:pPr>
            <a:r>
              <a:rPr lang="en-US" sz="850" b="1" dirty="0">
                <a:solidFill>
                  <a:srgbClr val="0D0D0D"/>
                </a:solidFill>
                <a:latin typeface="Georgia" pitchFamily="34" charset="0"/>
                <a:ea typeface="Georgia" pitchFamily="34" charset="-122"/>
                <a:cs typeface="Georgia" pitchFamily="34" charset="-120"/>
              </a:rPr>
              <a:t>Phase 5  Wks 14–16</a:t>
            </a:r>
            <a:endParaRPr lang="en-US" sz="850" dirty="0"/>
          </a:p>
        </p:txBody>
      </p:sp>
      <p:sp>
        <p:nvSpPr>
          <p:cNvPr id="21" name="Text 18"/>
          <p:cNvSpPr/>
          <p:nvPr/>
        </p:nvSpPr>
        <p:spPr>
          <a:xfrm>
            <a:off x="7150608" y="4791456"/>
            <a:ext cx="1627632" cy="219456"/>
          </a:xfrm>
          <a:prstGeom prst="rect">
            <a:avLst/>
          </a:prstGeom>
          <a:noFill/>
          <a:ln/>
        </p:spPr>
        <p:txBody>
          <a:bodyPr wrap="square" rtlCol="0" anchor="ctr"/>
          <a:lstStyle/>
          <a:p>
            <a:pPr algn="ctr" indent="0" marL="0">
              <a:buNone/>
            </a:pPr>
            <a:r>
              <a:rPr lang="en-US" sz="750" dirty="0">
                <a:solidFill>
                  <a:srgbClr val="666666"/>
                </a:solidFill>
                <a:latin typeface="Calibri" pitchFamily="34" charset="0"/>
                <a:ea typeface="Calibri" pitchFamily="34" charset="-122"/>
                <a:cs typeface="Calibri" pitchFamily="34" charset="-120"/>
              </a:rPr>
              <a:t>Final project report + open-source GitHub repository</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13232"/>
          </a:xfrm>
          <a:prstGeom prst="rect">
            <a:avLst/>
          </a:prstGeom>
          <a:solidFill>
            <a:srgbClr val="0D0D0D"/>
          </a:solidFill>
          <a:ln w="12700">
            <a:solidFill>
              <a:srgbClr val="0D0D0D"/>
            </a:solidFill>
            <a:prstDash val="solid"/>
          </a:ln>
        </p:spPr>
      </p:sp>
      <p:sp>
        <p:nvSpPr>
          <p:cNvPr id="3" name="Text 1"/>
          <p:cNvSpPr/>
          <p:nvPr/>
        </p:nvSpPr>
        <p:spPr>
          <a:xfrm>
            <a:off x="274320" y="0"/>
            <a:ext cx="8595360" cy="713232"/>
          </a:xfrm>
          <a:prstGeom prst="rect">
            <a:avLst/>
          </a:prstGeom>
          <a:noFill/>
          <a:ln/>
        </p:spPr>
        <p:txBody>
          <a:bodyPr wrap="square" rtlCol="0" anchor="ctr"/>
          <a:lstStyle/>
          <a:p>
            <a:pPr algn="l" indent="0" marL="0">
              <a:buNone/>
            </a:pPr>
            <a:r>
              <a:rPr lang="en-US" sz="1500" b="1" spc="200" kern="0" dirty="0">
                <a:solidFill>
                  <a:srgbClr val="FFFFFF"/>
                </a:solidFill>
                <a:latin typeface="Georgia" pitchFamily="34" charset="0"/>
                <a:ea typeface="Georgia" pitchFamily="34" charset="-122"/>
                <a:cs typeface="Georgia" pitchFamily="34" charset="-120"/>
              </a:rPr>
              <a:t>REFERENCES — APA FORMAT</a:t>
            </a:r>
            <a:endParaRPr lang="en-US" sz="1500" dirty="0"/>
          </a:p>
        </p:txBody>
      </p:sp>
      <p:sp>
        <p:nvSpPr>
          <p:cNvPr id="4" name="Shape 2"/>
          <p:cNvSpPr/>
          <p:nvPr/>
        </p:nvSpPr>
        <p:spPr>
          <a:xfrm>
            <a:off x="274320" y="777240"/>
            <a:ext cx="8595360" cy="402336"/>
          </a:xfrm>
          <a:prstGeom prst="rect">
            <a:avLst/>
          </a:prstGeom>
          <a:solidFill>
            <a:srgbClr val="F0F0F0"/>
          </a:solidFill>
          <a:ln w="12700">
            <a:solidFill>
              <a:srgbClr val="CCCCCC"/>
            </a:solidFill>
            <a:prstDash val="solid"/>
          </a:ln>
        </p:spPr>
      </p:sp>
      <p:sp>
        <p:nvSpPr>
          <p:cNvPr id="5" name="Text 3"/>
          <p:cNvSpPr/>
          <p:nvPr/>
        </p:nvSpPr>
        <p:spPr>
          <a:xfrm>
            <a:off x="411480" y="795528"/>
            <a:ext cx="8321040" cy="365760"/>
          </a:xfrm>
          <a:prstGeom prst="rect">
            <a:avLst/>
          </a:prstGeom>
          <a:noFill/>
          <a:ln/>
        </p:spPr>
        <p:txBody>
          <a:bodyPr wrap="square" rtlCol="0" anchor="ctr"/>
          <a:lstStyle/>
          <a:p>
            <a:pPr algn="ctr" indent="0" marL="0">
              <a:buNone/>
            </a:pPr>
            <a:r>
              <a:rPr lang="en-US" sz="1000" dirty="0">
                <a:solidFill>
                  <a:srgbClr val="555555"/>
                </a:solidFill>
                <a:latin typeface="Calibri" pitchFamily="34" charset="0"/>
                <a:ea typeface="Calibri" pitchFamily="34" charset="-122"/>
                <a:cs typeface="Calibri" pitchFamily="34" charset="-120"/>
              </a:rPr>
              <a:t>All references are within the last 5 years (2019–2024). Full citations in the written project proposal document.</a:t>
            </a:r>
            <a:endParaRPr lang="en-US" sz="1000" dirty="0"/>
          </a:p>
        </p:txBody>
      </p:sp>
      <p:sp>
        <p:nvSpPr>
          <p:cNvPr id="6" name="Shape 4"/>
          <p:cNvSpPr/>
          <p:nvPr/>
        </p:nvSpPr>
        <p:spPr>
          <a:xfrm>
            <a:off x="274320" y="1261872"/>
            <a:ext cx="8595360" cy="310896"/>
          </a:xfrm>
          <a:prstGeom prst="rect">
            <a:avLst/>
          </a:prstGeom>
          <a:solidFill>
            <a:srgbClr val="F0F0F0"/>
          </a:solidFill>
          <a:ln w="6350">
            <a:solidFill>
              <a:srgbClr val="CCCCCC"/>
            </a:solidFill>
            <a:prstDash val="solid"/>
          </a:ln>
        </p:spPr>
      </p:sp>
      <p:sp>
        <p:nvSpPr>
          <p:cNvPr id="7" name="Text 5"/>
          <p:cNvSpPr/>
          <p:nvPr/>
        </p:nvSpPr>
        <p:spPr>
          <a:xfrm>
            <a:off x="384048" y="1280160"/>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Durieux, T., Ferreira, J. F., Abreu, R., &amp; Cruz, P. (2020). Empirical review of automated analysis tools on 47,587 Ethereum smart contracts. Proceedings of the 42nd International Conference on Software Engineering (ICSE 2020), 530–541.</a:t>
            </a:r>
            <a:endParaRPr lang="en-US" sz="850" dirty="0"/>
          </a:p>
        </p:txBody>
      </p:sp>
      <p:sp>
        <p:nvSpPr>
          <p:cNvPr id="8" name="Shape 6"/>
          <p:cNvSpPr/>
          <p:nvPr/>
        </p:nvSpPr>
        <p:spPr>
          <a:xfrm>
            <a:off x="274320" y="1609344"/>
            <a:ext cx="8595360" cy="310896"/>
          </a:xfrm>
          <a:prstGeom prst="rect">
            <a:avLst/>
          </a:prstGeom>
          <a:solidFill>
            <a:srgbClr val="FFFFFF"/>
          </a:solidFill>
          <a:ln w="6350">
            <a:solidFill>
              <a:srgbClr val="CCCCCC"/>
            </a:solidFill>
            <a:prstDash val="solid"/>
          </a:ln>
        </p:spPr>
      </p:sp>
      <p:sp>
        <p:nvSpPr>
          <p:cNvPr id="9" name="Text 7"/>
          <p:cNvSpPr/>
          <p:nvPr/>
        </p:nvSpPr>
        <p:spPr>
          <a:xfrm>
            <a:off x="384048" y="1627632"/>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Feist, J., Grieco, G., &amp; Groce, A. (2019). Slither: A static analysis framework for smart contracts. Proceedings of the 2nd International Workshop on Emerging Trends in Software Engineering for Blockchain (WETSEB 2019), 8–15.</a:t>
            </a:r>
            <a:endParaRPr lang="en-US" sz="850" dirty="0"/>
          </a:p>
        </p:txBody>
      </p:sp>
      <p:sp>
        <p:nvSpPr>
          <p:cNvPr id="10" name="Shape 8"/>
          <p:cNvSpPr/>
          <p:nvPr/>
        </p:nvSpPr>
        <p:spPr>
          <a:xfrm>
            <a:off x="274320" y="1956816"/>
            <a:ext cx="8595360" cy="310896"/>
          </a:xfrm>
          <a:prstGeom prst="rect">
            <a:avLst/>
          </a:prstGeom>
          <a:solidFill>
            <a:srgbClr val="F0F0F0"/>
          </a:solidFill>
          <a:ln w="6350">
            <a:solidFill>
              <a:srgbClr val="CCCCCC"/>
            </a:solidFill>
            <a:prstDash val="solid"/>
          </a:ln>
        </p:spPr>
      </p:sp>
      <p:sp>
        <p:nvSpPr>
          <p:cNvPr id="11" name="Text 9"/>
          <p:cNvSpPr/>
          <p:nvPr/>
        </p:nvSpPr>
        <p:spPr>
          <a:xfrm>
            <a:off x="384048" y="1975104"/>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David, I., David, L., Primiero, G., &amp; Piessens, F. (2023). Do you still need a manual smart contract audit? arXiv preprint arXiv:2306.12338.</a:t>
            </a:r>
            <a:endParaRPr lang="en-US" sz="850" dirty="0"/>
          </a:p>
        </p:txBody>
      </p:sp>
      <p:sp>
        <p:nvSpPr>
          <p:cNvPr id="12" name="Shape 10"/>
          <p:cNvSpPr/>
          <p:nvPr/>
        </p:nvSpPr>
        <p:spPr>
          <a:xfrm>
            <a:off x="274320" y="2304288"/>
            <a:ext cx="8595360" cy="310896"/>
          </a:xfrm>
          <a:prstGeom prst="rect">
            <a:avLst/>
          </a:prstGeom>
          <a:solidFill>
            <a:srgbClr val="FFFFFF"/>
          </a:solidFill>
          <a:ln w="6350">
            <a:solidFill>
              <a:srgbClr val="CCCCCC"/>
            </a:solidFill>
            <a:prstDash val="solid"/>
          </a:ln>
        </p:spPr>
      </p:sp>
      <p:sp>
        <p:nvSpPr>
          <p:cNvPr id="13" name="Text 11"/>
          <p:cNvSpPr/>
          <p:nvPr/>
        </p:nvSpPr>
        <p:spPr>
          <a:xfrm>
            <a:off x="384048" y="2322576"/>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Pearce, H., Ahmad, B., Tan, B., Dolan-Gavitt, B., &amp; Karri, R. (2023). Examining zero-shot vulnerability repair with large language models. Proceedings of the 44th IEEE Symposium on Security and Privacy (S&amp;P 2023), 2339–2356.</a:t>
            </a:r>
            <a:endParaRPr lang="en-US" sz="850" dirty="0"/>
          </a:p>
        </p:txBody>
      </p:sp>
      <p:sp>
        <p:nvSpPr>
          <p:cNvPr id="14" name="Shape 12"/>
          <p:cNvSpPr/>
          <p:nvPr/>
        </p:nvSpPr>
        <p:spPr>
          <a:xfrm>
            <a:off x="274320" y="2651760"/>
            <a:ext cx="8595360" cy="310896"/>
          </a:xfrm>
          <a:prstGeom prst="rect">
            <a:avLst/>
          </a:prstGeom>
          <a:solidFill>
            <a:srgbClr val="F0F0F0"/>
          </a:solidFill>
          <a:ln w="6350">
            <a:solidFill>
              <a:srgbClr val="CCCCCC"/>
            </a:solidFill>
            <a:prstDash val="solid"/>
          </a:ln>
        </p:spPr>
      </p:sp>
      <p:sp>
        <p:nvSpPr>
          <p:cNvPr id="15" name="Text 13"/>
          <p:cNvSpPr/>
          <p:nvPr/>
        </p:nvSpPr>
        <p:spPr>
          <a:xfrm>
            <a:off x="384048" y="2670048"/>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Sun, H., Wu, W., Hu, H., Liu, C., &amp; Zhang, R. (2023). GPTScan: Detecting logic vulnerabilities in smart contracts by combining GPT with program analysis. arXiv preprint arXiv:2308.03314.</a:t>
            </a:r>
            <a:endParaRPr lang="en-US" sz="850" dirty="0"/>
          </a:p>
        </p:txBody>
      </p:sp>
      <p:sp>
        <p:nvSpPr>
          <p:cNvPr id="16" name="Shape 14"/>
          <p:cNvSpPr/>
          <p:nvPr/>
        </p:nvSpPr>
        <p:spPr>
          <a:xfrm>
            <a:off x="274320" y="2999232"/>
            <a:ext cx="8595360" cy="310896"/>
          </a:xfrm>
          <a:prstGeom prst="rect">
            <a:avLst/>
          </a:prstGeom>
          <a:solidFill>
            <a:srgbClr val="FFFFFF"/>
          </a:solidFill>
          <a:ln w="6350">
            <a:solidFill>
              <a:srgbClr val="CCCCCC"/>
            </a:solidFill>
            <a:prstDash val="solid"/>
          </a:ln>
        </p:spPr>
      </p:sp>
      <p:sp>
        <p:nvSpPr>
          <p:cNvPr id="17" name="Text 15"/>
          <p:cNvSpPr/>
          <p:nvPr/>
        </p:nvSpPr>
        <p:spPr>
          <a:xfrm>
            <a:off x="384048" y="3017520"/>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Chen, J., Hu, Y., Bai, G., Zhou, Y., &amp; Liu, Y. (2024). Large language models for smart contract auditing: A systematic study. ACM Transactions on Software Engineering and Methodology (TOSEM), 33(4).</a:t>
            </a:r>
            <a:endParaRPr lang="en-US" sz="850" dirty="0"/>
          </a:p>
        </p:txBody>
      </p:sp>
      <p:sp>
        <p:nvSpPr>
          <p:cNvPr id="18" name="Shape 16"/>
          <p:cNvSpPr/>
          <p:nvPr/>
        </p:nvSpPr>
        <p:spPr>
          <a:xfrm>
            <a:off x="274320" y="3346704"/>
            <a:ext cx="8595360" cy="310896"/>
          </a:xfrm>
          <a:prstGeom prst="rect">
            <a:avLst/>
          </a:prstGeom>
          <a:solidFill>
            <a:srgbClr val="F0F0F0"/>
          </a:solidFill>
          <a:ln w="6350">
            <a:solidFill>
              <a:srgbClr val="CCCCCC"/>
            </a:solidFill>
            <a:prstDash val="solid"/>
          </a:ln>
        </p:spPr>
      </p:sp>
      <p:sp>
        <p:nvSpPr>
          <p:cNvPr id="19" name="Text 17"/>
          <p:cNvSpPr/>
          <p:nvPr/>
        </p:nvSpPr>
        <p:spPr>
          <a:xfrm>
            <a:off x="384048" y="3364992"/>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Ni, C., Chen, B., Groce, A., &amp; Grieco, G. (2024). Best practices for prompt engineering with large language models. Anthropic Technical Report.</a:t>
            </a:r>
            <a:endParaRPr lang="en-US" sz="850" dirty="0"/>
          </a:p>
        </p:txBody>
      </p:sp>
      <p:sp>
        <p:nvSpPr>
          <p:cNvPr id="20" name="Shape 18"/>
          <p:cNvSpPr/>
          <p:nvPr/>
        </p:nvSpPr>
        <p:spPr>
          <a:xfrm>
            <a:off x="274320" y="3694176"/>
            <a:ext cx="8595360" cy="310896"/>
          </a:xfrm>
          <a:prstGeom prst="rect">
            <a:avLst/>
          </a:prstGeom>
          <a:solidFill>
            <a:srgbClr val="FFFFFF"/>
          </a:solidFill>
          <a:ln w="6350">
            <a:solidFill>
              <a:srgbClr val="CCCCCC"/>
            </a:solidFill>
            <a:prstDash val="solid"/>
          </a:ln>
        </p:spPr>
      </p:sp>
      <p:sp>
        <p:nvSpPr>
          <p:cNvPr id="21" name="Text 19"/>
          <p:cNvSpPr/>
          <p:nvPr/>
        </p:nvSpPr>
        <p:spPr>
          <a:xfrm>
            <a:off x="384048" y="3712464"/>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Hevner, A. R., March, S. T., Park, J., &amp; Ram, S. (2004). Design science in information systems research. MIS Quarterly, 28(1), 75–105.</a:t>
            </a:r>
            <a:endParaRPr lang="en-US" sz="850" dirty="0"/>
          </a:p>
        </p:txBody>
      </p:sp>
      <p:sp>
        <p:nvSpPr>
          <p:cNvPr id="22" name="Shape 20"/>
          <p:cNvSpPr/>
          <p:nvPr/>
        </p:nvSpPr>
        <p:spPr>
          <a:xfrm>
            <a:off x="274320" y="4041648"/>
            <a:ext cx="8595360" cy="310896"/>
          </a:xfrm>
          <a:prstGeom prst="rect">
            <a:avLst/>
          </a:prstGeom>
          <a:solidFill>
            <a:srgbClr val="F0F0F0"/>
          </a:solidFill>
          <a:ln w="6350">
            <a:solidFill>
              <a:srgbClr val="CCCCCC"/>
            </a:solidFill>
            <a:prstDash val="solid"/>
          </a:ln>
        </p:spPr>
      </p:sp>
      <p:sp>
        <p:nvSpPr>
          <p:cNvPr id="23" name="Text 21"/>
          <p:cNvSpPr/>
          <p:nvPr/>
        </p:nvSpPr>
        <p:spPr>
          <a:xfrm>
            <a:off x="384048" y="4059936"/>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Smart Contract Weakness Classification Registry (SWC Registry). (2023). https://swcregistry.io</a:t>
            </a:r>
            <a:endParaRPr lang="en-US" sz="850" dirty="0"/>
          </a:p>
        </p:txBody>
      </p:sp>
      <p:sp>
        <p:nvSpPr>
          <p:cNvPr id="24" name="Shape 22"/>
          <p:cNvSpPr/>
          <p:nvPr/>
        </p:nvSpPr>
        <p:spPr>
          <a:xfrm>
            <a:off x="274320" y="4389120"/>
            <a:ext cx="8595360" cy="310896"/>
          </a:xfrm>
          <a:prstGeom prst="rect">
            <a:avLst/>
          </a:prstGeom>
          <a:solidFill>
            <a:srgbClr val="FFFFFF"/>
          </a:solidFill>
          <a:ln w="6350">
            <a:solidFill>
              <a:srgbClr val="CCCCCC"/>
            </a:solidFill>
            <a:prstDash val="solid"/>
          </a:ln>
        </p:spPr>
      </p:sp>
      <p:sp>
        <p:nvSpPr>
          <p:cNvPr id="25" name="Text 23"/>
          <p:cNvSpPr/>
          <p:nvPr/>
        </p:nvSpPr>
        <p:spPr>
          <a:xfrm>
            <a:off x="384048" y="4407408"/>
            <a:ext cx="8394192" cy="274320"/>
          </a:xfrm>
          <a:prstGeom prst="rect">
            <a:avLst/>
          </a:prstGeom>
          <a:noFill/>
          <a:ln/>
        </p:spPr>
        <p:txBody>
          <a:bodyPr wrap="square" rtlCol="0" anchor="ctr"/>
          <a:lstStyle/>
          <a:p>
            <a:pPr algn="l" indent="0" marL="0">
              <a:buNone/>
            </a:pPr>
            <a:r>
              <a:rPr lang="en-US" sz="850" dirty="0">
                <a:solidFill>
                  <a:srgbClr val="333333"/>
                </a:solidFill>
                <a:latin typeface="Calibri" pitchFamily="34" charset="0"/>
                <a:ea typeface="Calibri" pitchFamily="34" charset="-122"/>
                <a:cs typeface="Calibri" pitchFamily="34" charset="-120"/>
              </a:rPr>
              <a:t>SmartBugs Benchmark Framework. (2020). https://github.com/smartbugs/smartbugs</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0D0D"/>
        </a:solidFill>
      </p:bgPr>
    </p:bg>
    <p:spTree>
      <p:nvGrpSpPr>
        <p:cNvPr id="1" name=""/>
        <p:cNvGrpSpPr/>
        <p:nvPr/>
      </p:nvGrpSpPr>
      <p:grpSpPr>
        <a:xfrm>
          <a:off x="0" y="0"/>
          <a:ext cx="0" cy="0"/>
          <a:chOff x="0" y="0"/>
          <a:chExt cx="0" cy="0"/>
        </a:xfrm>
      </p:grpSpPr>
      <p:sp>
        <p:nvSpPr>
          <p:cNvPr id="2" name="Shape 0"/>
          <p:cNvSpPr/>
          <p:nvPr/>
        </p:nvSpPr>
        <p:spPr>
          <a:xfrm>
            <a:off x="8942832" y="0"/>
            <a:ext cx="201168" cy="5143500"/>
          </a:xfrm>
          <a:prstGeom prst="rect">
            <a:avLst/>
          </a:prstGeom>
          <a:solidFill>
            <a:srgbClr val="FFFFFF"/>
          </a:solidFill>
          <a:ln w="12700">
            <a:solidFill>
              <a:srgbClr val="FFFFFF"/>
            </a:solidFill>
            <a:prstDash val="solid"/>
          </a:ln>
        </p:spPr>
      </p:sp>
      <p:sp>
        <p:nvSpPr>
          <p:cNvPr id="3" name="Shape 1"/>
          <p:cNvSpPr/>
          <p:nvPr/>
        </p:nvSpPr>
        <p:spPr>
          <a:xfrm>
            <a:off x="411480" y="182880"/>
            <a:ext cx="3474720" cy="594360"/>
          </a:xfrm>
          <a:prstGeom prst="rect">
            <a:avLst/>
          </a:prstGeom>
          <a:solidFill>
            <a:srgbClr val="1A1A1A"/>
          </a:solidFill>
          <a:ln w="12700">
            <a:solidFill>
              <a:srgbClr val="333333"/>
            </a:solidFill>
            <a:prstDash val="solid"/>
          </a:ln>
        </p:spPr>
      </p:sp>
      <p:sp>
        <p:nvSpPr>
          <p:cNvPr id="4" name="Text 2"/>
          <p:cNvSpPr/>
          <p:nvPr/>
        </p:nvSpPr>
        <p:spPr>
          <a:xfrm>
            <a:off x="411480" y="182880"/>
            <a:ext cx="3474720" cy="594360"/>
          </a:xfrm>
          <a:prstGeom prst="rect">
            <a:avLst/>
          </a:prstGeom>
          <a:noFill/>
          <a:ln/>
        </p:spPr>
        <p:txBody>
          <a:bodyPr wrap="square" rtlCol="0" anchor="ctr"/>
          <a:lstStyle/>
          <a:p>
            <a:pPr algn="ctr" indent="0" marL="0">
              <a:buNone/>
            </a:pPr>
            <a:r>
              <a:rPr lang="en-US" sz="900" b="1" dirty="0">
                <a:solidFill>
                  <a:srgbClr val="888888"/>
                </a:solidFill>
                <a:latin typeface="Calibri" pitchFamily="34" charset="0"/>
                <a:ea typeface="Calibri" pitchFamily="34" charset="-122"/>
                <a:cs typeface="Calibri" pitchFamily="34" charset="-120"/>
              </a:rPr>
              <a:t>MIVA UNIVERSITY  |  School of Computing</a:t>
            </a:r>
            <a:endParaRPr lang="en-US" sz="900" dirty="0"/>
          </a:p>
        </p:txBody>
      </p:sp>
      <p:sp>
        <p:nvSpPr>
          <p:cNvPr id="5" name="Text 3"/>
          <p:cNvSpPr/>
          <p:nvPr/>
        </p:nvSpPr>
        <p:spPr>
          <a:xfrm>
            <a:off x="548640" y="960120"/>
            <a:ext cx="8229600" cy="1371600"/>
          </a:xfrm>
          <a:prstGeom prst="rect">
            <a:avLst/>
          </a:prstGeom>
          <a:noFill/>
          <a:ln/>
        </p:spPr>
        <p:txBody>
          <a:bodyPr wrap="square" rtlCol="0" anchor="ctr"/>
          <a:lstStyle/>
          <a:p>
            <a:pPr algn="l" indent="0" marL="0">
              <a:buNone/>
            </a:pPr>
            <a:r>
              <a:rPr lang="en-US" sz="6400" b="1" dirty="0">
                <a:solidFill>
                  <a:srgbClr val="FFFFFF"/>
                </a:solidFill>
                <a:latin typeface="Georgia" pitchFamily="34" charset="0"/>
                <a:ea typeface="Georgia" pitchFamily="34" charset="-122"/>
                <a:cs typeface="Georgia" pitchFamily="34" charset="-120"/>
              </a:rPr>
              <a:t>Thank You</a:t>
            </a:r>
            <a:endParaRPr lang="en-US" sz="6400" dirty="0"/>
          </a:p>
        </p:txBody>
      </p:sp>
      <p:sp>
        <p:nvSpPr>
          <p:cNvPr id="6" name="Shape 4"/>
          <p:cNvSpPr/>
          <p:nvPr/>
        </p:nvSpPr>
        <p:spPr>
          <a:xfrm>
            <a:off x="548640" y="2423160"/>
            <a:ext cx="6400800" cy="36576"/>
          </a:xfrm>
          <a:prstGeom prst="rect">
            <a:avLst/>
          </a:prstGeom>
          <a:solidFill>
            <a:srgbClr val="444444"/>
          </a:solidFill>
          <a:ln w="12700">
            <a:solidFill>
              <a:srgbClr val="444444"/>
            </a:solidFill>
            <a:prstDash val="solid"/>
          </a:ln>
        </p:spPr>
      </p:sp>
      <p:sp>
        <p:nvSpPr>
          <p:cNvPr id="7" name="Text 5"/>
          <p:cNvSpPr/>
          <p:nvPr/>
        </p:nvSpPr>
        <p:spPr>
          <a:xfrm>
            <a:off x="548640" y="2578608"/>
            <a:ext cx="8229600" cy="411480"/>
          </a:xfrm>
          <a:prstGeom prst="rect">
            <a:avLst/>
          </a:prstGeom>
          <a:noFill/>
          <a:ln/>
        </p:spPr>
        <p:txBody>
          <a:bodyPr wrap="square" rtlCol="0" anchor="ctr"/>
          <a:lstStyle/>
          <a:p>
            <a:pPr algn="l" indent="0" marL="0">
              <a:buNone/>
            </a:pPr>
            <a:r>
              <a:rPr lang="en-US" sz="1300" dirty="0">
                <a:solidFill>
                  <a:srgbClr val="888888"/>
                </a:solidFill>
                <a:latin typeface="Georgia" pitchFamily="34" charset="0"/>
                <a:ea typeface="Georgia" pitchFamily="34" charset="-122"/>
                <a:cs typeface="Georgia" pitchFamily="34" charset="-120"/>
              </a:rPr>
              <a:t>AuditAI — AI-Powered Smart Contract Security for Every Developer.</a:t>
            </a:r>
            <a:endParaRPr lang="en-US" sz="1300" dirty="0"/>
          </a:p>
        </p:txBody>
      </p:sp>
      <p:sp>
        <p:nvSpPr>
          <p:cNvPr id="8" name="Text 6"/>
          <p:cNvSpPr/>
          <p:nvPr/>
        </p:nvSpPr>
        <p:spPr>
          <a:xfrm>
            <a:off x="548640" y="3182112"/>
            <a:ext cx="1280160" cy="365760"/>
          </a:xfrm>
          <a:prstGeom prst="rect">
            <a:avLst/>
          </a:prstGeom>
          <a:noFill/>
          <a:ln/>
        </p:spPr>
        <p:txBody>
          <a:bodyPr wrap="square" rtlCol="0" anchor="ctr"/>
          <a:lstStyle/>
          <a:p>
            <a:pPr algn="l" indent="0" marL="0">
              <a:buNone/>
            </a:pPr>
            <a:r>
              <a:rPr lang="en-US" sz="1000" b="1" dirty="0">
                <a:solidFill>
                  <a:srgbClr val="666666"/>
                </a:solidFill>
                <a:latin typeface="Calibri" pitchFamily="34" charset="0"/>
                <a:ea typeface="Calibri" pitchFamily="34" charset="-122"/>
                <a:cs typeface="Calibri" pitchFamily="34" charset="-120"/>
              </a:rPr>
              <a:t>Student:</a:t>
            </a:r>
            <a:endParaRPr lang="en-US" sz="1000" dirty="0"/>
          </a:p>
        </p:txBody>
      </p:sp>
      <p:sp>
        <p:nvSpPr>
          <p:cNvPr id="9" name="Text 7"/>
          <p:cNvSpPr/>
          <p:nvPr/>
        </p:nvSpPr>
        <p:spPr>
          <a:xfrm>
            <a:off x="1828800" y="3182112"/>
            <a:ext cx="3017520" cy="365760"/>
          </a:xfrm>
          <a:prstGeom prst="rect">
            <a:avLst/>
          </a:prstGeom>
          <a:noFill/>
          <a:ln/>
        </p:spPr>
        <p:txBody>
          <a:bodyPr wrap="square"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Ikem-Okoye Chilotam Bryan</a:t>
            </a:r>
            <a:endParaRPr lang="en-US" sz="1000" dirty="0"/>
          </a:p>
        </p:txBody>
      </p:sp>
      <p:sp>
        <p:nvSpPr>
          <p:cNvPr id="10" name="Text 8"/>
          <p:cNvSpPr/>
          <p:nvPr/>
        </p:nvSpPr>
        <p:spPr>
          <a:xfrm>
            <a:off x="4937760" y="3182112"/>
            <a:ext cx="1280160" cy="365760"/>
          </a:xfrm>
          <a:prstGeom prst="rect">
            <a:avLst/>
          </a:prstGeom>
          <a:noFill/>
          <a:ln/>
        </p:spPr>
        <p:txBody>
          <a:bodyPr wrap="square" rtlCol="0" anchor="ctr"/>
          <a:lstStyle/>
          <a:p>
            <a:pPr algn="l" indent="0" marL="0">
              <a:buNone/>
            </a:pPr>
            <a:r>
              <a:rPr lang="en-US" sz="1000" b="1" dirty="0">
                <a:solidFill>
                  <a:srgbClr val="666666"/>
                </a:solidFill>
                <a:latin typeface="Calibri" pitchFamily="34" charset="0"/>
                <a:ea typeface="Calibri" pitchFamily="34" charset="-122"/>
                <a:cs typeface="Calibri" pitchFamily="34" charset="-120"/>
              </a:rPr>
              <a:t>Matric No.:</a:t>
            </a:r>
            <a:endParaRPr lang="en-US" sz="1000" dirty="0"/>
          </a:p>
        </p:txBody>
      </p:sp>
      <p:sp>
        <p:nvSpPr>
          <p:cNvPr id="11" name="Text 9"/>
          <p:cNvSpPr/>
          <p:nvPr/>
        </p:nvSpPr>
        <p:spPr>
          <a:xfrm>
            <a:off x="6217920" y="3182112"/>
            <a:ext cx="3017520" cy="365760"/>
          </a:xfrm>
          <a:prstGeom prst="rect">
            <a:avLst/>
          </a:prstGeom>
          <a:noFill/>
          <a:ln/>
        </p:spPr>
        <p:txBody>
          <a:bodyPr wrap="square"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2023/A/SENG/0036</a:t>
            </a:r>
            <a:endParaRPr lang="en-US" sz="1000" dirty="0"/>
          </a:p>
        </p:txBody>
      </p:sp>
      <p:sp>
        <p:nvSpPr>
          <p:cNvPr id="12" name="Text 10"/>
          <p:cNvSpPr/>
          <p:nvPr/>
        </p:nvSpPr>
        <p:spPr>
          <a:xfrm>
            <a:off x="548640" y="3593592"/>
            <a:ext cx="1280160" cy="365760"/>
          </a:xfrm>
          <a:prstGeom prst="rect">
            <a:avLst/>
          </a:prstGeom>
          <a:noFill/>
          <a:ln/>
        </p:spPr>
        <p:txBody>
          <a:bodyPr wrap="square" rtlCol="0" anchor="ctr"/>
          <a:lstStyle/>
          <a:p>
            <a:pPr algn="l" indent="0" marL="0">
              <a:buNone/>
            </a:pPr>
            <a:r>
              <a:rPr lang="en-US" sz="1000" b="1" dirty="0">
                <a:solidFill>
                  <a:srgbClr val="666666"/>
                </a:solidFill>
                <a:latin typeface="Calibri" pitchFamily="34" charset="0"/>
                <a:ea typeface="Calibri" pitchFamily="34" charset="-122"/>
                <a:cs typeface="Calibri" pitchFamily="34" charset="-120"/>
              </a:rPr>
              <a:t>Student ID:</a:t>
            </a:r>
            <a:endParaRPr lang="en-US" sz="1000" dirty="0"/>
          </a:p>
        </p:txBody>
      </p:sp>
      <p:sp>
        <p:nvSpPr>
          <p:cNvPr id="13" name="Text 11"/>
          <p:cNvSpPr/>
          <p:nvPr/>
        </p:nvSpPr>
        <p:spPr>
          <a:xfrm>
            <a:off x="1828800" y="3593592"/>
            <a:ext cx="3017520" cy="365760"/>
          </a:xfrm>
          <a:prstGeom prst="rect">
            <a:avLst/>
          </a:prstGeom>
          <a:noFill/>
          <a:ln/>
        </p:spPr>
        <p:txBody>
          <a:bodyPr wrap="square"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30006569</a:t>
            </a:r>
            <a:endParaRPr lang="en-US" sz="1000" dirty="0"/>
          </a:p>
        </p:txBody>
      </p:sp>
      <p:sp>
        <p:nvSpPr>
          <p:cNvPr id="14" name="Text 12"/>
          <p:cNvSpPr/>
          <p:nvPr/>
        </p:nvSpPr>
        <p:spPr>
          <a:xfrm>
            <a:off x="4937760" y="3593592"/>
            <a:ext cx="1280160" cy="365760"/>
          </a:xfrm>
          <a:prstGeom prst="rect">
            <a:avLst/>
          </a:prstGeom>
          <a:noFill/>
          <a:ln/>
        </p:spPr>
        <p:txBody>
          <a:bodyPr wrap="square" rtlCol="0" anchor="ctr"/>
          <a:lstStyle/>
          <a:p>
            <a:pPr algn="l" indent="0" marL="0">
              <a:buNone/>
            </a:pPr>
            <a:r>
              <a:rPr lang="en-US" sz="1000" b="1" dirty="0">
                <a:solidFill>
                  <a:srgbClr val="666666"/>
                </a:solidFill>
                <a:latin typeface="Calibri" pitchFamily="34" charset="0"/>
                <a:ea typeface="Calibri" pitchFamily="34" charset="-122"/>
                <a:cs typeface="Calibri" pitchFamily="34" charset="-120"/>
              </a:rPr>
              <a:t>Email:</a:t>
            </a:r>
            <a:endParaRPr lang="en-US" sz="1000" dirty="0"/>
          </a:p>
        </p:txBody>
      </p:sp>
      <p:sp>
        <p:nvSpPr>
          <p:cNvPr id="15" name="Text 13"/>
          <p:cNvSpPr/>
          <p:nvPr/>
        </p:nvSpPr>
        <p:spPr>
          <a:xfrm>
            <a:off x="6217920" y="3593592"/>
            <a:ext cx="3017520" cy="365760"/>
          </a:xfrm>
          <a:prstGeom prst="rect">
            <a:avLst/>
          </a:prstGeom>
          <a:noFill/>
          <a:ln/>
        </p:spPr>
        <p:txBody>
          <a:bodyPr wrap="square"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chilotam.ikem-okoye@miva.edu.ng</a:t>
            </a:r>
            <a:endParaRPr lang="en-US" sz="1000" dirty="0"/>
          </a:p>
        </p:txBody>
      </p:sp>
      <p:sp>
        <p:nvSpPr>
          <p:cNvPr id="16" name="Text 14"/>
          <p:cNvSpPr/>
          <p:nvPr/>
        </p:nvSpPr>
        <p:spPr>
          <a:xfrm>
            <a:off x="548640" y="4005072"/>
            <a:ext cx="1280160" cy="365760"/>
          </a:xfrm>
          <a:prstGeom prst="rect">
            <a:avLst/>
          </a:prstGeom>
          <a:noFill/>
          <a:ln/>
        </p:spPr>
        <p:txBody>
          <a:bodyPr wrap="square" rtlCol="0" anchor="ctr"/>
          <a:lstStyle/>
          <a:p>
            <a:pPr algn="l" indent="0" marL="0">
              <a:buNone/>
            </a:pPr>
            <a:r>
              <a:rPr lang="en-US" sz="1000" b="1" dirty="0">
                <a:solidFill>
                  <a:srgbClr val="666666"/>
                </a:solidFill>
                <a:latin typeface="Calibri" pitchFamily="34" charset="0"/>
                <a:ea typeface="Calibri" pitchFamily="34" charset="-122"/>
                <a:cs typeface="Calibri" pitchFamily="34" charset="-120"/>
              </a:rPr>
              <a:t>Supervisor:</a:t>
            </a:r>
            <a:endParaRPr lang="en-US" sz="1000" dirty="0"/>
          </a:p>
        </p:txBody>
      </p:sp>
      <p:sp>
        <p:nvSpPr>
          <p:cNvPr id="17" name="Text 15"/>
          <p:cNvSpPr/>
          <p:nvPr/>
        </p:nvSpPr>
        <p:spPr>
          <a:xfrm>
            <a:off x="1828800" y="4005072"/>
            <a:ext cx="3017520" cy="365760"/>
          </a:xfrm>
          <a:prstGeom prst="rect">
            <a:avLst/>
          </a:prstGeom>
          <a:noFill/>
          <a:ln/>
        </p:spPr>
        <p:txBody>
          <a:bodyPr wrap="square"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Musa Yusuf</a:t>
            </a:r>
            <a:endParaRPr lang="en-US" sz="1000" dirty="0"/>
          </a:p>
        </p:txBody>
      </p:sp>
      <p:sp>
        <p:nvSpPr>
          <p:cNvPr id="18" name="Text 16"/>
          <p:cNvSpPr/>
          <p:nvPr/>
        </p:nvSpPr>
        <p:spPr>
          <a:xfrm>
            <a:off x="4937760" y="4005072"/>
            <a:ext cx="1280160" cy="365760"/>
          </a:xfrm>
          <a:prstGeom prst="rect">
            <a:avLst/>
          </a:prstGeom>
          <a:noFill/>
          <a:ln/>
        </p:spPr>
        <p:txBody>
          <a:bodyPr wrap="square" rtlCol="0" anchor="ctr"/>
          <a:lstStyle/>
          <a:p>
            <a:pPr algn="l" indent="0" marL="0">
              <a:buNone/>
            </a:pPr>
            <a:r>
              <a:rPr lang="en-US" sz="1000" b="1" dirty="0">
                <a:solidFill>
                  <a:srgbClr val="666666"/>
                </a:solidFill>
                <a:latin typeface="Calibri" pitchFamily="34" charset="0"/>
                <a:ea typeface="Calibri" pitchFamily="34" charset="-122"/>
                <a:cs typeface="Calibri" pitchFamily="34" charset="-120"/>
              </a:rPr>
              <a:t>Department:</a:t>
            </a:r>
            <a:endParaRPr lang="en-US" sz="1000" dirty="0"/>
          </a:p>
        </p:txBody>
      </p:sp>
      <p:sp>
        <p:nvSpPr>
          <p:cNvPr id="19" name="Text 17"/>
          <p:cNvSpPr/>
          <p:nvPr/>
        </p:nvSpPr>
        <p:spPr>
          <a:xfrm>
            <a:off x="6217920" y="4005072"/>
            <a:ext cx="3017520" cy="365760"/>
          </a:xfrm>
          <a:prstGeom prst="rect">
            <a:avLst/>
          </a:prstGeom>
          <a:noFill/>
          <a:ln/>
        </p:spPr>
        <p:txBody>
          <a:bodyPr wrap="square" rtlCol="0" anchor="ctr"/>
          <a:lstStyle/>
          <a:p>
            <a:pPr algn="l" indent="0" marL="0">
              <a:buNone/>
            </a:pPr>
            <a:r>
              <a:rPr lang="en-US" sz="1000" dirty="0">
                <a:solidFill>
                  <a:srgbClr val="999999"/>
                </a:solidFill>
                <a:latin typeface="Calibri" pitchFamily="34" charset="0"/>
                <a:ea typeface="Calibri" pitchFamily="34" charset="-122"/>
                <a:cs typeface="Calibri" pitchFamily="34" charset="-120"/>
              </a:rPr>
              <a:t>Software Engineering, School of Computing</a:t>
            </a:r>
            <a:endParaRPr lang="en-US" sz="1000" dirty="0"/>
          </a:p>
        </p:txBody>
      </p:sp>
      <p:sp>
        <p:nvSpPr>
          <p:cNvPr id="20" name="Text 18"/>
          <p:cNvSpPr/>
          <p:nvPr/>
        </p:nvSpPr>
        <p:spPr>
          <a:xfrm>
            <a:off x="548640" y="4663440"/>
            <a:ext cx="8229600" cy="292608"/>
          </a:xfrm>
          <a:prstGeom prst="rect">
            <a:avLst/>
          </a:prstGeom>
          <a:noFill/>
          <a:ln/>
        </p:spPr>
        <p:txBody>
          <a:bodyPr wrap="square" rtlCol="0" anchor="ctr"/>
          <a:lstStyle/>
          <a:p>
            <a:pPr algn="l" indent="0" marL="0">
              <a:buNone/>
            </a:pPr>
            <a:r>
              <a:rPr lang="en-US" sz="1100" dirty="0">
                <a:solidFill>
                  <a:srgbClr val="444444"/>
                </a:solidFill>
                <a:latin typeface="Calibri" pitchFamily="34" charset="0"/>
                <a:ea typeface="Calibri" pitchFamily="34" charset="-122"/>
                <a:cs typeface="Calibri" pitchFamily="34" charset="-120"/>
              </a:rPr>
              <a:t>Questions &amp; Discussion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AuditAI — FYP Project Proposal</dc:title>
  <dc:subject>PptxGenJS Presentation</dc:subject>
  <dc:creator>Ikem-Okoye Chilotam Bryan</dc:creator>
  <cp:lastModifiedBy>Ikem-Okoye Chilotam Bryan</cp:lastModifiedBy>
  <cp:revision>1</cp:revision>
  <dcterms:created xsi:type="dcterms:W3CDTF">2026-05-01T09:53:02Z</dcterms:created>
  <dcterms:modified xsi:type="dcterms:W3CDTF">2026-05-01T09:53:02Z</dcterms:modified>
</cp:coreProperties>
</file>